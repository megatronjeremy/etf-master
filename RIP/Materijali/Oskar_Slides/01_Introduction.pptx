
<file path=[Content_Types].xml><?xml version="1.0" encoding="utf-8"?>
<Types xmlns="http://schemas.openxmlformats.org/package/2006/content-types">
  <Override PartName="/ppt/slideMasters/slideMaster3.xml" ContentType="application/vnd.openxmlformats-officedocument.presentationml.slideMaster+xml"/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theme/theme5.xml" ContentType="application/vnd.openxmlformats-officedocument.theme+xml"/>
  <Override PartName="/ppt/slideLayouts/slideLayout19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Layouts/slideLayout17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15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Masters/slideMaster8.xml" ContentType="application/vnd.openxmlformats-officedocument.presentationml.slideMaster+xml"/>
  <Override PartName="/ppt/slideLayouts/slideLayout10.xml" ContentType="application/vnd.openxmlformats-officedocument.presentationml.slideLayout+xml"/>
  <Default Extension="tiff" ContentType="image/tiff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theme/theme8.xml" ContentType="application/vnd.openxmlformats-officedocument.theme+xml"/>
  <Override PartName="/ppt/theme/theme9.xml" ContentType="application/vnd.openxmlformats-officedocument.theme+xml"/>
  <Override PartName="/ppt/notesSlides/notesSlide6.xml" ContentType="application/vnd.openxmlformats-officedocument.presentationml.notesSlide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Override PartName="/ppt/slides/slide19.xml" ContentType="application/vnd.openxmlformats-officedocument.presentationml.slide+xml"/>
  <Default Extension="png" ContentType="image/png"/>
  <Override PartName="/ppt/slideLayouts/slideLayout7.xml" ContentType="application/vnd.openxmlformats-officedocument.presentationml.slideLayout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Layouts/slideLayout18.xml" ContentType="application/vnd.openxmlformats-officedocument.presentationml.slideLayout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16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Layouts/slideLayout12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2" r:id="rId2"/>
    <p:sldMasterId id="2147483674" r:id="rId3"/>
    <p:sldMasterId id="2147483682" r:id="rId4"/>
    <p:sldMasterId id="2147483688" r:id="rId5"/>
    <p:sldMasterId id="2147483686" r:id="rId6"/>
    <p:sldMasterId id="2147483690" r:id="rId7"/>
    <p:sldMasterId id="2147483684" r:id="rId8"/>
  </p:sldMasterIdLst>
  <p:notesMasterIdLst>
    <p:notesMasterId r:id="rId31"/>
  </p:notesMasterIdLst>
  <p:sldIdLst>
    <p:sldId id="271" r:id="rId9"/>
    <p:sldId id="369" r:id="rId10"/>
    <p:sldId id="365" r:id="rId11"/>
    <p:sldId id="366" r:id="rId12"/>
    <p:sldId id="367" r:id="rId13"/>
    <p:sldId id="368" r:id="rId14"/>
    <p:sldId id="347" r:id="rId15"/>
    <p:sldId id="351" r:id="rId16"/>
    <p:sldId id="352" r:id="rId17"/>
    <p:sldId id="353" r:id="rId18"/>
    <p:sldId id="370" r:id="rId19"/>
    <p:sldId id="371" r:id="rId20"/>
    <p:sldId id="354" r:id="rId21"/>
    <p:sldId id="372" r:id="rId22"/>
    <p:sldId id="373" r:id="rId23"/>
    <p:sldId id="374" r:id="rId24"/>
    <p:sldId id="377" r:id="rId25"/>
    <p:sldId id="375" r:id="rId26"/>
    <p:sldId id="281" r:id="rId27"/>
    <p:sldId id="280" r:id="rId28"/>
    <p:sldId id="334" r:id="rId29"/>
    <p:sldId id="376" r:id="rId3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08080"/>
    <a:srgbClr val="737373"/>
    <a:srgbClr val="C95EA4"/>
    <a:srgbClr val="5B7AAF"/>
    <a:srgbClr val="CCF171"/>
    <a:srgbClr val="FFCD78"/>
    <a:srgbClr val="02B2AE"/>
    <a:srgbClr val="FF9E1D"/>
    <a:srgbClr val="920000"/>
    <a:srgbClr val="02CECE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61" autoAdjust="0"/>
    <p:restoredTop sz="92150" autoAdjust="0"/>
  </p:normalViewPr>
  <p:slideViewPr>
    <p:cSldViewPr>
      <p:cViewPr varScale="1">
        <p:scale>
          <a:sx n="78" d="100"/>
          <a:sy n="78" d="100"/>
        </p:scale>
        <p:origin x="-1488" y="-62"/>
      </p:cViewPr>
      <p:guideLst>
        <p:guide orient="horz" pos="1253"/>
        <p:guide pos="1655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36868100" cy="368681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26" Type="http://schemas.openxmlformats.org/officeDocument/2006/relationships/slide" Target="slides/slide18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3.xml"/><Relationship Id="rId34" Type="http://schemas.openxmlformats.org/officeDocument/2006/relationships/theme" Target="theme/theme1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slide" Target="slides/slide17.xml"/><Relationship Id="rId33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8.xml"/><Relationship Id="rId20" Type="http://schemas.openxmlformats.org/officeDocument/2006/relationships/slide" Target="slides/slide12.xml"/><Relationship Id="rId29" Type="http://schemas.openxmlformats.org/officeDocument/2006/relationships/slide" Target="slides/slide2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3.xml"/><Relationship Id="rId24" Type="http://schemas.openxmlformats.org/officeDocument/2006/relationships/slide" Target="slides/slide16.xml"/><Relationship Id="rId32" Type="http://schemas.openxmlformats.org/officeDocument/2006/relationships/presProps" Target="pres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7.xml"/><Relationship Id="rId23" Type="http://schemas.openxmlformats.org/officeDocument/2006/relationships/slide" Target="slides/slide15.xml"/><Relationship Id="rId28" Type="http://schemas.openxmlformats.org/officeDocument/2006/relationships/slide" Target="slides/slide20.xml"/><Relationship Id="rId10" Type="http://schemas.openxmlformats.org/officeDocument/2006/relationships/slide" Target="slides/slide2.xml"/><Relationship Id="rId19" Type="http://schemas.openxmlformats.org/officeDocument/2006/relationships/slide" Target="slides/slide11.xml"/><Relationship Id="rId31" Type="http://schemas.openxmlformats.org/officeDocument/2006/relationships/notesMaster" Target="notesMasters/notes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slide" Target="slides/slide14.xml"/><Relationship Id="rId27" Type="http://schemas.openxmlformats.org/officeDocument/2006/relationships/slide" Target="slides/slide19.xml"/><Relationship Id="rId30" Type="http://schemas.openxmlformats.org/officeDocument/2006/relationships/slide" Target="slides/slide22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C498B1-DBA4-462D-AF78-5EF9A056FBDC}" type="datetimeFigureOut">
              <a:rPr lang="en-GB" smtClean="0"/>
              <a:pPr/>
              <a:t>28/09/2011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92BF07-5018-4829-BCDB-3778A5A69704}" type="slidenum">
              <a:rPr lang="en-GB" smtClean="0"/>
              <a:pPr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D77045-401A-4D5E-BFE3-54C21A8A6634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2BF07-5018-4829-BCDB-3778A5A69704}" type="slidenum">
              <a:rPr lang="en-GB" smtClean="0"/>
              <a:pPr/>
              <a:t>11</a:t>
            </a:fld>
            <a:endParaRPr lang="en-GB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First memory bandwidth</a:t>
            </a:r>
          </a:p>
          <a:p>
            <a:r>
              <a:rPr lang="en-GB" dirty="0" smtClean="0"/>
              <a:t>Second ALU latency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2BF07-5018-4829-BCDB-3778A5A69704}" type="slidenum">
              <a:rPr lang="en-GB" smtClean="0"/>
              <a:pPr/>
              <a:t>18</a:t>
            </a:fld>
            <a:endParaRPr lang="en-GB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Incur an overhead/cost for this </a:t>
            </a:r>
            <a:r>
              <a:rPr lang="en-GB" dirty="0" err="1" smtClean="0"/>
              <a:t>reconfigurability</a:t>
            </a:r>
            <a:r>
              <a:rPr lang="en-GB" dirty="0" smtClean="0"/>
              <a:t>;</a:t>
            </a:r>
            <a:r>
              <a:rPr lang="en-GB" baseline="0" dirty="0" smtClean="0"/>
              <a:t> but can make that back by efficient architecture </a:t>
            </a:r>
            <a:r>
              <a:rPr lang="en-GB" baseline="0" smtClean="0"/>
              <a:t>(dataflow)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2BF07-5018-4829-BCDB-3778A5A69704}" type="slidenum">
              <a:rPr lang="en-GB" smtClean="0"/>
              <a:pPr/>
              <a:t>19</a:t>
            </a:fld>
            <a:endParaRPr lang="en-GB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3A44D82-E3D9-49AD-A9E8-772D26B65BA5}" type="slidenum">
              <a:rPr lang="en-US"/>
              <a:pPr/>
              <a:t>21</a:t>
            </a:fld>
            <a:endParaRPr lang="en-US" dirty="0"/>
          </a:p>
        </p:txBody>
      </p:sp>
      <p:sp>
        <p:nvSpPr>
          <p:cNvPr id="2253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2531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2532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8ED4CDB2-B670-4A5E-9127-451AAF02DA11}" type="slidenum">
              <a:rPr lang="en-US" sz="1200"/>
              <a:pPr algn="r"/>
              <a:t>21</a:t>
            </a:fld>
            <a:endParaRPr lang="en-US" sz="1200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658C24-CF5E-43A0-A55E-78C911226443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6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7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Max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38584" y="5924872"/>
            <a:ext cx="5752728" cy="528464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Subtitle</a:t>
            </a:r>
            <a:endParaRPr lang="en-GB" dirty="0"/>
          </a:p>
        </p:txBody>
      </p:sp>
      <p:pic>
        <p:nvPicPr>
          <p:cNvPr id="7" name="Picture 6" descr="FullLogoVector_Inverted2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608518" y="4498112"/>
            <a:ext cx="2235290" cy="1019120"/>
          </a:xfrm>
          <a:prstGeom prst="rect">
            <a:avLst/>
          </a:prstGeom>
        </p:spPr>
      </p:pic>
      <p:sp>
        <p:nvSpPr>
          <p:cNvPr id="15" name="Text Placeholder 14"/>
          <p:cNvSpPr>
            <a:spLocks noGrp="1"/>
          </p:cNvSpPr>
          <p:nvPr>
            <p:ph type="body" sz="quarter" idx="14" hasCustomPrompt="1"/>
          </p:nvPr>
        </p:nvSpPr>
        <p:spPr>
          <a:xfrm>
            <a:off x="538584" y="6309320"/>
            <a:ext cx="5689600" cy="647700"/>
          </a:xfrm>
        </p:spPr>
        <p:txBody>
          <a:bodyPr>
            <a:normAutofit/>
          </a:bodyPr>
          <a:lstStyle>
            <a:lvl1pPr>
              <a:buNone/>
              <a:defRPr sz="2000" b="0" baseline="0">
                <a:solidFill>
                  <a:schemeClr val="accent3"/>
                </a:solidFill>
              </a:defRPr>
            </a:lvl1pPr>
            <a:lvl5pPr algn="l">
              <a:buNone/>
              <a:defRPr/>
            </a:lvl5pPr>
          </a:lstStyle>
          <a:p>
            <a:pPr lvl="0"/>
            <a:r>
              <a:rPr lang="en-GB" dirty="0" smtClean="0"/>
              <a:t>Speaker, Month YYYY</a:t>
            </a:r>
            <a:endParaRPr lang="en-GB" dirty="0"/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1475656" y="1628800"/>
            <a:ext cx="7524328" cy="2088232"/>
          </a:xfrm>
        </p:spPr>
        <p:txBody>
          <a:bodyPr anchor="ctr">
            <a:normAutofit/>
          </a:bodyPr>
          <a:lstStyle>
            <a:lvl1pPr marL="0" indent="0" algn="r">
              <a:buNone/>
              <a:defRPr sz="3600" b="1">
                <a:ln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70000"/>
                    </a:prstClr>
                  </a:outerShdw>
                </a:effectLst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 smtClean="0"/>
              <a:t>Title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Max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FullLogoVector_Inverted2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608518" y="4498112"/>
            <a:ext cx="2235290" cy="1019120"/>
          </a:xfrm>
          <a:prstGeom prst="rect">
            <a:avLst/>
          </a:prstGeom>
        </p:spPr>
      </p:pic>
      <p:sp>
        <p:nvSpPr>
          <p:cNvPr id="8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1475656" y="1628800"/>
            <a:ext cx="7524328" cy="2088232"/>
          </a:xfrm>
        </p:spPr>
        <p:txBody>
          <a:bodyPr anchor="ctr">
            <a:normAutofit/>
          </a:bodyPr>
          <a:lstStyle>
            <a:lvl1pPr marL="0" indent="0" algn="r">
              <a:buNone/>
              <a:defRPr sz="3600" b="1">
                <a:ln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70000"/>
                    </a:prstClr>
                  </a:outerShdw>
                </a:effectLst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 smtClean="0"/>
              <a:t>Title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accent5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Master subtitle style</a:t>
            </a:r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Survivng the end of frequency scaling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8E7DA-F94B-4684-82D1-1B40ABCED2CB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2D9C5-9C72-4C75-A1BC-B4986A40F6A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GB" smtClean="0"/>
              <a:t>Survivng the end of frequency scaling</a:t>
            </a:r>
            <a:endParaRPr lang="en-GB" dirty="0" smtClean="0"/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124744"/>
            <a:ext cx="4038600" cy="5001419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124744"/>
            <a:ext cx="4038600" cy="5001419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2D9C5-9C72-4C75-A1BC-B4986A40F6A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GB" smtClean="0"/>
              <a:t>Survivng the end of frequency scaling</a:t>
            </a:r>
            <a:endParaRPr lang="en-GB" dirty="0" smtClean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24744"/>
            <a:ext cx="4040188" cy="639762"/>
          </a:xfrm>
        </p:spPr>
        <p:txBody>
          <a:bodyPr anchor="b"/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772816"/>
            <a:ext cx="4040188" cy="435334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124744"/>
            <a:ext cx="4041775" cy="639762"/>
          </a:xfrm>
        </p:spPr>
        <p:txBody>
          <a:bodyPr anchor="b"/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772816"/>
            <a:ext cx="4041775" cy="435334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GB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2D9C5-9C72-4C75-A1BC-B4986A40F6A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GB" smtClean="0"/>
              <a:t>Survivng the end of frequency scaling</a:t>
            </a:r>
            <a:endParaRPr lang="en-GB" dirty="0" smtClean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2D9C5-9C72-4C75-A1BC-B4986A40F6A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GB" smtClean="0"/>
              <a:t>Survivng the end of frequency scaling</a:t>
            </a:r>
            <a:endParaRPr lang="en-GB" dirty="0" smtClean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2D9C5-9C72-4C75-A1BC-B4986A40F6A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GB" smtClean="0"/>
              <a:t>Survivng the end of frequency scaling</a:t>
            </a:r>
            <a:endParaRPr lang="en-GB" dirty="0" smtClean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 dirty="0" smtClean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60648"/>
            <a:ext cx="5111750" cy="586551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2D9C5-9C72-4C75-A1BC-B4986A40F6A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GB" smtClean="0"/>
              <a:t>Survivng the end of frequency scaling</a:t>
            </a:r>
            <a:endParaRPr lang="en-GB" dirty="0" smtClean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 dirty="0" smtClean="0"/>
              <a:t>Click to edit Master title style</a:t>
            </a:r>
            <a:endParaRPr lang="en-GB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2D9C5-9C72-4C75-A1BC-B4986A40F6A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GB" smtClean="0"/>
              <a:t>Survivng the end of frequency scaling</a:t>
            </a:r>
            <a:endParaRPr lang="en-GB" dirty="0" smtClean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162D9C5-9C72-4C75-A1BC-B4986A40F6AC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GB" smtClean="0"/>
              <a:t>Survivng the end of frequency scaling</a:t>
            </a:r>
            <a:endParaRPr lang="en-GB" dirty="0" smtClean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236296" y="260648"/>
            <a:ext cx="1728192" cy="586551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779096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2D9C5-9C72-4C75-A1BC-B4986A40F6A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GB" smtClean="0"/>
              <a:t>Survivng the end of frequency scaling</a:t>
            </a:r>
            <a:endParaRPr lang="en-GB" dirty="0" smtClean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Or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FullLogoVector_Inverted2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608518" y="4498112"/>
            <a:ext cx="2235290" cy="1019120"/>
          </a:xfrm>
          <a:prstGeom prst="rect">
            <a:avLst/>
          </a:prstGeom>
        </p:spPr>
      </p:pic>
      <p:sp>
        <p:nvSpPr>
          <p:cNvPr id="7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1475656" y="1628800"/>
            <a:ext cx="7524328" cy="2088232"/>
          </a:xfrm>
        </p:spPr>
        <p:txBody>
          <a:bodyPr anchor="ctr">
            <a:normAutofit/>
          </a:bodyPr>
          <a:lstStyle>
            <a:lvl1pPr marL="0" indent="0" algn="r">
              <a:buNone/>
              <a:defRPr sz="3600" b="1">
                <a:ln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70000"/>
                    </a:prstClr>
                  </a:outerShdw>
                </a:effectLst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 smtClean="0"/>
              <a:t>Title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FullLogoVector_Inverted2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608518" y="4498112"/>
            <a:ext cx="2235290" cy="1019120"/>
          </a:xfrm>
          <a:prstGeom prst="rect">
            <a:avLst/>
          </a:prstGeom>
        </p:spPr>
      </p:pic>
      <p:sp>
        <p:nvSpPr>
          <p:cNvPr id="6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1475656" y="1628800"/>
            <a:ext cx="7524328" cy="2088232"/>
          </a:xfrm>
        </p:spPr>
        <p:txBody>
          <a:bodyPr anchor="ctr">
            <a:normAutofit/>
          </a:bodyPr>
          <a:lstStyle>
            <a:lvl1pPr marL="0" indent="0" algn="r">
              <a:buNone/>
              <a:defRPr sz="3600" b="1">
                <a:ln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70000"/>
                    </a:prstClr>
                  </a:outerShdw>
                </a:effectLst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 smtClean="0"/>
              <a:t>Title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FullLogoVector_Inverted2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608518" y="4498112"/>
            <a:ext cx="2235290" cy="1019120"/>
          </a:xfrm>
          <a:prstGeom prst="rect">
            <a:avLst/>
          </a:prstGeom>
        </p:spPr>
      </p:pic>
      <p:sp>
        <p:nvSpPr>
          <p:cNvPr id="7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1475656" y="1628800"/>
            <a:ext cx="7524328" cy="2088232"/>
          </a:xfrm>
        </p:spPr>
        <p:txBody>
          <a:bodyPr anchor="ctr">
            <a:normAutofit/>
          </a:bodyPr>
          <a:lstStyle>
            <a:lvl1pPr marL="0" indent="0" algn="r">
              <a:buNone/>
              <a:defRPr sz="3600" b="1">
                <a:ln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70000"/>
                    </a:prstClr>
                  </a:outerShdw>
                </a:effectLst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 smtClean="0"/>
              <a:t>Title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FullLogoVector_Inverted2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608518" y="4498112"/>
            <a:ext cx="2235290" cy="1019120"/>
          </a:xfrm>
          <a:prstGeom prst="rect">
            <a:avLst/>
          </a:prstGeom>
        </p:spPr>
      </p:pic>
      <p:sp>
        <p:nvSpPr>
          <p:cNvPr id="5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1475656" y="1628800"/>
            <a:ext cx="7524328" cy="2088232"/>
          </a:xfrm>
        </p:spPr>
        <p:txBody>
          <a:bodyPr anchor="ctr">
            <a:normAutofit/>
          </a:bodyPr>
          <a:lstStyle>
            <a:lvl1pPr marL="0" indent="0" algn="r">
              <a:buNone/>
              <a:defRPr sz="3600" b="1">
                <a:ln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70000"/>
                    </a:prstClr>
                  </a:outerShdw>
                </a:effectLst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 smtClean="0"/>
              <a:t>Title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Aqu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FullLogoVector_Inverted2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608518" y="4498112"/>
            <a:ext cx="2235290" cy="1019120"/>
          </a:xfrm>
          <a:prstGeom prst="rect">
            <a:avLst/>
          </a:prstGeom>
        </p:spPr>
      </p:pic>
      <p:sp>
        <p:nvSpPr>
          <p:cNvPr id="7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1475656" y="1628800"/>
            <a:ext cx="7524328" cy="2088232"/>
          </a:xfrm>
        </p:spPr>
        <p:txBody>
          <a:bodyPr anchor="ctr">
            <a:normAutofit/>
          </a:bodyPr>
          <a:lstStyle>
            <a:lvl1pPr marL="0" indent="0" algn="r">
              <a:buNone/>
              <a:defRPr sz="3600" b="1">
                <a:ln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70000"/>
                    </a:prstClr>
                  </a:outerShdw>
                </a:effectLst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 smtClean="0"/>
              <a:t>Title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24744"/>
            <a:ext cx="4040188" cy="639762"/>
          </a:xfrm>
        </p:spPr>
        <p:txBody>
          <a:bodyPr anchor="b"/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772816"/>
            <a:ext cx="4040188" cy="435334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124744"/>
            <a:ext cx="4041775" cy="639762"/>
          </a:xfrm>
        </p:spPr>
        <p:txBody>
          <a:bodyPr anchor="b"/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772816"/>
            <a:ext cx="4041775" cy="435334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GB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2D9C5-9C72-4C75-A1BC-B4986A40F6A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GB" smtClean="0"/>
              <a:t>Survivng the end of frequency scaling</a:t>
            </a:r>
            <a:endParaRPr lang="en-GB" dirty="0" smtClean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Yell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FullLogoVector_Inverted2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608518" y="4498112"/>
            <a:ext cx="2235290" cy="1019120"/>
          </a:xfrm>
          <a:prstGeom prst="rect">
            <a:avLst/>
          </a:prstGeom>
        </p:spPr>
      </p:pic>
      <p:sp>
        <p:nvSpPr>
          <p:cNvPr id="5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1475656" y="1628800"/>
            <a:ext cx="7524328" cy="2088232"/>
          </a:xfrm>
        </p:spPr>
        <p:txBody>
          <a:bodyPr anchor="ctr">
            <a:normAutofit/>
          </a:bodyPr>
          <a:lstStyle>
            <a:lvl1pPr marL="0" indent="0" algn="r">
              <a:buNone/>
              <a:defRPr sz="3600" b="1">
                <a:ln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70000"/>
                    </a:prstClr>
                  </a:outerShdw>
                </a:effectLst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 smtClean="0"/>
              <a:t>Title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13" Type="http://schemas.openxmlformats.org/officeDocument/2006/relationships/image" Target="../media/image4.png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image" Target="../media/image3.png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7.xml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4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5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16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theme" Target="../theme/theme7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9.png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wave2-MaxBlue-01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0" y="0"/>
            <a:ext cx="9144000" cy="6857999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 smtClean="0"/>
              <a:t>Survivng the end of frequency scaling</a:t>
            </a:r>
            <a:endParaRPr lang="en-GB" dirty="0" smtClean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12E2A2-5F50-45A9-B0ED-7EB9A391C629}" type="slidenum">
              <a:rPr lang="en-GB" smtClean="0"/>
              <a:pPr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80" r:id="rId2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8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4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ottom-wave3-MaxBlue.png"/>
          <p:cNvPicPr>
            <a:picLocks noChangeAspect="1"/>
          </p:cNvPicPr>
          <p:nvPr/>
        </p:nvPicPr>
        <p:blipFill>
          <a:blip r:embed="rId12" cstate="print"/>
          <a:srcRect/>
          <a:stretch>
            <a:fillRect/>
          </a:stretch>
        </p:blipFill>
        <p:spPr>
          <a:xfrm>
            <a:off x="0" y="6237312"/>
            <a:ext cx="9144000" cy="648072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19256" cy="99412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24744"/>
            <a:ext cx="8229600" cy="50014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GB" dirty="0"/>
          </a:p>
        </p:txBody>
      </p:sp>
      <p:pic>
        <p:nvPicPr>
          <p:cNvPr id="9" name="Picture 8" descr="FullLogoVector_Inverted3.pn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7856282" y="6355746"/>
            <a:ext cx="1180214" cy="467540"/>
          </a:xfrm>
          <a:prstGeom prst="rect">
            <a:avLst/>
          </a:prstGeom>
          <a:effectLst>
            <a:outerShdw blurRad="50800" dist="38100" dir="2700000" algn="ctr" rotWithShape="0">
              <a:schemeClr val="accent5">
                <a:alpha val="70000"/>
              </a:schemeClr>
            </a:outerShdw>
          </a:effectLst>
        </p:spPr>
      </p:pic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0" y="655724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400" b="1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70000"/>
                    </a:prstClr>
                  </a:outerShdw>
                </a:effectLst>
              </a:defRPr>
            </a:lvl1pPr>
          </a:lstStyle>
          <a:p>
            <a:fld id="{F162D9C5-9C72-4C75-A1BC-B4986A40F6AC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700736" y="6552076"/>
            <a:ext cx="2895600" cy="430387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20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GB" smtClean="0"/>
              <a:t>Survivng the end of frequency scaling</a:t>
            </a:r>
            <a:endParaRPr lang="en-GB" dirty="0" smtClean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64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3600" kern="1200">
          <a:solidFill>
            <a:srgbClr val="737373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800" kern="1200">
          <a:solidFill>
            <a:schemeClr val="accent5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400" kern="1200">
          <a:solidFill>
            <a:schemeClr val="accent5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accent5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accent5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accent5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 smtClean="0"/>
              <a:t>Survivng the end of frequency scaling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D833E9-C6A2-4CD1-8E06-3D4C54F97218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8" name="Picture 7" descr="wave2-orange-02-01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57" y="0"/>
            <a:ext cx="9143086" cy="68580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 smtClean="0"/>
              <a:t>Survivng the end of frequency scaling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D833E9-C6A2-4CD1-8E06-3D4C54F97218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8" name="Picture 7" descr="wave2-orange-02-01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57" y="0"/>
            <a:ext cx="9143085" cy="68580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 smtClean="0"/>
              <a:t>Survivng the end of frequency scaling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D833E9-C6A2-4CD1-8E06-3D4C54F97218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8" name="Picture 7" descr="wave2-orange-02-01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57" y="0"/>
            <a:ext cx="9143084" cy="685799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 smtClean="0"/>
              <a:t>Survivng the end of frequency scaling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D833E9-C6A2-4CD1-8E06-3D4C54F97218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8" name="Picture 7" descr="wave2-orange-02-01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370" y="0"/>
            <a:ext cx="9141257" cy="685799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 smtClean="0"/>
              <a:t>Survivng the end of frequency scaling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D833E9-C6A2-4CD1-8E06-3D4C54F97218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8" name="Picture 7" descr="wave2-orange-02-01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457" y="0"/>
            <a:ext cx="9143083" cy="685799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8" r:id="rId2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 smtClean="0"/>
              <a:t>Survivng the end of frequency scaling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D833E9-C6A2-4CD1-8E06-3D4C54F97218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8" name="Picture 7" descr="wave2-orange-02-01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57" y="0"/>
            <a:ext cx="9143085" cy="685799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tiff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tiff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jpe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8.jpe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 smtClean="0"/>
              <a:t>Presenter</a:t>
            </a:r>
            <a:endParaRPr lang="en-GB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4"/>
          </p:nvPr>
        </p:nvSpPr>
        <p:spPr/>
        <p:txBody>
          <a:bodyPr>
            <a:normAutofit/>
          </a:bodyPr>
          <a:lstStyle/>
          <a:p>
            <a:r>
              <a:rPr lang="en-GB" dirty="0" err="1" smtClean="0"/>
              <a:t>MaxAcademy</a:t>
            </a:r>
            <a:r>
              <a:rPr lang="en-GB" dirty="0" smtClean="0"/>
              <a:t> Lecture Series – V1.0, September 2011</a:t>
            </a:r>
          </a:p>
          <a:p>
            <a:endParaRPr lang="en-GB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dirty="0" smtClean="0"/>
              <a:t>Introduction </a:t>
            </a:r>
            <a:br>
              <a:rPr lang="en-GB" dirty="0" smtClean="0"/>
            </a:br>
            <a:r>
              <a:rPr lang="en-GB" dirty="0" smtClean="0"/>
              <a:t>and Motivation</a:t>
            </a:r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Challenges of the </a:t>
            </a:r>
            <a:r>
              <a:rPr lang="en-GB" dirty="0" err="1" smtClean="0"/>
              <a:t>Exaflop</a:t>
            </a:r>
            <a:r>
              <a:rPr lang="en-GB" dirty="0" smtClean="0"/>
              <a:t> Supercomputer</a:t>
            </a:r>
          </a:p>
          <a:p>
            <a:r>
              <a:rPr lang="en-GB" dirty="0" smtClean="0"/>
              <a:t>How much of a processor does processing?</a:t>
            </a:r>
          </a:p>
          <a:p>
            <a:r>
              <a:rPr lang="en-GB" dirty="0" smtClean="0"/>
              <a:t>Custom computers</a:t>
            </a:r>
          </a:p>
          <a:p>
            <a:r>
              <a:rPr lang="en-GB" dirty="0" smtClean="0"/>
              <a:t>FPGA accelerator hardware</a:t>
            </a:r>
          </a:p>
          <a:p>
            <a:r>
              <a:rPr lang="en-GB" dirty="0" smtClean="0"/>
              <a:t>Programmability</a:t>
            </a:r>
          </a:p>
          <a:p>
            <a:endParaRPr lang="en-GB" dirty="0" smtClean="0"/>
          </a:p>
          <a:p>
            <a:endParaRPr lang="en-GB" dirty="0" smtClean="0"/>
          </a:p>
          <a:p>
            <a:endParaRPr lang="en-GB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Lecture Overview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2D9C5-9C72-4C75-A1BC-B4986A40F6AC}" type="slidenum">
              <a:rPr lang="en-GB" smtClean="0"/>
              <a:pPr/>
              <a:t>2</a:t>
            </a:fld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Rise of x86 Supercomputers</a:t>
            </a:r>
            <a:endParaRPr lang="en-GB" dirty="0"/>
          </a:p>
        </p:txBody>
      </p:sp>
      <p:pic>
        <p:nvPicPr>
          <p:cNvPr id="5" name="Picture 4" descr="TOP500_RiseOfIntel.tif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716406" y="1052736"/>
            <a:ext cx="5634188" cy="507613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2D9C5-9C72-4C75-A1BC-B4986A40F6AC}" type="slidenum">
              <a:rPr lang="en-GB" smtClean="0"/>
              <a:pPr/>
              <a:t>3</a:t>
            </a:fld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1 </a:t>
            </a:r>
            <a:r>
              <a:rPr lang="en-GB" dirty="0" err="1" smtClean="0"/>
              <a:t>exaflop</a:t>
            </a:r>
            <a:r>
              <a:rPr lang="en-GB" dirty="0" smtClean="0"/>
              <a:t> = 10</a:t>
            </a:r>
            <a:r>
              <a:rPr lang="en-GB" baseline="30000" dirty="0" smtClean="0"/>
              <a:t>18</a:t>
            </a:r>
            <a:r>
              <a:rPr lang="en-GB" dirty="0" smtClean="0"/>
              <a:t> FLOPS</a:t>
            </a:r>
          </a:p>
          <a:p>
            <a:r>
              <a:rPr lang="en-GB" dirty="0" smtClean="0"/>
              <a:t>Using processor cores with 8FLOPS/clock at 2.5GHz</a:t>
            </a:r>
          </a:p>
          <a:p>
            <a:r>
              <a:rPr lang="en-GB" b="1" dirty="0" smtClean="0"/>
              <a:t>50M CPU cores</a:t>
            </a:r>
          </a:p>
          <a:p>
            <a:r>
              <a:rPr lang="en-GB" dirty="0" smtClean="0"/>
              <a:t>What about power?</a:t>
            </a:r>
          </a:p>
          <a:p>
            <a:pPr lvl="1"/>
            <a:r>
              <a:rPr lang="en-GB" dirty="0" smtClean="0"/>
              <a:t>Assume power envelope of 100W per chip</a:t>
            </a:r>
          </a:p>
          <a:p>
            <a:pPr lvl="1"/>
            <a:r>
              <a:rPr lang="en-GB" dirty="0" smtClean="0"/>
              <a:t>Moore’s Law scaling: 6 cores today </a:t>
            </a:r>
            <a:r>
              <a:rPr lang="en-GB" dirty="0" smtClean="0">
                <a:sym typeface="Wingdings" pitchFamily="2" charset="2"/>
              </a:rPr>
              <a:t> ~100 cores/chip</a:t>
            </a:r>
          </a:p>
          <a:p>
            <a:pPr lvl="1"/>
            <a:r>
              <a:rPr lang="en-GB" dirty="0" smtClean="0">
                <a:sym typeface="Wingdings" pitchFamily="2" charset="2"/>
              </a:rPr>
              <a:t>500k CPU chips</a:t>
            </a:r>
          </a:p>
          <a:p>
            <a:r>
              <a:rPr lang="en-GB" b="1" dirty="0" smtClean="0">
                <a:sym typeface="Wingdings" pitchFamily="2" charset="2"/>
              </a:rPr>
              <a:t>50MW</a:t>
            </a:r>
            <a:r>
              <a:rPr lang="en-GB" dirty="0" smtClean="0">
                <a:sym typeface="Wingdings" pitchFamily="2" charset="2"/>
              </a:rPr>
              <a:t> (</a:t>
            </a:r>
            <a:r>
              <a:rPr lang="en-GB" i="1" dirty="0" smtClean="0">
                <a:sym typeface="Wingdings" pitchFamily="2" charset="2"/>
              </a:rPr>
              <a:t>just for CPUs!) </a:t>
            </a:r>
            <a:r>
              <a:rPr lang="en-GB" b="1" dirty="0" smtClean="0">
                <a:sym typeface="Wingdings" pitchFamily="2" charset="2"/>
              </a:rPr>
              <a:t> 100MW likely</a:t>
            </a:r>
          </a:p>
          <a:p>
            <a:r>
              <a:rPr lang="en-GB" dirty="0" smtClean="0">
                <a:sym typeface="Wingdings" pitchFamily="2" charset="2"/>
              </a:rPr>
              <a:t>‘Jaguar’ power consumption: 6MW</a:t>
            </a:r>
          </a:p>
          <a:p>
            <a:endParaRPr lang="en-GB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F98A8B99-9408-4755-83CD-5550CF8601E7}" type="slidenum">
              <a:rPr lang="en-GB" smtClean="0"/>
              <a:pPr/>
              <a:t>4</a:t>
            </a:fld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The </a:t>
            </a:r>
            <a:r>
              <a:rPr lang="en-GB" dirty="0" err="1" smtClean="0"/>
              <a:t>Exaflop</a:t>
            </a:r>
            <a:r>
              <a:rPr lang="en-GB" dirty="0" smtClean="0"/>
              <a:t> Supercomputer (2018)</a:t>
            </a:r>
            <a:endParaRPr lang="en-GB" dirty="0"/>
          </a:p>
        </p:txBody>
      </p:sp>
      <p:sp>
        <p:nvSpPr>
          <p:cNvPr id="5" name="Rounded Rectangular Callout 4"/>
          <p:cNvSpPr/>
          <p:nvPr/>
        </p:nvSpPr>
        <p:spPr>
          <a:xfrm>
            <a:off x="3060834" y="866287"/>
            <a:ext cx="4456497" cy="1357162"/>
          </a:xfrm>
          <a:prstGeom prst="wedgeRoundRectCallout">
            <a:avLst>
              <a:gd name="adj1" fmla="val -43496"/>
              <a:gd name="adj2" fmla="val 70850"/>
              <a:gd name="adj3" fmla="val 16667"/>
            </a:avLst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dirty="0" smtClean="0"/>
              <a:t>How do we program this?</a:t>
            </a:r>
            <a:endParaRPr lang="en-GB" sz="2800" dirty="0"/>
          </a:p>
        </p:txBody>
      </p:sp>
      <p:sp>
        <p:nvSpPr>
          <p:cNvPr id="6" name="Rounded Rectangular Callout 5"/>
          <p:cNvSpPr/>
          <p:nvPr/>
        </p:nvSpPr>
        <p:spPr>
          <a:xfrm>
            <a:off x="4572000" y="3319115"/>
            <a:ext cx="4456497" cy="1357162"/>
          </a:xfrm>
          <a:prstGeom prst="wedgeRoundRectCallout">
            <a:avLst>
              <a:gd name="adj1" fmla="val -38313"/>
              <a:gd name="adj2" fmla="val 69432"/>
              <a:gd name="adj3" fmla="val 16667"/>
            </a:avLst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dirty="0" smtClean="0"/>
              <a:t>Who pays for this?</a:t>
            </a:r>
            <a:endParaRPr lang="en-GB" sz="2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allAtOnce" animBg="1"/>
      <p:bldP spid="6" grpId="0" build="allAtOnce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What do 50M cores look like?</a:t>
            </a:r>
            <a:endParaRPr lang="en-GB" dirty="0"/>
          </a:p>
        </p:txBody>
      </p:sp>
      <p:pic>
        <p:nvPicPr>
          <p:cNvPr id="6" name="Content Placeholder 4" descr="TOP500_NumberOfProcessors.tif"/>
          <p:cNvPicPr>
            <a:picLocks noGrp="1" noChangeAspect="1"/>
          </p:cNvPicPr>
          <p:nvPr>
            <p:ph sz="half" idx="1"/>
          </p:nvPr>
        </p:nvPicPr>
        <p:blipFill>
          <a:blip r:embed="rId2" cstate="print"/>
          <a:stretch>
            <a:fillRect/>
          </a:stretch>
        </p:blipFill>
        <p:spPr>
          <a:xfrm>
            <a:off x="457200" y="1818905"/>
            <a:ext cx="4038600" cy="3613891"/>
          </a:xfrm>
          <a:ln>
            <a:solidFill>
              <a:schemeClr val="tx1"/>
            </a:solidFill>
          </a:ln>
        </p:spPr>
      </p:pic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GB" dirty="0" smtClean="0"/>
              <a:t>Spatial decomposition on a 10000</a:t>
            </a:r>
            <a:r>
              <a:rPr lang="en-GB" baseline="30000" dirty="0" smtClean="0"/>
              <a:t>3</a:t>
            </a:r>
            <a:r>
              <a:rPr lang="en-GB" dirty="0" smtClean="0"/>
              <a:t> regular grid</a:t>
            </a:r>
          </a:p>
          <a:p>
            <a:r>
              <a:rPr lang="en-GB" dirty="0" smtClean="0"/>
              <a:t>1.0 </a:t>
            </a:r>
            <a:r>
              <a:rPr lang="en-GB" dirty="0" err="1" smtClean="0"/>
              <a:t>Terapoints</a:t>
            </a:r>
            <a:endParaRPr lang="en-GB" dirty="0" smtClean="0"/>
          </a:p>
          <a:p>
            <a:r>
              <a:rPr lang="en-GB" dirty="0" smtClean="0"/>
              <a:t>20k points per core</a:t>
            </a:r>
          </a:p>
          <a:p>
            <a:r>
              <a:rPr lang="en-GB" dirty="0" smtClean="0"/>
              <a:t>27</a:t>
            </a:r>
            <a:r>
              <a:rPr lang="en-GB" baseline="30000" dirty="0" smtClean="0"/>
              <a:t>3</a:t>
            </a:r>
            <a:r>
              <a:rPr lang="en-GB" dirty="0" smtClean="0"/>
              <a:t> region per core</a:t>
            </a:r>
          </a:p>
          <a:p>
            <a:r>
              <a:rPr lang="en-GB" dirty="0" smtClean="0"/>
              <a:t>Computing a 13x13x13 convolution stencil:</a:t>
            </a:r>
            <a:br>
              <a:rPr lang="en-GB" dirty="0" smtClean="0"/>
            </a:br>
            <a:r>
              <a:rPr lang="en-GB" i="1" dirty="0" smtClean="0"/>
              <a:t>66% halo</a:t>
            </a:r>
          </a:p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F98A8B99-9408-4755-83CD-5550CF8601E7}" type="slidenum">
              <a:rPr lang="en-GB" smtClean="0"/>
              <a:pPr/>
              <a:t>5</a:t>
            </a:fld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Power Efficiency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1196752"/>
            <a:ext cx="8676456" cy="5107795"/>
          </a:xfrm>
        </p:spPr>
        <p:txBody>
          <a:bodyPr>
            <a:normAutofit/>
          </a:bodyPr>
          <a:lstStyle/>
          <a:p>
            <a:r>
              <a:rPr lang="en-GB" dirty="0" smtClean="0"/>
              <a:t>Green500 list identifies the most energy efficient supercomputers from the Top500 list</a:t>
            </a:r>
          </a:p>
          <a:p>
            <a:endParaRPr lang="en-GB" dirty="0" smtClean="0"/>
          </a:p>
          <a:p>
            <a:endParaRPr lang="en-GB" dirty="0" smtClean="0"/>
          </a:p>
          <a:p>
            <a:endParaRPr lang="en-GB" dirty="0" smtClean="0"/>
          </a:p>
          <a:p>
            <a:endParaRPr lang="en-GB" dirty="0" smtClean="0"/>
          </a:p>
          <a:p>
            <a:endParaRPr lang="en-GB" dirty="0" smtClean="0"/>
          </a:p>
          <a:p>
            <a:r>
              <a:rPr lang="en-GB" dirty="0" smtClean="0"/>
              <a:t>At 1.6 GFLOPs/W; 1 </a:t>
            </a:r>
            <a:r>
              <a:rPr lang="en-GB" dirty="0" err="1" smtClean="0"/>
              <a:t>exaflop</a:t>
            </a:r>
            <a:r>
              <a:rPr lang="en-GB" dirty="0" smtClean="0"/>
              <a:t> = 625MW</a:t>
            </a:r>
          </a:p>
          <a:p>
            <a:r>
              <a:rPr lang="en-GB" dirty="0" smtClean="0"/>
              <a:t>To deliver 1 </a:t>
            </a:r>
            <a:r>
              <a:rPr lang="en-GB" dirty="0" err="1" smtClean="0"/>
              <a:t>Exaflop</a:t>
            </a:r>
            <a:r>
              <a:rPr lang="en-GB" dirty="0" smtClean="0"/>
              <a:t> at 6MW we need 170 GFLOPS/W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467544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98A8B99-9408-4755-83CD-5550CF8601E7}" type="slidenum">
              <a:rPr lang="en-GB" smtClean="0"/>
              <a:pPr/>
              <a:t>6</a:t>
            </a:fld>
            <a:endParaRPr lang="en-GB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749932" y="2410025"/>
          <a:ext cx="5663386" cy="1999449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831693"/>
                <a:gridCol w="2831693"/>
              </a:tblGrid>
              <a:tr h="432803">
                <a:tc>
                  <a:txBody>
                    <a:bodyPr/>
                    <a:lstStyle/>
                    <a:p>
                      <a:endParaRPr lang="en-GB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 smtClean="0"/>
                        <a:t>Power efficiency (GFLOPS/W)</a:t>
                      </a:r>
                      <a:endParaRPr lang="en-GB" sz="2000" dirty="0"/>
                    </a:p>
                  </a:txBody>
                  <a:tcPr/>
                </a:tc>
              </a:tr>
              <a:tr h="43280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000" dirty="0" smtClean="0"/>
                        <a:t>Best (</a:t>
                      </a:r>
                      <a:r>
                        <a:rPr lang="en-GB" sz="2000" dirty="0" err="1" smtClean="0"/>
                        <a:t>BlueGene</a:t>
                      </a:r>
                      <a:r>
                        <a:rPr lang="en-GB" sz="2000" dirty="0" smtClean="0"/>
                        <a:t>/Q)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2000" dirty="0" smtClean="0"/>
                        <a:t>1.6</a:t>
                      </a:r>
                      <a:endParaRPr lang="en-GB" sz="2000" dirty="0"/>
                    </a:p>
                  </a:txBody>
                  <a:tcPr/>
                </a:tc>
              </a:tr>
              <a:tr h="432803">
                <a:tc>
                  <a:txBody>
                    <a:bodyPr/>
                    <a:lstStyle/>
                    <a:p>
                      <a:r>
                        <a:rPr lang="en-GB" sz="2000" dirty="0" smtClean="0"/>
                        <a:t>Average accelerator</a:t>
                      </a:r>
                      <a:endParaRPr lang="en-GB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2000" dirty="0" smtClean="0"/>
                        <a:t>0.76</a:t>
                      </a:r>
                      <a:endParaRPr lang="en-GB" sz="2000" dirty="0"/>
                    </a:p>
                  </a:txBody>
                  <a:tcPr/>
                </a:tc>
              </a:tr>
              <a:tr h="432803">
                <a:tc>
                  <a:txBody>
                    <a:bodyPr/>
                    <a:lstStyle/>
                    <a:p>
                      <a:r>
                        <a:rPr lang="en-GB" sz="2000" dirty="0" smtClean="0"/>
                        <a:t>Average</a:t>
                      </a:r>
                      <a:r>
                        <a:rPr lang="en-GB" sz="2000" baseline="0" dirty="0" smtClean="0"/>
                        <a:t> non-accelerator</a:t>
                      </a:r>
                      <a:endParaRPr lang="en-GB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2000" dirty="0" smtClean="0"/>
                        <a:t>0.21</a:t>
                      </a:r>
                      <a:endParaRPr lang="en-GB" sz="20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Curved Left Arrow 5"/>
          <p:cNvSpPr/>
          <p:nvPr/>
        </p:nvSpPr>
        <p:spPr>
          <a:xfrm>
            <a:off x="7478830" y="3715350"/>
            <a:ext cx="327259" cy="587144"/>
          </a:xfrm>
          <a:prstGeom prst="curvedLeftArrow">
            <a:avLst>
              <a:gd name="adj1" fmla="val 0"/>
              <a:gd name="adj2" fmla="val 50000"/>
              <a:gd name="adj3" fmla="val 25000"/>
            </a:avLst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806090" y="3773103"/>
            <a:ext cx="6190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 smtClean="0"/>
              <a:t>3.6x</a:t>
            </a:r>
            <a:endParaRPr lang="en-GB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2627785" y="3716759"/>
            <a:ext cx="3816424" cy="194421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00"/>
          </a:p>
        </p:txBody>
      </p:sp>
      <p:grpSp>
        <p:nvGrpSpPr>
          <p:cNvPr id="12" name="Group 11"/>
          <p:cNvGrpSpPr/>
          <p:nvPr/>
        </p:nvGrpSpPr>
        <p:grpSpPr>
          <a:xfrm>
            <a:off x="2627785" y="1592523"/>
            <a:ext cx="3816424" cy="1944216"/>
            <a:chOff x="467544" y="2276872"/>
            <a:chExt cx="3816424" cy="1944216"/>
          </a:xfrm>
        </p:grpSpPr>
        <p:sp>
          <p:nvSpPr>
            <p:cNvPr id="13" name="Rectangle 12"/>
            <p:cNvSpPr/>
            <p:nvPr/>
          </p:nvSpPr>
          <p:spPr>
            <a:xfrm>
              <a:off x="467544" y="2276872"/>
              <a:ext cx="1224136" cy="1008112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300" dirty="0" smtClean="0"/>
                <a:t>Execution units</a:t>
              </a:r>
              <a:endParaRPr lang="en-GB" sz="1300" dirty="0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7544" y="3284984"/>
              <a:ext cx="1224136" cy="936104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300" dirty="0" smtClean="0"/>
                <a:t>Out-of-order scheduling &amp; retirement</a:t>
              </a:r>
              <a:endParaRPr lang="en-GB" sz="1300" dirty="0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691680" y="2276872"/>
              <a:ext cx="1296144" cy="504056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300" dirty="0" smtClean="0"/>
                <a:t>L1 data cache</a:t>
              </a:r>
              <a:endParaRPr lang="en-GB" sz="1300" dirty="0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691680" y="2780928"/>
              <a:ext cx="1296144" cy="648072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300" dirty="0" smtClean="0"/>
                <a:t>Memory ordering and execution</a:t>
              </a:r>
              <a:endParaRPr lang="en-GB" sz="1300" dirty="0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1691680" y="3429000"/>
              <a:ext cx="1296144" cy="79208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300" dirty="0" smtClean="0"/>
                <a:t>Instruction decode and microcode</a:t>
              </a:r>
              <a:endParaRPr lang="en-GB" sz="1300" dirty="0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2987824" y="2276872"/>
              <a:ext cx="1296144" cy="72008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300" dirty="0" smtClean="0"/>
                <a:t>L2 Cache &amp; </a:t>
              </a:r>
              <a:r>
                <a:rPr lang="en-GB" sz="1300" dirty="0"/>
                <a:t>i</a:t>
              </a:r>
              <a:r>
                <a:rPr lang="en-GB" sz="1300" dirty="0" smtClean="0"/>
                <a:t>nterrupt servicing</a:t>
              </a:r>
              <a:endParaRPr lang="en-GB" sz="1300" dirty="0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2987824" y="2996952"/>
              <a:ext cx="1296144" cy="36004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300" dirty="0" smtClean="0"/>
                <a:t>Paging</a:t>
              </a:r>
              <a:endParaRPr lang="en-GB" sz="1300" dirty="0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2987824" y="3356992"/>
              <a:ext cx="1296144" cy="43204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300" dirty="0" smtClean="0"/>
                <a:t>Branch prediction</a:t>
              </a:r>
              <a:endParaRPr lang="en-GB" sz="1300" dirty="0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2987824" y="3789040"/>
              <a:ext cx="1296144" cy="43204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300" dirty="0" smtClean="0"/>
                <a:t>Instruction fetch &amp; L1 cache</a:t>
              </a:r>
              <a:endParaRPr lang="en-GB" sz="1300" dirty="0"/>
            </a:p>
          </p:txBody>
        </p:sp>
        <p:sp>
          <p:nvSpPr>
            <p:cNvPr id="24" name="Rectangle 23"/>
            <p:cNvSpPr/>
            <p:nvPr/>
          </p:nvSpPr>
          <p:spPr>
            <a:xfrm>
              <a:off x="467544" y="2276872"/>
              <a:ext cx="3816424" cy="1944216"/>
            </a:xfrm>
            <a:prstGeom prst="rect">
              <a:avLst/>
            </a:prstGeom>
            <a:no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300"/>
            </a:p>
          </p:txBody>
        </p:sp>
      </p:grpSp>
      <p:sp>
        <p:nvSpPr>
          <p:cNvPr id="25" name="Rectangle 24"/>
          <p:cNvSpPr/>
          <p:nvPr/>
        </p:nvSpPr>
        <p:spPr>
          <a:xfrm>
            <a:off x="3203849" y="3716759"/>
            <a:ext cx="2808312" cy="360313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300" dirty="0" smtClean="0"/>
              <a:t>Memory controller</a:t>
            </a:r>
            <a:endParaRPr lang="en-GB" sz="1300" dirty="0"/>
          </a:p>
        </p:txBody>
      </p:sp>
      <p:sp>
        <p:nvSpPr>
          <p:cNvPr id="27" name="Rectangle 26"/>
          <p:cNvSpPr/>
          <p:nvPr/>
        </p:nvSpPr>
        <p:spPr>
          <a:xfrm>
            <a:off x="2808313" y="5084911"/>
            <a:ext cx="1619672" cy="576337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300" dirty="0" smtClean="0"/>
              <a:t>Shared L3 cache</a:t>
            </a:r>
            <a:endParaRPr lang="en-GB" sz="1300" dirty="0"/>
          </a:p>
        </p:txBody>
      </p:sp>
      <p:sp>
        <p:nvSpPr>
          <p:cNvPr id="29" name="Rectangle 28"/>
          <p:cNvSpPr/>
          <p:nvPr/>
        </p:nvSpPr>
        <p:spPr>
          <a:xfrm rot="16200000">
            <a:off x="3959933" y="4976899"/>
            <a:ext cx="1152128" cy="216024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300" dirty="0" err="1" smtClean="0"/>
              <a:t>Uncore</a:t>
            </a:r>
            <a:endParaRPr lang="en-GB" sz="1300" dirty="0"/>
          </a:p>
        </p:txBody>
      </p:sp>
      <p:sp>
        <p:nvSpPr>
          <p:cNvPr id="30" name="Rectangle 29"/>
          <p:cNvSpPr/>
          <p:nvPr/>
        </p:nvSpPr>
        <p:spPr>
          <a:xfrm>
            <a:off x="5724129" y="4077071"/>
            <a:ext cx="540060" cy="1007839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300" dirty="0" smtClean="0"/>
              <a:t>Core</a:t>
            </a:r>
            <a:endParaRPr lang="en-GB" sz="1300" dirty="0"/>
          </a:p>
        </p:txBody>
      </p:sp>
      <p:sp>
        <p:nvSpPr>
          <p:cNvPr id="31" name="Rectangle 30"/>
          <p:cNvSpPr/>
          <p:nvPr/>
        </p:nvSpPr>
        <p:spPr>
          <a:xfrm rot="16200000">
            <a:off x="2087725" y="4976900"/>
            <a:ext cx="1224138" cy="144014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300" dirty="0" smtClean="0"/>
              <a:t>I/O and QPI</a:t>
            </a:r>
            <a:endParaRPr lang="en-GB" sz="1300" dirty="0"/>
          </a:p>
        </p:txBody>
      </p:sp>
      <p:sp>
        <p:nvSpPr>
          <p:cNvPr id="32" name="Rectangle 31"/>
          <p:cNvSpPr/>
          <p:nvPr/>
        </p:nvSpPr>
        <p:spPr>
          <a:xfrm rot="5400000">
            <a:off x="5832140" y="5048908"/>
            <a:ext cx="1080122" cy="144016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300" dirty="0" smtClean="0"/>
              <a:t>I/O and QPI</a:t>
            </a:r>
            <a:endParaRPr lang="en-GB" sz="1300" dirty="0"/>
          </a:p>
        </p:txBody>
      </p:sp>
      <p:sp>
        <p:nvSpPr>
          <p:cNvPr id="34" name="Rectangle 33"/>
          <p:cNvSpPr/>
          <p:nvPr/>
        </p:nvSpPr>
        <p:spPr>
          <a:xfrm>
            <a:off x="4644009" y="5084911"/>
            <a:ext cx="1656184" cy="576337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300" dirty="0" smtClean="0"/>
              <a:t>Shared L3 cache</a:t>
            </a:r>
            <a:endParaRPr lang="en-GB" sz="1300" dirty="0"/>
          </a:p>
        </p:txBody>
      </p:sp>
      <p:sp>
        <p:nvSpPr>
          <p:cNvPr id="35" name="Rectangle 34"/>
          <p:cNvSpPr/>
          <p:nvPr/>
        </p:nvSpPr>
        <p:spPr>
          <a:xfrm>
            <a:off x="5184069" y="4076799"/>
            <a:ext cx="540060" cy="1007839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300" dirty="0" smtClean="0"/>
              <a:t>Core</a:t>
            </a:r>
            <a:endParaRPr lang="en-GB" sz="1300" dirty="0"/>
          </a:p>
        </p:txBody>
      </p:sp>
      <p:sp>
        <p:nvSpPr>
          <p:cNvPr id="36" name="Rectangle 35"/>
          <p:cNvSpPr/>
          <p:nvPr/>
        </p:nvSpPr>
        <p:spPr>
          <a:xfrm>
            <a:off x="4644009" y="4076799"/>
            <a:ext cx="540060" cy="1007839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300" dirty="0" smtClean="0"/>
              <a:t>Core</a:t>
            </a:r>
            <a:endParaRPr lang="en-GB" sz="1300" dirty="0"/>
          </a:p>
        </p:txBody>
      </p:sp>
      <p:sp>
        <p:nvSpPr>
          <p:cNvPr id="37" name="Rectangle 36"/>
          <p:cNvSpPr/>
          <p:nvPr/>
        </p:nvSpPr>
        <p:spPr>
          <a:xfrm>
            <a:off x="3887925" y="4077072"/>
            <a:ext cx="540060" cy="1007839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300" dirty="0" smtClean="0"/>
              <a:t>Core</a:t>
            </a:r>
            <a:endParaRPr lang="en-GB" sz="1300" dirty="0"/>
          </a:p>
        </p:txBody>
      </p:sp>
      <p:sp>
        <p:nvSpPr>
          <p:cNvPr id="38" name="Rectangle 37"/>
          <p:cNvSpPr/>
          <p:nvPr/>
        </p:nvSpPr>
        <p:spPr>
          <a:xfrm>
            <a:off x="3347865" y="4077072"/>
            <a:ext cx="540060" cy="1007839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300" dirty="0" smtClean="0"/>
              <a:t>Core</a:t>
            </a:r>
            <a:endParaRPr lang="en-GB" sz="1300" dirty="0"/>
          </a:p>
        </p:txBody>
      </p:sp>
      <p:sp>
        <p:nvSpPr>
          <p:cNvPr id="39" name="Rectangle 38"/>
          <p:cNvSpPr/>
          <p:nvPr/>
        </p:nvSpPr>
        <p:spPr>
          <a:xfrm>
            <a:off x="2807805" y="4077072"/>
            <a:ext cx="540060" cy="1007839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300" dirty="0" smtClean="0"/>
              <a:t>Core</a:t>
            </a:r>
            <a:endParaRPr lang="en-GB" sz="13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Intel 6-Core X5680 “</a:t>
            </a:r>
            <a:r>
              <a:rPr lang="en-GB" dirty="0" err="1" smtClean="0"/>
              <a:t>Westmere</a:t>
            </a:r>
            <a:r>
              <a:rPr lang="en-GB" dirty="0" smtClean="0"/>
              <a:t>”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2D9C5-9C72-4C75-A1BC-B4986A40F6AC}" type="slidenum">
              <a:rPr lang="en-GB" smtClean="0"/>
              <a:pPr/>
              <a:t>7</a:t>
            </a:fld>
            <a:endParaRPr lang="en-GB"/>
          </a:p>
        </p:txBody>
      </p:sp>
      <p:grpSp>
        <p:nvGrpSpPr>
          <p:cNvPr id="72" name="Group 71"/>
          <p:cNvGrpSpPr/>
          <p:nvPr/>
        </p:nvGrpSpPr>
        <p:grpSpPr>
          <a:xfrm>
            <a:off x="2627784" y="1592523"/>
            <a:ext cx="3634124" cy="2857520"/>
            <a:chOff x="2627784" y="1592523"/>
            <a:chExt cx="3634124" cy="2857520"/>
          </a:xfrm>
        </p:grpSpPr>
        <p:cxnSp>
          <p:nvCxnSpPr>
            <p:cNvPr id="59" name="Straight Connector 58"/>
            <p:cNvCxnSpPr/>
            <p:nvPr/>
          </p:nvCxnSpPr>
          <p:spPr>
            <a:xfrm rot="16200000" flipV="1">
              <a:off x="1917395" y="3311025"/>
              <a:ext cx="1849408" cy="428628"/>
            </a:xfrm>
            <a:prstGeom prst="line">
              <a:avLst/>
            </a:prstGeom>
            <a:noFill/>
            <a:ln w="25400" cap="flat" cmpd="sng" algn="ctr">
              <a:solidFill>
                <a:schemeClr val="tx2"/>
              </a:solidFill>
              <a:prstDash val="solid"/>
              <a:tailEnd type="none"/>
            </a:ln>
            <a:effectLst/>
          </p:spPr>
        </p:cxnSp>
        <p:cxnSp>
          <p:nvCxnSpPr>
            <p:cNvPr id="60" name="Straight Connector 59"/>
            <p:cNvCxnSpPr/>
            <p:nvPr/>
          </p:nvCxnSpPr>
          <p:spPr>
            <a:xfrm rot="5400000" flipH="1" flipV="1">
              <a:off x="2672339" y="3270461"/>
              <a:ext cx="1849408" cy="509756"/>
            </a:xfrm>
            <a:prstGeom prst="line">
              <a:avLst/>
            </a:prstGeom>
            <a:noFill/>
            <a:ln w="25400" cap="flat" cmpd="sng" algn="ctr">
              <a:solidFill>
                <a:schemeClr val="tx2"/>
              </a:solidFill>
              <a:prstDash val="solid"/>
              <a:tailEnd type="none"/>
            </a:ln>
            <a:effectLst/>
          </p:spPr>
        </p:cxnSp>
        <p:cxnSp>
          <p:nvCxnSpPr>
            <p:cNvPr id="61" name="Straight Connector 60"/>
            <p:cNvCxnSpPr/>
            <p:nvPr/>
          </p:nvCxnSpPr>
          <p:spPr>
            <a:xfrm flipV="1">
              <a:off x="3342165" y="1592523"/>
              <a:ext cx="500066" cy="2500330"/>
            </a:xfrm>
            <a:prstGeom prst="line">
              <a:avLst/>
            </a:prstGeom>
            <a:noFill/>
            <a:ln w="25400" cap="flat" cmpd="sng" algn="ctr">
              <a:solidFill>
                <a:schemeClr val="tx2"/>
              </a:solidFill>
              <a:prstDash val="solid"/>
              <a:tailEnd type="none"/>
            </a:ln>
            <a:effectLst/>
          </p:spPr>
        </p:cxnSp>
        <p:cxnSp>
          <p:nvCxnSpPr>
            <p:cNvPr id="62" name="Straight Connector 61"/>
            <p:cNvCxnSpPr/>
            <p:nvPr/>
          </p:nvCxnSpPr>
          <p:spPr>
            <a:xfrm flipH="1" flipV="1">
              <a:off x="2627785" y="1592523"/>
              <a:ext cx="428628" cy="2500330"/>
            </a:xfrm>
            <a:prstGeom prst="line">
              <a:avLst/>
            </a:prstGeom>
            <a:noFill/>
            <a:ln w="25400" cap="flat" cmpd="sng" algn="ctr">
              <a:solidFill>
                <a:schemeClr val="tx2"/>
              </a:solidFill>
              <a:prstDash val="solid"/>
              <a:tailEnd type="none"/>
            </a:ln>
            <a:effectLst/>
          </p:spPr>
        </p:cxnSp>
        <p:sp>
          <p:nvSpPr>
            <p:cNvPr id="65" name="Rectangle 64"/>
            <p:cNvSpPr/>
            <p:nvPr/>
          </p:nvSpPr>
          <p:spPr>
            <a:xfrm>
              <a:off x="3056412" y="4079922"/>
              <a:ext cx="285752" cy="357190"/>
            </a:xfrm>
            <a:prstGeom prst="rect">
              <a:avLst/>
            </a:prstGeom>
            <a:gradFill>
              <a:gsLst>
                <a:gs pos="0">
                  <a:schemeClr val="accent3">
                    <a:shade val="51000"/>
                    <a:satMod val="130000"/>
                    <a:alpha val="70000"/>
                  </a:schemeClr>
                </a:gs>
                <a:gs pos="80000">
                  <a:schemeClr val="accent3">
                    <a:shade val="93000"/>
                    <a:satMod val="130000"/>
                    <a:alpha val="70000"/>
                  </a:schemeClr>
                </a:gs>
                <a:gs pos="100000">
                  <a:schemeClr val="accent3">
                    <a:shade val="94000"/>
                    <a:satMod val="135000"/>
                    <a:alpha val="70000"/>
                  </a:schemeClr>
                </a:gs>
              </a:gsLst>
            </a:gradFill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6" name="Rectangle 65"/>
            <p:cNvSpPr/>
            <p:nvPr/>
          </p:nvSpPr>
          <p:spPr>
            <a:xfrm>
              <a:off x="3602172" y="4079922"/>
              <a:ext cx="285752" cy="357190"/>
            </a:xfrm>
            <a:prstGeom prst="rect">
              <a:avLst/>
            </a:prstGeom>
            <a:gradFill>
              <a:gsLst>
                <a:gs pos="0">
                  <a:schemeClr val="accent3">
                    <a:shade val="51000"/>
                    <a:satMod val="130000"/>
                    <a:alpha val="70000"/>
                  </a:schemeClr>
                </a:gs>
                <a:gs pos="80000">
                  <a:schemeClr val="accent3">
                    <a:shade val="93000"/>
                    <a:satMod val="130000"/>
                    <a:alpha val="70000"/>
                  </a:schemeClr>
                </a:gs>
                <a:gs pos="100000">
                  <a:schemeClr val="accent3">
                    <a:shade val="94000"/>
                    <a:satMod val="135000"/>
                    <a:alpha val="70000"/>
                  </a:schemeClr>
                </a:gs>
              </a:gsLst>
            </a:gradFill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7" name="Rectangle 66"/>
            <p:cNvSpPr/>
            <p:nvPr/>
          </p:nvSpPr>
          <p:spPr>
            <a:xfrm>
              <a:off x="4139952" y="4079922"/>
              <a:ext cx="285752" cy="357190"/>
            </a:xfrm>
            <a:prstGeom prst="rect">
              <a:avLst/>
            </a:prstGeom>
            <a:gradFill>
              <a:gsLst>
                <a:gs pos="0">
                  <a:schemeClr val="accent3">
                    <a:shade val="51000"/>
                    <a:satMod val="130000"/>
                    <a:alpha val="70000"/>
                  </a:schemeClr>
                </a:gs>
                <a:gs pos="80000">
                  <a:schemeClr val="accent3">
                    <a:shade val="93000"/>
                    <a:satMod val="130000"/>
                    <a:alpha val="70000"/>
                  </a:schemeClr>
                </a:gs>
                <a:gs pos="100000">
                  <a:schemeClr val="accent3">
                    <a:shade val="94000"/>
                    <a:satMod val="135000"/>
                    <a:alpha val="70000"/>
                  </a:schemeClr>
                </a:gs>
              </a:gsLst>
            </a:gradFill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8" name="Rectangle 67"/>
            <p:cNvSpPr/>
            <p:nvPr/>
          </p:nvSpPr>
          <p:spPr>
            <a:xfrm>
              <a:off x="4896036" y="4079922"/>
              <a:ext cx="285752" cy="357190"/>
            </a:xfrm>
            <a:prstGeom prst="rect">
              <a:avLst/>
            </a:prstGeom>
            <a:gradFill>
              <a:gsLst>
                <a:gs pos="0">
                  <a:schemeClr val="accent3">
                    <a:shade val="51000"/>
                    <a:satMod val="130000"/>
                    <a:alpha val="70000"/>
                  </a:schemeClr>
                </a:gs>
                <a:gs pos="80000">
                  <a:schemeClr val="accent3">
                    <a:shade val="93000"/>
                    <a:satMod val="130000"/>
                    <a:alpha val="70000"/>
                  </a:schemeClr>
                </a:gs>
                <a:gs pos="100000">
                  <a:schemeClr val="accent3">
                    <a:shade val="94000"/>
                    <a:satMod val="135000"/>
                    <a:alpha val="70000"/>
                  </a:schemeClr>
                </a:gs>
              </a:gsLst>
            </a:gradFill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9" name="Rectangle 68"/>
            <p:cNvSpPr/>
            <p:nvPr/>
          </p:nvSpPr>
          <p:spPr>
            <a:xfrm>
              <a:off x="5438376" y="4079922"/>
              <a:ext cx="285752" cy="357190"/>
            </a:xfrm>
            <a:prstGeom prst="rect">
              <a:avLst/>
            </a:prstGeom>
            <a:gradFill>
              <a:gsLst>
                <a:gs pos="0">
                  <a:schemeClr val="accent3">
                    <a:shade val="51000"/>
                    <a:satMod val="130000"/>
                    <a:alpha val="70000"/>
                  </a:schemeClr>
                </a:gs>
                <a:gs pos="80000">
                  <a:schemeClr val="accent3">
                    <a:shade val="93000"/>
                    <a:satMod val="130000"/>
                    <a:alpha val="70000"/>
                  </a:schemeClr>
                </a:gs>
                <a:gs pos="100000">
                  <a:schemeClr val="accent3">
                    <a:shade val="94000"/>
                    <a:satMod val="135000"/>
                    <a:alpha val="70000"/>
                  </a:schemeClr>
                </a:gs>
              </a:gsLst>
            </a:gradFill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0" name="Rectangle 69"/>
            <p:cNvSpPr/>
            <p:nvPr/>
          </p:nvSpPr>
          <p:spPr>
            <a:xfrm>
              <a:off x="5976156" y="4079922"/>
              <a:ext cx="285752" cy="357190"/>
            </a:xfrm>
            <a:prstGeom prst="rect">
              <a:avLst/>
            </a:prstGeom>
            <a:gradFill>
              <a:gsLst>
                <a:gs pos="0">
                  <a:schemeClr val="accent3">
                    <a:shade val="51000"/>
                    <a:satMod val="130000"/>
                    <a:alpha val="70000"/>
                  </a:schemeClr>
                </a:gs>
                <a:gs pos="80000">
                  <a:schemeClr val="accent3">
                    <a:shade val="93000"/>
                    <a:satMod val="130000"/>
                    <a:alpha val="70000"/>
                  </a:schemeClr>
                </a:gs>
                <a:gs pos="100000">
                  <a:schemeClr val="accent3">
                    <a:shade val="94000"/>
                    <a:satMod val="135000"/>
                    <a:alpha val="70000"/>
                  </a:schemeClr>
                </a:gs>
              </a:gsLst>
            </a:gradFill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1" name="Rectangle 70"/>
            <p:cNvSpPr/>
            <p:nvPr/>
          </p:nvSpPr>
          <p:spPr>
            <a:xfrm>
              <a:off x="2627784" y="1601346"/>
              <a:ext cx="1214446" cy="999562"/>
            </a:xfrm>
            <a:prstGeom prst="rect">
              <a:avLst/>
            </a:prstGeom>
            <a:gradFill>
              <a:gsLst>
                <a:gs pos="0">
                  <a:schemeClr val="accent3">
                    <a:shade val="51000"/>
                    <a:satMod val="130000"/>
                    <a:alpha val="70000"/>
                  </a:schemeClr>
                </a:gs>
                <a:gs pos="80000">
                  <a:schemeClr val="accent3">
                    <a:shade val="93000"/>
                    <a:satMod val="130000"/>
                    <a:alpha val="70000"/>
                  </a:schemeClr>
                </a:gs>
                <a:gs pos="100000">
                  <a:schemeClr val="accent3">
                    <a:shade val="94000"/>
                    <a:satMod val="135000"/>
                    <a:alpha val="70000"/>
                  </a:schemeClr>
                </a:gs>
              </a:gsLst>
            </a:gradFill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400" dirty="0" smtClean="0"/>
                <a:t>Computation</a:t>
              </a:r>
              <a:endParaRPr lang="en-GB" sz="1400" dirty="0"/>
            </a:p>
          </p:txBody>
        </p:sp>
      </p:grpSp>
      <p:sp>
        <p:nvSpPr>
          <p:cNvPr id="40" name="Right Brace 39"/>
          <p:cNvSpPr/>
          <p:nvPr/>
        </p:nvSpPr>
        <p:spPr>
          <a:xfrm>
            <a:off x="6588224" y="1592796"/>
            <a:ext cx="360040" cy="1944216"/>
          </a:xfrm>
          <a:prstGeom prst="rightBrace">
            <a:avLst>
              <a:gd name="adj1" fmla="val 8333"/>
              <a:gd name="adj2" fmla="val 50000"/>
            </a:avLst>
          </a:prstGeom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1" name="TextBox 40"/>
          <p:cNvSpPr txBox="1"/>
          <p:nvPr/>
        </p:nvSpPr>
        <p:spPr>
          <a:xfrm>
            <a:off x="6912260" y="2384884"/>
            <a:ext cx="900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Core</a:t>
            </a:r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1124745"/>
            <a:ext cx="8229600" cy="2952328"/>
          </a:xfrm>
        </p:spPr>
        <p:txBody>
          <a:bodyPr>
            <a:normAutofit/>
          </a:bodyPr>
          <a:lstStyle/>
          <a:p>
            <a:r>
              <a:rPr lang="en-GB" dirty="0" smtClean="0"/>
              <a:t>A custom chip for a specific application</a:t>
            </a:r>
          </a:p>
          <a:p>
            <a:r>
              <a:rPr lang="en-GB" dirty="0" smtClean="0"/>
              <a:t>No instructions </a:t>
            </a:r>
            <a:r>
              <a:rPr lang="en-GB" dirty="0" smtClean="0">
                <a:solidFill>
                  <a:schemeClr val="tx2"/>
                </a:solidFill>
                <a:sym typeface="Wingdings" pitchFamily="2" charset="2"/>
              </a:rPr>
              <a:t> </a:t>
            </a:r>
            <a:r>
              <a:rPr lang="en-GB" dirty="0" smtClean="0">
                <a:solidFill>
                  <a:schemeClr val="tx2"/>
                </a:solidFill>
              </a:rPr>
              <a:t>no instruction decode logic</a:t>
            </a:r>
          </a:p>
          <a:p>
            <a:r>
              <a:rPr lang="en-GB" dirty="0" smtClean="0"/>
              <a:t>No branches </a:t>
            </a:r>
            <a:r>
              <a:rPr lang="en-GB" dirty="0" smtClean="0">
                <a:solidFill>
                  <a:schemeClr val="tx2"/>
                </a:solidFill>
                <a:sym typeface="Wingdings" pitchFamily="2" charset="2"/>
              </a:rPr>
              <a:t> </a:t>
            </a:r>
            <a:r>
              <a:rPr lang="en-GB" dirty="0" smtClean="0">
                <a:solidFill>
                  <a:schemeClr val="tx2"/>
                </a:solidFill>
              </a:rPr>
              <a:t>no branch prediction</a:t>
            </a:r>
          </a:p>
          <a:p>
            <a:r>
              <a:rPr lang="en-GB" dirty="0" smtClean="0"/>
              <a:t>Explicit parallelism </a:t>
            </a:r>
            <a:r>
              <a:rPr lang="en-GB" dirty="0" smtClean="0">
                <a:solidFill>
                  <a:schemeClr val="tx2"/>
                </a:solidFill>
                <a:sym typeface="Wingdings" pitchFamily="2" charset="2"/>
              </a:rPr>
              <a:t> </a:t>
            </a:r>
            <a:r>
              <a:rPr lang="en-GB" dirty="0" smtClean="0">
                <a:solidFill>
                  <a:schemeClr val="tx2"/>
                </a:solidFill>
              </a:rPr>
              <a:t>No out-of-order scheduling</a:t>
            </a:r>
          </a:p>
          <a:p>
            <a:r>
              <a:rPr lang="en-GB" dirty="0" smtClean="0"/>
              <a:t>Data streamed onto-chip </a:t>
            </a:r>
            <a:r>
              <a:rPr lang="en-GB" dirty="0" smtClean="0">
                <a:solidFill>
                  <a:schemeClr val="tx2"/>
                </a:solidFill>
                <a:sym typeface="Wingdings" pitchFamily="2" charset="2"/>
              </a:rPr>
              <a:t> No multi-level caches</a:t>
            </a:r>
            <a:endParaRPr lang="en-GB" dirty="0" smtClean="0">
              <a:solidFill>
                <a:schemeClr val="tx2"/>
              </a:solidFill>
            </a:endParaRPr>
          </a:p>
          <a:p>
            <a:endParaRPr lang="en-GB" dirty="0" smtClean="0"/>
          </a:p>
          <a:p>
            <a:endParaRPr lang="en-GB" dirty="0" smtClean="0"/>
          </a:p>
          <a:p>
            <a:endParaRPr lang="en-GB" dirty="0" smtClean="0"/>
          </a:p>
          <a:p>
            <a:endParaRPr lang="en-GB" dirty="0" smtClean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A Special Purpose Computer</a:t>
            </a:r>
            <a:endParaRPr lang="en-GB" dirty="0"/>
          </a:p>
        </p:txBody>
      </p:sp>
      <p:sp>
        <p:nvSpPr>
          <p:cNvPr id="6" name="Rectangle 5"/>
          <p:cNvSpPr/>
          <p:nvPr/>
        </p:nvSpPr>
        <p:spPr>
          <a:xfrm>
            <a:off x="4355976" y="4149080"/>
            <a:ext cx="1584176" cy="144016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 err="1" smtClean="0"/>
              <a:t>MyApplication</a:t>
            </a:r>
            <a:r>
              <a:rPr lang="en-GB" dirty="0" smtClean="0"/>
              <a:t> Chip</a:t>
            </a:r>
            <a:endParaRPr lang="en-GB" dirty="0"/>
          </a:p>
        </p:txBody>
      </p:sp>
      <p:sp>
        <p:nvSpPr>
          <p:cNvPr id="7" name="Rectangle 6"/>
          <p:cNvSpPr/>
          <p:nvPr/>
        </p:nvSpPr>
        <p:spPr>
          <a:xfrm rot="5400000">
            <a:off x="6156176" y="4437112"/>
            <a:ext cx="1440160" cy="86409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(Lots of) Memory</a:t>
            </a:r>
            <a:endParaRPr lang="en-GB" dirty="0"/>
          </a:p>
        </p:txBody>
      </p:sp>
      <p:cxnSp>
        <p:nvCxnSpPr>
          <p:cNvPr id="9" name="Straight Arrow Connector 8"/>
          <p:cNvCxnSpPr>
            <a:stCxn id="6" idx="3"/>
            <a:endCxn id="7" idx="2"/>
          </p:cNvCxnSpPr>
          <p:nvPr/>
        </p:nvCxnSpPr>
        <p:spPr>
          <a:xfrm>
            <a:off x="5940152" y="4869160"/>
            <a:ext cx="504056" cy="1588"/>
          </a:xfrm>
          <a:prstGeom prst="straightConnector1">
            <a:avLst/>
          </a:prstGeom>
          <a:ln w="31750">
            <a:solidFill>
              <a:schemeClr val="tx2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loud 10"/>
          <p:cNvSpPr/>
          <p:nvPr/>
        </p:nvSpPr>
        <p:spPr>
          <a:xfrm>
            <a:off x="1332111" y="4149080"/>
            <a:ext cx="2159769" cy="1440160"/>
          </a:xfrm>
          <a:prstGeom prst="cloud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Rest of the world</a:t>
            </a:r>
            <a:endParaRPr lang="en-GB" dirty="0"/>
          </a:p>
        </p:txBody>
      </p:sp>
      <p:cxnSp>
        <p:nvCxnSpPr>
          <p:cNvPr id="12" name="Straight Arrow Connector 11"/>
          <p:cNvCxnSpPr>
            <a:stCxn id="11" idx="0"/>
            <a:endCxn id="6" idx="1"/>
          </p:cNvCxnSpPr>
          <p:nvPr/>
        </p:nvCxnSpPr>
        <p:spPr>
          <a:xfrm>
            <a:off x="3490080" y="4869160"/>
            <a:ext cx="865896" cy="1588"/>
          </a:xfrm>
          <a:prstGeom prst="straightConnector1">
            <a:avLst/>
          </a:prstGeom>
          <a:ln w="31750">
            <a:solidFill>
              <a:schemeClr val="tx2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2D9C5-9C72-4C75-A1BC-B4986A40F6AC}" type="slidenum">
              <a:rPr lang="en-GB" smtClean="0"/>
              <a:pPr/>
              <a:t>8</a:t>
            </a:fld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1124745"/>
            <a:ext cx="8229600" cy="2952328"/>
          </a:xfrm>
        </p:spPr>
        <p:txBody>
          <a:bodyPr>
            <a:normAutofit/>
          </a:bodyPr>
          <a:lstStyle/>
          <a:p>
            <a:r>
              <a:rPr lang="en-GB" dirty="0" smtClean="0"/>
              <a:t>But we have more than one application</a:t>
            </a:r>
          </a:p>
          <a:p>
            <a:r>
              <a:rPr lang="en-GB" dirty="0" smtClean="0"/>
              <a:t>Generally impractical to have machines that are completely optimized for only one code</a:t>
            </a:r>
          </a:p>
          <a:p>
            <a:pPr lvl="1"/>
            <a:r>
              <a:rPr lang="en-GB" dirty="0" smtClean="0"/>
              <a:t>Need to run many applications on a typical cluster</a:t>
            </a:r>
          </a:p>
          <a:p>
            <a:endParaRPr lang="en-GB" dirty="0" smtClean="0"/>
          </a:p>
          <a:p>
            <a:endParaRPr lang="en-GB" dirty="0" smtClean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A Special Purpose Computer</a:t>
            </a:r>
            <a:endParaRPr lang="en-GB" dirty="0"/>
          </a:p>
        </p:txBody>
      </p:sp>
      <p:grpSp>
        <p:nvGrpSpPr>
          <p:cNvPr id="10" name="Group 9"/>
          <p:cNvGrpSpPr/>
          <p:nvPr/>
        </p:nvGrpSpPr>
        <p:grpSpPr>
          <a:xfrm>
            <a:off x="1332111" y="4149080"/>
            <a:ext cx="5976193" cy="1440160"/>
            <a:chOff x="1259632" y="4149080"/>
            <a:chExt cx="5976193" cy="1440160"/>
          </a:xfrm>
        </p:grpSpPr>
        <p:sp>
          <p:nvSpPr>
            <p:cNvPr id="6" name="Rectangle 5"/>
            <p:cNvSpPr/>
            <p:nvPr/>
          </p:nvSpPr>
          <p:spPr>
            <a:xfrm>
              <a:off x="4283497" y="4149080"/>
              <a:ext cx="1584176" cy="1440160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GB" dirty="0" err="1" smtClean="0"/>
                <a:t>MyApplication</a:t>
              </a:r>
              <a:r>
                <a:rPr lang="en-GB" dirty="0" smtClean="0"/>
                <a:t> Chip</a:t>
              </a:r>
              <a:endParaRPr lang="en-GB" dirty="0"/>
            </a:p>
          </p:txBody>
        </p:sp>
        <p:sp>
          <p:nvSpPr>
            <p:cNvPr id="7" name="Rectangle 6"/>
            <p:cNvSpPr/>
            <p:nvPr/>
          </p:nvSpPr>
          <p:spPr>
            <a:xfrm rot="5400000">
              <a:off x="6083697" y="4437112"/>
              <a:ext cx="1440160" cy="864096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GB" dirty="0" smtClean="0"/>
                <a:t>Memory</a:t>
              </a:r>
              <a:endParaRPr lang="en-GB" dirty="0"/>
            </a:p>
          </p:txBody>
        </p:sp>
        <p:cxnSp>
          <p:nvCxnSpPr>
            <p:cNvPr id="9" name="Straight Arrow Connector 8"/>
            <p:cNvCxnSpPr>
              <a:stCxn id="6" idx="3"/>
              <a:endCxn id="7" idx="2"/>
            </p:cNvCxnSpPr>
            <p:nvPr/>
          </p:nvCxnSpPr>
          <p:spPr>
            <a:xfrm>
              <a:off x="5867673" y="4869160"/>
              <a:ext cx="504056" cy="1588"/>
            </a:xfrm>
            <a:prstGeom prst="straightConnector1">
              <a:avLst/>
            </a:prstGeom>
            <a:ln w="31750">
              <a:solidFill>
                <a:schemeClr val="tx2"/>
              </a:solidFill>
              <a:headEnd type="triangl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Cloud 10"/>
            <p:cNvSpPr/>
            <p:nvPr/>
          </p:nvSpPr>
          <p:spPr>
            <a:xfrm>
              <a:off x="1259632" y="4149080"/>
              <a:ext cx="2159769" cy="1440160"/>
            </a:xfrm>
            <a:prstGeom prst="cloud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 smtClean="0"/>
                <a:t>Network</a:t>
              </a:r>
              <a:endParaRPr lang="en-GB" dirty="0"/>
            </a:p>
          </p:txBody>
        </p:sp>
        <p:cxnSp>
          <p:nvCxnSpPr>
            <p:cNvPr id="12" name="Straight Arrow Connector 11"/>
            <p:cNvCxnSpPr>
              <a:stCxn id="11" idx="0"/>
              <a:endCxn id="6" idx="1"/>
            </p:cNvCxnSpPr>
            <p:nvPr/>
          </p:nvCxnSpPr>
          <p:spPr>
            <a:xfrm>
              <a:off x="3417601" y="4869160"/>
              <a:ext cx="865896" cy="1588"/>
            </a:xfrm>
            <a:prstGeom prst="straightConnector1">
              <a:avLst/>
            </a:prstGeom>
            <a:ln w="31750">
              <a:solidFill>
                <a:schemeClr val="tx2"/>
              </a:solidFill>
              <a:headEnd type="triangl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Group 12"/>
          <p:cNvGrpSpPr/>
          <p:nvPr/>
        </p:nvGrpSpPr>
        <p:grpSpPr>
          <a:xfrm>
            <a:off x="1188095" y="4005064"/>
            <a:ext cx="5976193" cy="1440160"/>
            <a:chOff x="1259632" y="4149080"/>
            <a:chExt cx="5976193" cy="1440160"/>
          </a:xfrm>
        </p:grpSpPr>
        <p:sp>
          <p:nvSpPr>
            <p:cNvPr id="14" name="Rectangle 13"/>
            <p:cNvSpPr/>
            <p:nvPr/>
          </p:nvSpPr>
          <p:spPr>
            <a:xfrm>
              <a:off x="4283497" y="4149080"/>
              <a:ext cx="1584176" cy="1440160"/>
            </a:xfrm>
            <a:prstGeom prst="rect">
              <a:avLst/>
            </a:prstGeom>
            <a:solidFill>
              <a:srgbClr val="00B050"/>
            </a:solidFill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GB" dirty="0" err="1" smtClean="0"/>
                <a:t>MyApplication</a:t>
              </a:r>
              <a:r>
                <a:rPr lang="en-GB" dirty="0" smtClean="0"/>
                <a:t> Chip</a:t>
              </a:r>
              <a:endParaRPr lang="en-GB" dirty="0"/>
            </a:p>
          </p:txBody>
        </p:sp>
        <p:sp>
          <p:nvSpPr>
            <p:cNvPr id="15" name="Rectangle 14"/>
            <p:cNvSpPr/>
            <p:nvPr/>
          </p:nvSpPr>
          <p:spPr>
            <a:xfrm rot="5400000">
              <a:off x="6083697" y="4437112"/>
              <a:ext cx="1440160" cy="864096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GB" dirty="0" smtClean="0"/>
                <a:t>Memory</a:t>
              </a:r>
              <a:endParaRPr lang="en-GB" dirty="0"/>
            </a:p>
          </p:txBody>
        </p:sp>
        <p:cxnSp>
          <p:nvCxnSpPr>
            <p:cNvPr id="16" name="Straight Arrow Connector 15"/>
            <p:cNvCxnSpPr>
              <a:stCxn id="14" idx="3"/>
              <a:endCxn id="15" idx="2"/>
            </p:cNvCxnSpPr>
            <p:nvPr/>
          </p:nvCxnSpPr>
          <p:spPr>
            <a:xfrm>
              <a:off x="5867673" y="4869160"/>
              <a:ext cx="504056" cy="1588"/>
            </a:xfrm>
            <a:prstGeom prst="straightConnector1">
              <a:avLst/>
            </a:prstGeom>
            <a:ln w="31750">
              <a:solidFill>
                <a:schemeClr val="tx2"/>
              </a:solidFill>
              <a:headEnd type="triangl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Cloud 16"/>
            <p:cNvSpPr/>
            <p:nvPr/>
          </p:nvSpPr>
          <p:spPr>
            <a:xfrm>
              <a:off x="1259632" y="4149080"/>
              <a:ext cx="2159769" cy="1440160"/>
            </a:xfrm>
            <a:prstGeom prst="cloud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 smtClean="0"/>
                <a:t>Network</a:t>
              </a:r>
              <a:endParaRPr lang="en-GB" dirty="0"/>
            </a:p>
          </p:txBody>
        </p:sp>
        <p:cxnSp>
          <p:nvCxnSpPr>
            <p:cNvPr id="18" name="Straight Arrow Connector 17"/>
            <p:cNvCxnSpPr>
              <a:stCxn id="17" idx="0"/>
              <a:endCxn id="14" idx="1"/>
            </p:cNvCxnSpPr>
            <p:nvPr/>
          </p:nvCxnSpPr>
          <p:spPr>
            <a:xfrm>
              <a:off x="3417601" y="4869160"/>
              <a:ext cx="865896" cy="1588"/>
            </a:xfrm>
            <a:prstGeom prst="straightConnector1">
              <a:avLst/>
            </a:prstGeom>
            <a:ln w="31750">
              <a:solidFill>
                <a:schemeClr val="tx2"/>
              </a:solidFill>
              <a:headEnd type="triangl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 18"/>
          <p:cNvGrpSpPr/>
          <p:nvPr/>
        </p:nvGrpSpPr>
        <p:grpSpPr>
          <a:xfrm>
            <a:off x="1043608" y="3861048"/>
            <a:ext cx="5976193" cy="1440160"/>
            <a:chOff x="1259632" y="4149080"/>
            <a:chExt cx="5976193" cy="1440160"/>
          </a:xfrm>
        </p:grpSpPr>
        <p:sp>
          <p:nvSpPr>
            <p:cNvPr id="20" name="Rectangle 19"/>
            <p:cNvSpPr/>
            <p:nvPr/>
          </p:nvSpPr>
          <p:spPr>
            <a:xfrm>
              <a:off x="4283497" y="4149080"/>
              <a:ext cx="1584176" cy="1440160"/>
            </a:xfrm>
            <a:prstGeom prst="rect">
              <a:avLst/>
            </a:prstGeom>
            <a:solidFill>
              <a:srgbClr val="FF0000"/>
            </a:solidFill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GB" dirty="0" err="1" smtClean="0"/>
                <a:t>MyApplication</a:t>
              </a:r>
              <a:r>
                <a:rPr lang="en-GB" dirty="0" smtClean="0"/>
                <a:t> Chip</a:t>
              </a:r>
              <a:endParaRPr lang="en-GB" dirty="0"/>
            </a:p>
          </p:txBody>
        </p:sp>
        <p:sp>
          <p:nvSpPr>
            <p:cNvPr id="21" name="Rectangle 20"/>
            <p:cNvSpPr/>
            <p:nvPr/>
          </p:nvSpPr>
          <p:spPr>
            <a:xfrm rot="5400000">
              <a:off x="6083697" y="4437112"/>
              <a:ext cx="1440160" cy="864096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GB" dirty="0" smtClean="0"/>
                <a:t>Memory</a:t>
              </a:r>
              <a:endParaRPr lang="en-GB" dirty="0"/>
            </a:p>
          </p:txBody>
        </p:sp>
        <p:cxnSp>
          <p:nvCxnSpPr>
            <p:cNvPr id="22" name="Straight Arrow Connector 21"/>
            <p:cNvCxnSpPr>
              <a:stCxn id="20" idx="3"/>
              <a:endCxn id="21" idx="2"/>
            </p:cNvCxnSpPr>
            <p:nvPr/>
          </p:nvCxnSpPr>
          <p:spPr>
            <a:xfrm>
              <a:off x="5867673" y="4869160"/>
              <a:ext cx="504056" cy="1588"/>
            </a:xfrm>
            <a:prstGeom prst="straightConnector1">
              <a:avLst/>
            </a:prstGeom>
            <a:ln w="31750">
              <a:solidFill>
                <a:schemeClr val="tx2"/>
              </a:solidFill>
              <a:headEnd type="triangl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Cloud 22"/>
            <p:cNvSpPr/>
            <p:nvPr/>
          </p:nvSpPr>
          <p:spPr>
            <a:xfrm>
              <a:off x="1259632" y="4149080"/>
              <a:ext cx="2159769" cy="1440160"/>
            </a:xfrm>
            <a:prstGeom prst="cloud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 smtClean="0"/>
                <a:t>Network</a:t>
              </a:r>
              <a:endParaRPr lang="en-GB" dirty="0"/>
            </a:p>
          </p:txBody>
        </p:sp>
        <p:cxnSp>
          <p:nvCxnSpPr>
            <p:cNvPr id="24" name="Straight Arrow Connector 23"/>
            <p:cNvCxnSpPr>
              <a:stCxn id="23" idx="0"/>
              <a:endCxn id="20" idx="1"/>
            </p:cNvCxnSpPr>
            <p:nvPr/>
          </p:nvCxnSpPr>
          <p:spPr>
            <a:xfrm>
              <a:off x="3417601" y="4869160"/>
              <a:ext cx="865896" cy="1588"/>
            </a:xfrm>
            <a:prstGeom prst="straightConnector1">
              <a:avLst/>
            </a:prstGeom>
            <a:ln w="31750">
              <a:solidFill>
                <a:schemeClr val="tx2"/>
              </a:solidFill>
              <a:headEnd type="triangl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3" name="Group 42"/>
          <p:cNvGrpSpPr/>
          <p:nvPr/>
        </p:nvGrpSpPr>
        <p:grpSpPr>
          <a:xfrm>
            <a:off x="899592" y="3717032"/>
            <a:ext cx="5976193" cy="1440160"/>
            <a:chOff x="1259632" y="4149080"/>
            <a:chExt cx="5976193" cy="1440160"/>
          </a:xfrm>
        </p:grpSpPr>
        <p:sp>
          <p:nvSpPr>
            <p:cNvPr id="44" name="Rectangle 43"/>
            <p:cNvSpPr/>
            <p:nvPr/>
          </p:nvSpPr>
          <p:spPr>
            <a:xfrm>
              <a:off x="4283497" y="4149080"/>
              <a:ext cx="1584176" cy="144016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GB" sz="1500" dirty="0" err="1" smtClean="0"/>
                <a:t>OtherApplication</a:t>
              </a:r>
              <a:r>
                <a:rPr lang="en-GB" sz="1500" dirty="0" smtClean="0"/>
                <a:t> Chip</a:t>
              </a:r>
              <a:endParaRPr lang="en-GB" sz="1500" dirty="0"/>
            </a:p>
          </p:txBody>
        </p:sp>
        <p:sp>
          <p:nvSpPr>
            <p:cNvPr id="45" name="Rectangle 44"/>
            <p:cNvSpPr/>
            <p:nvPr/>
          </p:nvSpPr>
          <p:spPr>
            <a:xfrm rot="5400000">
              <a:off x="6083697" y="4437112"/>
              <a:ext cx="1440160" cy="864096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GB" dirty="0" smtClean="0"/>
                <a:t>Memory</a:t>
              </a:r>
              <a:endParaRPr lang="en-GB" dirty="0"/>
            </a:p>
          </p:txBody>
        </p:sp>
        <p:cxnSp>
          <p:nvCxnSpPr>
            <p:cNvPr id="46" name="Straight Arrow Connector 45"/>
            <p:cNvCxnSpPr>
              <a:stCxn id="44" idx="3"/>
              <a:endCxn id="45" idx="2"/>
            </p:cNvCxnSpPr>
            <p:nvPr/>
          </p:nvCxnSpPr>
          <p:spPr>
            <a:xfrm>
              <a:off x="5867673" y="4869160"/>
              <a:ext cx="504056" cy="1588"/>
            </a:xfrm>
            <a:prstGeom prst="straightConnector1">
              <a:avLst/>
            </a:prstGeom>
            <a:ln w="31750">
              <a:solidFill>
                <a:schemeClr val="tx2"/>
              </a:solidFill>
              <a:headEnd type="triangl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Cloud 46"/>
            <p:cNvSpPr/>
            <p:nvPr/>
          </p:nvSpPr>
          <p:spPr>
            <a:xfrm>
              <a:off x="1259632" y="4149080"/>
              <a:ext cx="2159769" cy="1440160"/>
            </a:xfrm>
            <a:prstGeom prst="cloud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 smtClean="0"/>
                <a:t>Rest of the world</a:t>
              </a:r>
            </a:p>
          </p:txBody>
        </p:sp>
        <p:cxnSp>
          <p:nvCxnSpPr>
            <p:cNvPr id="48" name="Straight Arrow Connector 47"/>
            <p:cNvCxnSpPr>
              <a:stCxn id="47" idx="0"/>
              <a:endCxn id="44" idx="1"/>
            </p:cNvCxnSpPr>
            <p:nvPr/>
          </p:nvCxnSpPr>
          <p:spPr>
            <a:xfrm>
              <a:off x="3417601" y="4869160"/>
              <a:ext cx="865896" cy="1588"/>
            </a:xfrm>
            <a:prstGeom prst="straightConnector1">
              <a:avLst/>
            </a:prstGeom>
            <a:ln w="31750">
              <a:solidFill>
                <a:schemeClr val="tx2"/>
              </a:solidFill>
              <a:headEnd type="triangl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Slide Number Placeholder 2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2D9C5-9C72-4C75-A1BC-B4986A40F6AC}" type="slidenum">
              <a:rPr lang="en-GB" smtClean="0"/>
              <a:pPr/>
              <a:t>9</a:t>
            </a:fld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1124745"/>
            <a:ext cx="8229600" cy="2952328"/>
          </a:xfrm>
        </p:spPr>
        <p:txBody>
          <a:bodyPr>
            <a:normAutofit/>
          </a:bodyPr>
          <a:lstStyle/>
          <a:p>
            <a:r>
              <a:rPr lang="en-GB" dirty="0" smtClean="0"/>
              <a:t>Use a </a:t>
            </a:r>
            <a:r>
              <a:rPr lang="en-GB" i="1" dirty="0" smtClean="0"/>
              <a:t>reconfigurable</a:t>
            </a:r>
            <a:r>
              <a:rPr lang="en-GB" dirty="0" smtClean="0"/>
              <a:t> chip that can be reprogrammed at runtime to implement:</a:t>
            </a:r>
          </a:p>
          <a:p>
            <a:pPr lvl="1"/>
            <a:r>
              <a:rPr lang="en-GB" dirty="0" smtClean="0">
                <a:solidFill>
                  <a:schemeClr val="tx1"/>
                </a:solidFill>
              </a:rPr>
              <a:t>Different applications</a:t>
            </a:r>
          </a:p>
          <a:p>
            <a:pPr lvl="1"/>
            <a:r>
              <a:rPr lang="en-GB" dirty="0" smtClean="0">
                <a:solidFill>
                  <a:schemeClr val="tx1"/>
                </a:solidFill>
              </a:rPr>
              <a:t>Or different versions of the same application</a:t>
            </a:r>
          </a:p>
          <a:p>
            <a:endParaRPr lang="en-GB" dirty="0" smtClean="0">
              <a:solidFill>
                <a:schemeClr val="tx2"/>
              </a:solidFill>
            </a:endParaRPr>
          </a:p>
          <a:p>
            <a:endParaRPr lang="en-GB" dirty="0" smtClean="0"/>
          </a:p>
          <a:p>
            <a:endParaRPr lang="en-GB" dirty="0" smtClean="0"/>
          </a:p>
          <a:p>
            <a:endParaRPr lang="en-GB" dirty="0" smtClean="0"/>
          </a:p>
          <a:p>
            <a:endParaRPr lang="en-GB" dirty="0" smtClean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A Special Purpose Computer</a:t>
            </a:r>
            <a:endParaRPr lang="en-GB" dirty="0"/>
          </a:p>
        </p:txBody>
      </p:sp>
      <p:grpSp>
        <p:nvGrpSpPr>
          <p:cNvPr id="2" name="Group 9"/>
          <p:cNvGrpSpPr/>
          <p:nvPr/>
        </p:nvGrpSpPr>
        <p:grpSpPr>
          <a:xfrm>
            <a:off x="1332111" y="4149080"/>
            <a:ext cx="5976193" cy="1440160"/>
            <a:chOff x="1259632" y="4149080"/>
            <a:chExt cx="5976193" cy="1440160"/>
          </a:xfrm>
        </p:grpSpPr>
        <p:sp>
          <p:nvSpPr>
            <p:cNvPr id="6" name="Rectangle 5"/>
            <p:cNvSpPr/>
            <p:nvPr/>
          </p:nvSpPr>
          <p:spPr>
            <a:xfrm>
              <a:off x="4283497" y="4149080"/>
              <a:ext cx="1584176" cy="1440160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GB" dirty="0" err="1" smtClean="0"/>
                <a:t>Config</a:t>
              </a:r>
              <a:r>
                <a:rPr lang="en-GB" dirty="0" smtClean="0"/>
                <a:t> 1</a:t>
              </a:r>
              <a:endParaRPr lang="en-GB" dirty="0"/>
            </a:p>
          </p:txBody>
        </p:sp>
        <p:sp>
          <p:nvSpPr>
            <p:cNvPr id="7" name="Rectangle 6"/>
            <p:cNvSpPr/>
            <p:nvPr/>
          </p:nvSpPr>
          <p:spPr>
            <a:xfrm rot="5400000">
              <a:off x="6083697" y="4437112"/>
              <a:ext cx="1440160" cy="864096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GB" dirty="0" smtClean="0"/>
                <a:t>Memory</a:t>
              </a:r>
              <a:endParaRPr lang="en-GB" dirty="0"/>
            </a:p>
          </p:txBody>
        </p:sp>
        <p:cxnSp>
          <p:nvCxnSpPr>
            <p:cNvPr id="9" name="Straight Arrow Connector 8"/>
            <p:cNvCxnSpPr>
              <a:stCxn id="6" idx="3"/>
              <a:endCxn id="7" idx="2"/>
            </p:cNvCxnSpPr>
            <p:nvPr/>
          </p:nvCxnSpPr>
          <p:spPr>
            <a:xfrm>
              <a:off x="5867673" y="4869160"/>
              <a:ext cx="504056" cy="1588"/>
            </a:xfrm>
            <a:prstGeom prst="straightConnector1">
              <a:avLst/>
            </a:prstGeom>
            <a:ln w="31750">
              <a:solidFill>
                <a:schemeClr val="tx2"/>
              </a:solidFill>
              <a:headEnd type="triangl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Cloud 10"/>
            <p:cNvSpPr/>
            <p:nvPr/>
          </p:nvSpPr>
          <p:spPr>
            <a:xfrm>
              <a:off x="1259632" y="4149080"/>
              <a:ext cx="2159769" cy="1440160"/>
            </a:xfrm>
            <a:prstGeom prst="cloud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 smtClean="0"/>
                <a:t>Network</a:t>
              </a:r>
              <a:endParaRPr lang="en-GB" dirty="0"/>
            </a:p>
          </p:txBody>
        </p:sp>
        <p:cxnSp>
          <p:nvCxnSpPr>
            <p:cNvPr id="12" name="Straight Arrow Connector 11"/>
            <p:cNvCxnSpPr>
              <a:stCxn id="11" idx="0"/>
              <a:endCxn id="6" idx="1"/>
            </p:cNvCxnSpPr>
            <p:nvPr/>
          </p:nvCxnSpPr>
          <p:spPr>
            <a:xfrm>
              <a:off x="3417601" y="4869160"/>
              <a:ext cx="865896" cy="1588"/>
            </a:xfrm>
            <a:prstGeom prst="straightConnector1">
              <a:avLst/>
            </a:prstGeom>
            <a:ln w="31750">
              <a:solidFill>
                <a:schemeClr val="tx2"/>
              </a:solidFill>
              <a:headEnd type="triangl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Rectangle 28"/>
          <p:cNvSpPr/>
          <p:nvPr/>
        </p:nvSpPr>
        <p:spPr>
          <a:xfrm>
            <a:off x="4355976" y="4149080"/>
            <a:ext cx="1584176" cy="144016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Optimized for Application A</a:t>
            </a:r>
            <a:endParaRPr lang="en-GB" dirty="0"/>
          </a:p>
        </p:txBody>
      </p:sp>
      <p:sp>
        <p:nvSpPr>
          <p:cNvPr id="30" name="Rectangle 29"/>
          <p:cNvSpPr/>
          <p:nvPr/>
        </p:nvSpPr>
        <p:spPr>
          <a:xfrm>
            <a:off x="4355976" y="4149080"/>
            <a:ext cx="1584176" cy="1440160"/>
          </a:xfrm>
          <a:prstGeom prst="rect">
            <a:avLst/>
          </a:prstGeom>
          <a:solidFill>
            <a:srgbClr val="00B050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Optimized for Application B</a:t>
            </a:r>
            <a:endParaRPr lang="en-GB" dirty="0"/>
          </a:p>
        </p:txBody>
      </p:sp>
      <p:sp>
        <p:nvSpPr>
          <p:cNvPr id="31" name="Rectangle 30"/>
          <p:cNvSpPr/>
          <p:nvPr/>
        </p:nvSpPr>
        <p:spPr>
          <a:xfrm>
            <a:off x="4355976" y="4149080"/>
            <a:ext cx="1584176" cy="144016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Optimized for Application C</a:t>
            </a:r>
            <a:endParaRPr lang="en-GB" dirty="0"/>
          </a:p>
        </p:txBody>
      </p:sp>
      <p:sp>
        <p:nvSpPr>
          <p:cNvPr id="32" name="Rectangle 31"/>
          <p:cNvSpPr/>
          <p:nvPr/>
        </p:nvSpPr>
        <p:spPr>
          <a:xfrm>
            <a:off x="4355976" y="4149080"/>
            <a:ext cx="1584176" cy="1440160"/>
          </a:xfrm>
          <a:prstGeom prst="rect">
            <a:avLst/>
          </a:prstGeom>
          <a:solidFill>
            <a:srgbClr val="FF0000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Optimized for Application D</a:t>
            </a:r>
            <a:endParaRPr lang="en-GB" dirty="0"/>
          </a:p>
        </p:txBody>
      </p:sp>
      <p:sp>
        <p:nvSpPr>
          <p:cNvPr id="34" name="Rectangle 33"/>
          <p:cNvSpPr/>
          <p:nvPr/>
        </p:nvSpPr>
        <p:spPr>
          <a:xfrm>
            <a:off x="4355976" y="4149080"/>
            <a:ext cx="1584176" cy="144016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Optimized for Application E</a:t>
            </a:r>
            <a:endParaRPr lang="en-GB" dirty="0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2D9C5-9C72-4C75-A1BC-B4986A40F6AC}" type="slidenum">
              <a:rPr lang="en-GB" smtClean="0"/>
              <a:pPr/>
              <a:t>10</a:t>
            </a:fld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2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2" presetClass="entr" presetSubtype="2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500"/>
                            </p:stCondLst>
                            <p:childTnLst>
                              <p:par>
                                <p:cTn id="20" presetID="2" presetClass="entr" presetSubtype="2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31" grpId="0" animBg="1"/>
      <p:bldP spid="32" grpId="0" animBg="1"/>
      <p:bldP spid="3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 descr="Fig_CPUDataFlow.png"/>
          <p:cNvPicPr>
            <a:picLocks noGrp="1" noChangeAspect="1"/>
          </p:cNvPicPr>
          <p:nvPr>
            <p:ph idx="1"/>
          </p:nvPr>
        </p:nvPicPr>
        <p:blipFill rotWithShape="1">
          <a:blip r:embed="rId3" cstate="print"/>
          <a:stretch/>
        </p:blipFill>
        <p:spPr>
          <a:xfrm>
            <a:off x="821531" y="804639"/>
            <a:ext cx="7500938" cy="5000625"/>
          </a:xfrm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Instruction Processors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2D9C5-9C72-4C75-A1BC-B4986A40F6AC}" type="slidenum">
              <a:rPr lang="en-GB" smtClean="0"/>
              <a:pPr/>
              <a:t>11</a:t>
            </a:fld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Fig_StreamDataFlow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182194" y="1052736"/>
            <a:ext cx="6779612" cy="5000625"/>
          </a:xfr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Dataflow/Stream Processors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2D9C5-9C72-4C75-A1BC-B4986A40F6AC}" type="slidenum">
              <a:rPr lang="en-GB" smtClean="0"/>
              <a:pPr/>
              <a:t>12</a:t>
            </a:fld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/>
          <p:cNvGraphicFramePr>
            <a:graphicFrameLocks noGrp="1"/>
          </p:cNvGraphicFramePr>
          <p:nvPr>
            <p:ph idx="1"/>
          </p:nvPr>
        </p:nvGraphicFramePr>
        <p:xfrm>
          <a:off x="1043608" y="4149080"/>
          <a:ext cx="6984776" cy="208744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3816424"/>
                <a:gridCol w="3168352"/>
              </a:tblGrid>
              <a:tr h="521860">
                <a:tc>
                  <a:txBody>
                    <a:bodyPr/>
                    <a:lstStyle/>
                    <a:p>
                      <a:endParaRPr lang="en-GB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 smtClean="0"/>
                        <a:t>Lines of code</a:t>
                      </a:r>
                      <a:endParaRPr lang="en-GB" sz="2400" dirty="0"/>
                    </a:p>
                  </a:txBody>
                  <a:tcPr/>
                </a:tc>
              </a:tr>
              <a:tr h="521860">
                <a:tc>
                  <a:txBody>
                    <a:bodyPr/>
                    <a:lstStyle/>
                    <a:p>
                      <a:r>
                        <a:rPr lang="en-GB" sz="2400" dirty="0" smtClean="0"/>
                        <a:t>Total</a:t>
                      </a:r>
                      <a:r>
                        <a:rPr lang="en-GB" sz="2400" baseline="0" dirty="0" smtClean="0"/>
                        <a:t> Application</a:t>
                      </a:r>
                      <a:endParaRPr lang="en-GB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2400" dirty="0" smtClean="0"/>
                        <a:t>1,000,000</a:t>
                      </a:r>
                      <a:endParaRPr lang="en-GB" sz="2400" dirty="0"/>
                    </a:p>
                  </a:txBody>
                  <a:tcPr/>
                </a:tc>
              </a:tr>
              <a:tr h="521860">
                <a:tc>
                  <a:txBody>
                    <a:bodyPr/>
                    <a:lstStyle/>
                    <a:p>
                      <a:r>
                        <a:rPr lang="en-GB" sz="2400" dirty="0" smtClean="0"/>
                        <a:t>Kernel to accelerate</a:t>
                      </a:r>
                      <a:endParaRPr lang="en-GB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2400" dirty="0" smtClean="0"/>
                        <a:t>2,00</a:t>
                      </a:r>
                      <a:r>
                        <a:rPr lang="en-GB" sz="2400" baseline="0" dirty="0" smtClean="0"/>
                        <a:t>0</a:t>
                      </a:r>
                      <a:endParaRPr lang="en-GB" sz="2400" dirty="0"/>
                    </a:p>
                  </a:txBody>
                  <a:tcPr/>
                </a:tc>
              </a:tr>
              <a:tr h="521860">
                <a:tc>
                  <a:txBody>
                    <a:bodyPr/>
                    <a:lstStyle/>
                    <a:p>
                      <a:r>
                        <a:rPr lang="en-GB" sz="2400" dirty="0" smtClean="0"/>
                        <a:t>Software to restructure</a:t>
                      </a:r>
                      <a:endParaRPr lang="en-GB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2400" dirty="0" smtClean="0"/>
                        <a:t>20,000</a:t>
                      </a:r>
                      <a:endParaRPr lang="en-GB" sz="24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Accelerating Real Applications</a:t>
            </a:r>
            <a:endParaRPr lang="en-GB" dirty="0"/>
          </a:p>
        </p:txBody>
      </p:sp>
      <p:sp>
        <p:nvSpPr>
          <p:cNvPr id="6" name="Content Placeholder 4"/>
          <p:cNvSpPr txBox="1">
            <a:spLocks/>
          </p:cNvSpPr>
          <p:nvPr/>
        </p:nvSpPr>
        <p:spPr>
          <a:xfrm>
            <a:off x="457200" y="1268760"/>
            <a:ext cx="8229600" cy="3024336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The majority</a:t>
            </a:r>
            <a:r>
              <a:rPr kumimoji="0" lang="en-GB" sz="2800" b="0" i="0" u="none" strike="noStrike" kern="1200" cap="none" spc="0" normalizeH="0" noProof="0" dirty="0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of </a:t>
            </a:r>
            <a:r>
              <a:rPr kumimoji="0" lang="en-GB" sz="2800" b="0" i="0" u="none" strike="noStrike" kern="1200" cap="none" spc="0" normalizeH="0" noProof="0" dirty="0" err="1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LoC</a:t>
            </a:r>
            <a:r>
              <a:rPr kumimoji="0" lang="en-GB" sz="2800" b="0" i="0" u="none" strike="noStrike" kern="1200" cap="none" spc="0" normalizeH="0" noProof="0" dirty="0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in most applications are scalar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GB" sz="2800" dirty="0" smtClean="0">
                <a:solidFill>
                  <a:schemeClr val="accent5"/>
                </a:solidFill>
              </a:rPr>
              <a:t>CPUs are good for: latency-sensitive, control-intensive, non-repetitive code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800" b="0" i="0" u="none" strike="noStrike" kern="1200" cap="none" spc="0" normalizeH="0" noProof="0" dirty="0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Dataflow engines are good for: high throughput repetitive processing on large data volumes</a:t>
            </a:r>
            <a:r>
              <a:rPr lang="en-GB" sz="2800" dirty="0" smtClean="0">
                <a:solidFill>
                  <a:schemeClr val="accent5"/>
                </a:solidFill>
                <a:sym typeface="Wingdings" pitchFamily="2" charset="2"/>
              </a:rPr>
              <a:t>	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lang="en-GB" sz="900" dirty="0" smtClean="0">
              <a:solidFill>
                <a:schemeClr val="accent5"/>
              </a:solidFill>
              <a:sym typeface="Wingdings" pitchFamily="2" charset="2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sz="2800" dirty="0" smtClean="0">
                <a:solidFill>
                  <a:schemeClr val="accent5"/>
                </a:solidFill>
                <a:sym typeface="Wingdings" pitchFamily="2" charset="2"/>
              </a:rPr>
              <a:t>			 A system should contain both</a:t>
            </a:r>
            <a:endParaRPr kumimoji="0" lang="en-GB" sz="2800" b="0" i="0" u="none" strike="noStrike" kern="1200" cap="none" spc="0" normalizeH="0" noProof="0" dirty="0" smtClean="0">
              <a:ln>
                <a:noFill/>
              </a:ln>
              <a:solidFill>
                <a:schemeClr val="accent5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GB" sz="2800" b="0" i="0" u="none" strike="noStrike" kern="1200" cap="none" spc="0" normalizeH="0" baseline="0" noProof="0" dirty="0" smtClean="0">
              <a:ln>
                <a:noFill/>
              </a:ln>
              <a:solidFill>
                <a:schemeClr val="accent5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2D9C5-9C72-4C75-A1BC-B4986A40F6AC}" type="slidenum">
              <a:rPr lang="en-GB" smtClean="0"/>
              <a:pPr/>
              <a:t>13</a:t>
            </a:fld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9F54A9FC-DB69-40B1-8999-127544A0B04A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410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Custom Computing in a PC</a:t>
            </a:r>
          </a:p>
        </p:txBody>
      </p:sp>
      <p:sp>
        <p:nvSpPr>
          <p:cNvPr id="4101" name="Rectangle 5"/>
          <p:cNvSpPr>
            <a:spLocks noChangeArrowheads="1"/>
          </p:cNvSpPr>
          <p:nvPr/>
        </p:nvSpPr>
        <p:spPr bwMode="auto">
          <a:xfrm>
            <a:off x="441325" y="1487077"/>
            <a:ext cx="1676400" cy="13716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latin typeface="Arial" charset="0"/>
              </a:rPr>
              <a:t> Processor </a:t>
            </a:r>
          </a:p>
          <a:p>
            <a:pPr algn="ctr"/>
            <a:r>
              <a:rPr lang="en-US" b="1" dirty="0" smtClean="0">
                <a:latin typeface="Arial" charset="0"/>
              </a:rPr>
              <a:t/>
            </a:r>
            <a:br>
              <a:rPr lang="en-US" b="1" dirty="0" smtClean="0">
                <a:latin typeface="Arial" charset="0"/>
              </a:rPr>
            </a:br>
            <a:r>
              <a:rPr lang="en-US" b="1" dirty="0" smtClean="0">
                <a:latin typeface="Arial" charset="0"/>
              </a:rPr>
              <a:t>Register </a:t>
            </a:r>
            <a:endParaRPr lang="en-US" b="1" dirty="0">
              <a:latin typeface="Arial" charset="0"/>
            </a:endParaRPr>
          </a:p>
          <a:p>
            <a:pPr algn="ctr"/>
            <a:r>
              <a:rPr lang="en-US" b="1" dirty="0">
                <a:latin typeface="Arial" charset="0"/>
              </a:rPr>
              <a:t>file</a:t>
            </a:r>
            <a:r>
              <a:rPr lang="en-US" dirty="0"/>
              <a:t> </a:t>
            </a:r>
          </a:p>
        </p:txBody>
      </p:sp>
      <p:sp>
        <p:nvSpPr>
          <p:cNvPr id="4102" name="Line 6"/>
          <p:cNvSpPr>
            <a:spLocks noChangeShapeType="1"/>
          </p:cNvSpPr>
          <p:nvPr/>
        </p:nvSpPr>
        <p:spPr bwMode="auto">
          <a:xfrm>
            <a:off x="1917700" y="2344327"/>
            <a:ext cx="4333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4103" name="Rectangle 8"/>
          <p:cNvSpPr>
            <a:spLocks noChangeArrowheads="1"/>
          </p:cNvSpPr>
          <p:nvPr/>
        </p:nvSpPr>
        <p:spPr bwMode="auto">
          <a:xfrm>
            <a:off x="612775" y="2154549"/>
            <a:ext cx="1295400" cy="55437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104" name="Text Box 9"/>
          <p:cNvSpPr txBox="1">
            <a:spLocks noChangeArrowheads="1"/>
          </p:cNvSpPr>
          <p:nvPr/>
        </p:nvSpPr>
        <p:spPr bwMode="auto">
          <a:xfrm>
            <a:off x="2335213" y="2025240"/>
            <a:ext cx="1119187" cy="65087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3600" b="1" dirty="0">
                <a:latin typeface="Arial" charset="0"/>
              </a:rPr>
              <a:t>L1$</a:t>
            </a:r>
          </a:p>
        </p:txBody>
      </p:sp>
      <p:sp>
        <p:nvSpPr>
          <p:cNvPr id="4105" name="Rectangle 10"/>
          <p:cNvSpPr>
            <a:spLocks noChangeArrowheads="1"/>
          </p:cNvSpPr>
          <p:nvPr/>
        </p:nvSpPr>
        <p:spPr bwMode="auto">
          <a:xfrm>
            <a:off x="354013" y="1355315"/>
            <a:ext cx="3228975" cy="1604962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106" name="Text Box 11"/>
          <p:cNvSpPr txBox="1">
            <a:spLocks noChangeArrowheads="1"/>
          </p:cNvSpPr>
          <p:nvPr/>
        </p:nvSpPr>
        <p:spPr bwMode="auto">
          <a:xfrm>
            <a:off x="1082675" y="3128552"/>
            <a:ext cx="1878013" cy="77152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4400" dirty="0">
                <a:latin typeface="Arial" charset="0"/>
              </a:rPr>
              <a:t>L2$</a:t>
            </a:r>
          </a:p>
        </p:txBody>
      </p:sp>
      <p:sp>
        <p:nvSpPr>
          <p:cNvPr id="4107" name="Line 12"/>
          <p:cNvSpPr>
            <a:spLocks noChangeShapeType="1"/>
          </p:cNvSpPr>
          <p:nvPr/>
        </p:nvSpPr>
        <p:spPr bwMode="auto">
          <a:xfrm flipH="1">
            <a:off x="2033588" y="2949165"/>
            <a:ext cx="1587" cy="1793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4108" name="Text Box 13"/>
          <p:cNvSpPr txBox="1">
            <a:spLocks noChangeArrowheads="1"/>
          </p:cNvSpPr>
          <p:nvPr/>
        </p:nvSpPr>
        <p:spPr bwMode="auto">
          <a:xfrm>
            <a:off x="3779912" y="1556792"/>
            <a:ext cx="5256584" cy="3908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800" dirty="0"/>
              <a:t>Where is the Custom Architecture</a:t>
            </a:r>
            <a:r>
              <a:rPr lang="en-US" sz="2800" dirty="0" smtClean="0"/>
              <a:t>?</a:t>
            </a:r>
          </a:p>
          <a:p>
            <a:pPr marL="174625" indent="-174625">
              <a:buFont typeface="Arial" pitchFamily="34" charset="0"/>
              <a:buChar char="•"/>
            </a:pPr>
            <a:r>
              <a:rPr lang="en-US" sz="2000" dirty="0" smtClean="0"/>
              <a:t>On-Chip </a:t>
            </a:r>
            <a:r>
              <a:rPr lang="en-US" sz="2000" dirty="0"/>
              <a:t>w/ access to register file</a:t>
            </a:r>
          </a:p>
          <a:p>
            <a:pPr marL="174625" indent="-174625">
              <a:buFont typeface="Arial" pitchFamily="34" charset="0"/>
              <a:buChar char="•"/>
            </a:pPr>
            <a:r>
              <a:rPr lang="en-US" sz="2000" dirty="0" smtClean="0"/>
              <a:t>Co-processor </a:t>
            </a:r>
            <a:r>
              <a:rPr lang="en-US" sz="2000" dirty="0"/>
              <a:t>w/ access to </a:t>
            </a:r>
            <a:r>
              <a:rPr lang="en-US" sz="2000" dirty="0" smtClean="0"/>
              <a:t>level </a:t>
            </a:r>
            <a:r>
              <a:rPr lang="en-US" sz="2000" dirty="0"/>
              <a:t>1 cache</a:t>
            </a:r>
          </a:p>
          <a:p>
            <a:pPr marL="174625" indent="-174625">
              <a:buFont typeface="Arial" pitchFamily="34" charset="0"/>
              <a:buChar char="•"/>
            </a:pPr>
            <a:r>
              <a:rPr lang="en-US" sz="2000" dirty="0" smtClean="0"/>
              <a:t>Next </a:t>
            </a:r>
            <a:r>
              <a:rPr lang="en-US" sz="2000" dirty="0"/>
              <a:t>to level 2 cache </a:t>
            </a:r>
            <a:endParaRPr lang="en-US" sz="2000" dirty="0" smtClean="0"/>
          </a:p>
          <a:p>
            <a:pPr marL="174625" indent="-174625">
              <a:buFont typeface="Arial" pitchFamily="34" charset="0"/>
              <a:buChar char="•"/>
            </a:pPr>
            <a:r>
              <a:rPr lang="en-US" sz="2000" dirty="0" smtClean="0"/>
              <a:t>In an adjacent processor socket, connected using QPI/</a:t>
            </a:r>
            <a:r>
              <a:rPr lang="en-US" sz="2000" dirty="0" err="1" smtClean="0"/>
              <a:t>Hypertransport</a:t>
            </a:r>
            <a:endParaRPr lang="en-US" sz="2000" dirty="0" smtClean="0"/>
          </a:p>
          <a:p>
            <a:pPr marL="174625" indent="-174625">
              <a:buFont typeface="Arial" pitchFamily="34" charset="0"/>
              <a:buChar char="•"/>
            </a:pPr>
            <a:r>
              <a:rPr lang="en-US" sz="2000" dirty="0" smtClean="0"/>
              <a:t>As </a:t>
            </a:r>
            <a:r>
              <a:rPr lang="en-US" sz="2000" dirty="0"/>
              <a:t>Memory Controller instead of </a:t>
            </a:r>
            <a:r>
              <a:rPr lang="en-US" sz="2000" dirty="0" smtClean="0"/>
              <a:t>North/South </a:t>
            </a:r>
            <a:r>
              <a:rPr lang="en-US" sz="2000" dirty="0"/>
              <a:t>Bridge</a:t>
            </a:r>
          </a:p>
          <a:p>
            <a:pPr marL="174625" indent="-174625">
              <a:buFont typeface="Arial" pitchFamily="34" charset="0"/>
              <a:buChar char="•"/>
            </a:pPr>
            <a:r>
              <a:rPr lang="en-US" sz="2000" dirty="0" smtClean="0"/>
              <a:t>As </a:t>
            </a:r>
            <a:r>
              <a:rPr lang="en-US" sz="2000" dirty="0"/>
              <a:t>main memory (DIMMs)</a:t>
            </a:r>
          </a:p>
          <a:p>
            <a:pPr marL="174625" indent="-174625">
              <a:buFont typeface="Arial" pitchFamily="34" charset="0"/>
              <a:buChar char="•"/>
            </a:pPr>
            <a:r>
              <a:rPr lang="en-US" sz="2000" dirty="0" smtClean="0"/>
              <a:t>As </a:t>
            </a:r>
            <a:r>
              <a:rPr lang="en-US" sz="2000" dirty="0"/>
              <a:t>a peripheral on PCI </a:t>
            </a:r>
            <a:r>
              <a:rPr lang="en-US" sz="2000" dirty="0" smtClean="0"/>
              <a:t>Express bus</a:t>
            </a:r>
            <a:endParaRPr lang="en-US" sz="2000" dirty="0"/>
          </a:p>
          <a:p>
            <a:pPr marL="174625" indent="-174625">
              <a:buFont typeface="Arial" pitchFamily="34" charset="0"/>
              <a:buChar char="•"/>
            </a:pPr>
            <a:r>
              <a:rPr lang="en-US" sz="2000" dirty="0" smtClean="0"/>
              <a:t>Inside </a:t>
            </a:r>
            <a:r>
              <a:rPr lang="en-US" sz="2000" dirty="0"/>
              <a:t>the peripheral</a:t>
            </a:r>
            <a:r>
              <a:rPr lang="en-US" sz="2000" dirty="0" smtClean="0"/>
              <a:t>, </a:t>
            </a:r>
            <a:r>
              <a:rPr lang="en-US" sz="2000" dirty="0"/>
              <a:t>i.e. a customizable Disk controller </a:t>
            </a:r>
          </a:p>
        </p:txBody>
      </p:sp>
      <p:sp>
        <p:nvSpPr>
          <p:cNvPr id="4109" name="Text Box 14"/>
          <p:cNvSpPr txBox="1">
            <a:spLocks noChangeArrowheads="1"/>
          </p:cNvSpPr>
          <p:nvPr/>
        </p:nvSpPr>
        <p:spPr bwMode="auto">
          <a:xfrm>
            <a:off x="242888" y="4019140"/>
            <a:ext cx="3446462" cy="33855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dirty="0" smtClean="0">
                <a:latin typeface="Arial" charset="0"/>
              </a:rPr>
              <a:t>North/South Bridge</a:t>
            </a:r>
          </a:p>
        </p:txBody>
      </p:sp>
      <p:sp>
        <p:nvSpPr>
          <p:cNvPr id="4110" name="Line 15"/>
          <p:cNvSpPr>
            <a:spLocks noChangeShapeType="1"/>
          </p:cNvSpPr>
          <p:nvPr/>
        </p:nvSpPr>
        <p:spPr bwMode="auto">
          <a:xfrm>
            <a:off x="2006600" y="3892140"/>
            <a:ext cx="3175" cy="1190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4111" name="Text Box 16"/>
          <p:cNvSpPr txBox="1">
            <a:spLocks noChangeArrowheads="1"/>
          </p:cNvSpPr>
          <p:nvPr/>
        </p:nvSpPr>
        <p:spPr bwMode="auto">
          <a:xfrm rot="-5391285">
            <a:off x="-361206" y="5188411"/>
            <a:ext cx="1717277" cy="5232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400" b="1" dirty="0" smtClean="0">
                <a:latin typeface="Arial" charset="0"/>
              </a:rPr>
              <a:t>QPI/</a:t>
            </a:r>
            <a:br>
              <a:rPr lang="en-US" sz="1400" b="1" dirty="0" smtClean="0">
                <a:latin typeface="Arial" charset="0"/>
              </a:rPr>
            </a:br>
            <a:r>
              <a:rPr lang="en-US" sz="1400" b="1" dirty="0" err="1" smtClean="0">
                <a:latin typeface="Arial" charset="0"/>
              </a:rPr>
              <a:t>Hypertransport</a:t>
            </a:r>
            <a:endParaRPr lang="en-US" sz="1400" b="1" dirty="0">
              <a:latin typeface="Arial" charset="0"/>
            </a:endParaRPr>
          </a:p>
        </p:txBody>
      </p:sp>
      <p:sp>
        <p:nvSpPr>
          <p:cNvPr id="4112" name="Line 20"/>
          <p:cNvSpPr>
            <a:spLocks noChangeShapeType="1"/>
          </p:cNvSpPr>
          <p:nvPr/>
        </p:nvSpPr>
        <p:spPr bwMode="auto">
          <a:xfrm>
            <a:off x="506413" y="4383421"/>
            <a:ext cx="3175" cy="209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4113" name="Text Box 22"/>
          <p:cNvSpPr txBox="1">
            <a:spLocks noChangeArrowheads="1"/>
          </p:cNvSpPr>
          <p:nvPr/>
        </p:nvSpPr>
        <p:spPr bwMode="auto">
          <a:xfrm>
            <a:off x="1635125" y="4586621"/>
            <a:ext cx="1878013" cy="58896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3200" dirty="0">
                <a:latin typeface="Arial" charset="0"/>
              </a:rPr>
              <a:t>PCI Bus</a:t>
            </a:r>
          </a:p>
        </p:txBody>
      </p:sp>
      <p:sp>
        <p:nvSpPr>
          <p:cNvPr id="4114" name="Line 23"/>
          <p:cNvSpPr>
            <a:spLocks noChangeShapeType="1"/>
          </p:cNvSpPr>
          <p:nvPr/>
        </p:nvSpPr>
        <p:spPr bwMode="auto">
          <a:xfrm>
            <a:off x="2565400" y="4364371"/>
            <a:ext cx="7938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4115" name="Text Box 25"/>
          <p:cNvSpPr txBox="1">
            <a:spLocks noChangeArrowheads="1"/>
          </p:cNvSpPr>
          <p:nvPr/>
        </p:nvSpPr>
        <p:spPr bwMode="auto">
          <a:xfrm>
            <a:off x="1635125" y="5285121"/>
            <a:ext cx="1878013" cy="46672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b="1" dirty="0">
                <a:latin typeface="Arial" charset="0"/>
              </a:rPr>
              <a:t>Disk </a:t>
            </a:r>
          </a:p>
        </p:txBody>
      </p:sp>
      <p:sp>
        <p:nvSpPr>
          <p:cNvPr id="4116" name="Line 26"/>
          <p:cNvSpPr>
            <a:spLocks noChangeShapeType="1"/>
          </p:cNvSpPr>
          <p:nvPr/>
        </p:nvSpPr>
        <p:spPr bwMode="auto">
          <a:xfrm>
            <a:off x="2576513" y="5170821"/>
            <a:ext cx="3175" cy="114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4117" name="Line 27"/>
          <p:cNvSpPr>
            <a:spLocks noChangeShapeType="1"/>
          </p:cNvSpPr>
          <p:nvPr/>
        </p:nvSpPr>
        <p:spPr bwMode="auto">
          <a:xfrm>
            <a:off x="1135063" y="4365959"/>
            <a:ext cx="3175" cy="2190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4119" name="Text Box 32"/>
          <p:cNvSpPr txBox="1">
            <a:spLocks noChangeArrowheads="1"/>
          </p:cNvSpPr>
          <p:nvPr/>
        </p:nvSpPr>
        <p:spPr bwMode="auto">
          <a:xfrm rot="-5400000">
            <a:off x="545306" y="4952540"/>
            <a:ext cx="1211263" cy="46672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b="1">
                <a:latin typeface="Arial" charset="0"/>
              </a:rPr>
              <a:t>Dimms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3B2FF30B-198F-4F8C-BB70-935AB2D6A71A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512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Embedded Systems</a:t>
            </a:r>
          </a:p>
        </p:txBody>
      </p:sp>
      <p:sp>
        <p:nvSpPr>
          <p:cNvPr id="512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057650" y="2057400"/>
            <a:ext cx="4572000" cy="3486150"/>
          </a:xfrm>
        </p:spPr>
        <p:txBody>
          <a:bodyPr/>
          <a:lstStyle/>
          <a:p>
            <a:pPr eaLnBrk="1" hangingPunct="1"/>
            <a:r>
              <a:rPr lang="en-US" sz="2000" smtClean="0"/>
              <a:t>“Harvard” Architecture</a:t>
            </a:r>
          </a:p>
          <a:p>
            <a:pPr eaLnBrk="1" hangingPunct="1"/>
            <a:r>
              <a:rPr lang="en-US" sz="2000" smtClean="0"/>
              <a:t>Partitioning of Programs into software and hardware (custom architecture) is called Hardware Software Co</a:t>
            </a:r>
            <a:r>
              <a:rPr lang="en-GB" sz="2000" smtClean="0"/>
              <a:t>-</a:t>
            </a:r>
            <a:r>
              <a:rPr lang="en-US" sz="2000" smtClean="0"/>
              <a:t>design</a:t>
            </a:r>
          </a:p>
          <a:p>
            <a:pPr eaLnBrk="1" hangingPunct="1"/>
            <a:r>
              <a:rPr lang="en-US" sz="2000" smtClean="0"/>
              <a:t>System-on-a-Chip (SoC)</a:t>
            </a:r>
          </a:p>
          <a:p>
            <a:pPr eaLnBrk="1" hangingPunct="1"/>
            <a:r>
              <a:rPr lang="en-US" sz="2000" smtClean="0"/>
              <a:t>Custom architecture as extension of the processor instruction set. </a:t>
            </a:r>
          </a:p>
          <a:p>
            <a:pPr eaLnBrk="1" hangingPunct="1"/>
            <a:endParaRPr lang="en-US" sz="2000" smtClean="0"/>
          </a:p>
        </p:txBody>
      </p:sp>
      <p:sp>
        <p:nvSpPr>
          <p:cNvPr id="5126" name="Rectangle 4"/>
          <p:cNvSpPr>
            <a:spLocks noChangeArrowheads="1"/>
          </p:cNvSpPr>
          <p:nvPr/>
        </p:nvSpPr>
        <p:spPr bwMode="auto">
          <a:xfrm>
            <a:off x="727075" y="2914650"/>
            <a:ext cx="1676400" cy="13716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>
                <a:latin typeface="Arial" charset="0"/>
              </a:rPr>
              <a:t> Processor </a:t>
            </a:r>
          </a:p>
          <a:p>
            <a:pPr algn="ctr"/>
            <a:r>
              <a:rPr lang="en-US" b="1">
                <a:latin typeface="Arial" charset="0"/>
              </a:rPr>
              <a:t>Register </a:t>
            </a:r>
          </a:p>
          <a:p>
            <a:pPr algn="ctr"/>
            <a:r>
              <a:rPr lang="en-US" b="1">
                <a:latin typeface="Arial" charset="0"/>
              </a:rPr>
              <a:t>file</a:t>
            </a:r>
            <a:r>
              <a:rPr lang="en-US"/>
              <a:t> </a:t>
            </a:r>
          </a:p>
        </p:txBody>
      </p:sp>
      <p:sp>
        <p:nvSpPr>
          <p:cNvPr id="5127" name="Rectangle 6"/>
          <p:cNvSpPr>
            <a:spLocks noChangeArrowheads="1"/>
          </p:cNvSpPr>
          <p:nvPr/>
        </p:nvSpPr>
        <p:spPr bwMode="auto">
          <a:xfrm>
            <a:off x="898525" y="3429000"/>
            <a:ext cx="1295400" cy="685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128" name="Text Box 7"/>
          <p:cNvSpPr txBox="1">
            <a:spLocks noChangeArrowheads="1"/>
          </p:cNvSpPr>
          <p:nvPr/>
        </p:nvSpPr>
        <p:spPr bwMode="auto">
          <a:xfrm>
            <a:off x="1008063" y="4557713"/>
            <a:ext cx="1119187" cy="46672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b="1">
                <a:latin typeface="Arial" charset="0"/>
              </a:rPr>
              <a:t>Data</a:t>
            </a:r>
          </a:p>
        </p:txBody>
      </p:sp>
      <p:sp>
        <p:nvSpPr>
          <p:cNvPr id="5129" name="Text Box 9"/>
          <p:cNvSpPr txBox="1">
            <a:spLocks noChangeArrowheads="1"/>
          </p:cNvSpPr>
          <p:nvPr/>
        </p:nvSpPr>
        <p:spPr bwMode="auto">
          <a:xfrm>
            <a:off x="587375" y="2098675"/>
            <a:ext cx="1973263" cy="46672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b="1">
                <a:latin typeface="Arial" charset="0"/>
              </a:rPr>
              <a:t>Instructions</a:t>
            </a:r>
          </a:p>
        </p:txBody>
      </p:sp>
      <p:sp>
        <p:nvSpPr>
          <p:cNvPr id="5130" name="Line 10"/>
          <p:cNvSpPr>
            <a:spLocks noChangeShapeType="1"/>
          </p:cNvSpPr>
          <p:nvPr/>
        </p:nvSpPr>
        <p:spPr bwMode="auto">
          <a:xfrm flipH="1">
            <a:off x="1576388" y="2559050"/>
            <a:ext cx="0" cy="3460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5131" name="Line 21"/>
          <p:cNvSpPr>
            <a:spLocks noChangeShapeType="1"/>
          </p:cNvSpPr>
          <p:nvPr/>
        </p:nvSpPr>
        <p:spPr bwMode="auto">
          <a:xfrm flipH="1">
            <a:off x="1576388" y="4278313"/>
            <a:ext cx="1587" cy="2714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5132" name="Text Box 22"/>
          <p:cNvSpPr txBox="1">
            <a:spLocks noChangeArrowheads="1"/>
          </p:cNvSpPr>
          <p:nvPr/>
        </p:nvSpPr>
        <p:spPr bwMode="auto">
          <a:xfrm rot="-5400000">
            <a:off x="1578770" y="3126581"/>
            <a:ext cx="3001962" cy="95567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2800">
                <a:latin typeface="Arial" charset="0"/>
              </a:rPr>
              <a:t>Custom</a:t>
            </a:r>
          </a:p>
          <a:p>
            <a:pPr algn="ctr"/>
            <a:r>
              <a:rPr lang="en-US" sz="2800">
                <a:latin typeface="Arial" charset="0"/>
              </a:rPr>
              <a:t>Architecture</a:t>
            </a:r>
          </a:p>
        </p:txBody>
      </p:sp>
      <p:sp>
        <p:nvSpPr>
          <p:cNvPr id="5133" name="Rectangle 24"/>
          <p:cNvSpPr>
            <a:spLocks noChangeArrowheads="1"/>
          </p:cNvSpPr>
          <p:nvPr/>
        </p:nvSpPr>
        <p:spPr bwMode="auto">
          <a:xfrm>
            <a:off x="533400" y="1885950"/>
            <a:ext cx="3352800" cy="34671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5134" name="Line 25"/>
          <p:cNvSpPr>
            <a:spLocks noChangeShapeType="1"/>
          </p:cNvSpPr>
          <p:nvPr/>
        </p:nvSpPr>
        <p:spPr bwMode="auto">
          <a:xfrm>
            <a:off x="2400300" y="3486150"/>
            <a:ext cx="1968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9" name="Rectangle 4"/>
          <p:cNvSpPr>
            <a:spLocks noGrp="1" noChangeArrowheads="1"/>
          </p:cNvSpPr>
          <p:nvPr>
            <p:ph idx="1"/>
          </p:nvPr>
        </p:nvSpPr>
        <p:spPr>
          <a:noFill/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sz="2800" dirty="0" smtClean="0"/>
              <a:t>Depends on the application 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dirty="0" smtClean="0"/>
              <a:t>More specifically it depends on the 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800" dirty="0" smtClean="0"/>
              <a:t>	systems “Bottleneck” for the application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dirty="0" smtClean="0"/>
              <a:t>Possible Bottlenecks: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dirty="0" smtClean="0"/>
              <a:t>Memory access latency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dirty="0" smtClean="0"/>
              <a:t>Memory access bandwidth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dirty="0" smtClean="0"/>
              <a:t>Memory size 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dirty="0" smtClean="0"/>
              <a:t>Processor local memory size 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dirty="0" smtClean="0"/>
              <a:t>Processor ALU resource</a:t>
            </a:r>
          </a:p>
          <a:p>
            <a:pPr lvl="1" eaLnBrk="1" hangingPunct="1">
              <a:lnSpc>
                <a:spcPct val="90000"/>
              </a:lnSpc>
            </a:pPr>
            <a:r>
              <a:rPr lang="en-US" dirty="0" smtClean="0"/>
              <a:t>Processor ALU operation latency</a:t>
            </a:r>
            <a:endParaRPr lang="en-US" sz="2400" dirty="0" smtClean="0"/>
          </a:p>
          <a:p>
            <a:pPr lvl="1" eaLnBrk="1" hangingPunct="1">
              <a:lnSpc>
                <a:spcPct val="90000"/>
              </a:lnSpc>
            </a:pPr>
            <a:r>
              <a:rPr lang="en-US" sz="2400" dirty="0" smtClean="0"/>
              <a:t>Various bus bandwidths   </a:t>
            </a:r>
          </a:p>
          <a:p>
            <a:pPr eaLnBrk="1" hangingPunct="1">
              <a:lnSpc>
                <a:spcPct val="90000"/>
              </a:lnSpc>
            </a:pPr>
            <a:endParaRPr lang="en-US" sz="2800" dirty="0" smtClean="0"/>
          </a:p>
        </p:txBody>
      </p:sp>
      <p:sp>
        <p:nvSpPr>
          <p:cNvPr id="614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Is there an optimal location?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2D9C5-9C72-4C75-A1BC-B4986A40F6AC}" type="slidenum">
              <a:rPr lang="en-GB" smtClean="0"/>
              <a:pPr/>
              <a:t>16</a:t>
            </a:fld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/>
          <p:cNvGraphicFramePr>
            <a:graphicFrameLocks noGrp="1"/>
          </p:cNvGraphicFramePr>
          <p:nvPr>
            <p:ph idx="1"/>
          </p:nvPr>
        </p:nvGraphicFramePr>
        <p:xfrm>
          <a:off x="611561" y="1412776"/>
          <a:ext cx="7992888" cy="432048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232247"/>
                <a:gridCol w="2952328"/>
                <a:gridCol w="2808313"/>
              </a:tblGrid>
              <a:tr h="1440160">
                <a:tc>
                  <a:txBody>
                    <a:bodyPr/>
                    <a:lstStyle/>
                    <a:p>
                      <a:pPr algn="ctr"/>
                      <a:endParaRPr lang="en-GB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 smtClean="0"/>
                        <a:t>Throughput</a:t>
                      </a:r>
                      <a:endParaRPr lang="en-GB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 smtClean="0"/>
                        <a:t>Latency</a:t>
                      </a:r>
                      <a:endParaRPr lang="en-GB" sz="2800" dirty="0"/>
                    </a:p>
                  </a:txBody>
                  <a:tcPr/>
                </a:tc>
              </a:tr>
              <a:tr h="1440160">
                <a:tc>
                  <a:txBody>
                    <a:bodyPr/>
                    <a:lstStyle/>
                    <a:p>
                      <a:pPr algn="ctr"/>
                      <a:r>
                        <a:rPr lang="en-GB" sz="2800" b="1" dirty="0" smtClean="0">
                          <a:solidFill>
                            <a:schemeClr val="accent2"/>
                          </a:solidFill>
                        </a:rPr>
                        <a:t>Memory</a:t>
                      </a:r>
                      <a:endParaRPr lang="en-GB" sz="2800" b="1" dirty="0">
                        <a:solidFill>
                          <a:schemeClr val="accent2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 smtClean="0"/>
                        <a:t>Convolution</a:t>
                      </a:r>
                      <a:endParaRPr lang="en-GB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 smtClean="0"/>
                        <a:t>Graph algorithms</a:t>
                      </a:r>
                      <a:endParaRPr lang="en-GB" sz="2800" dirty="0"/>
                    </a:p>
                  </a:txBody>
                  <a:tcPr/>
                </a:tc>
              </a:tr>
              <a:tr h="1440160">
                <a:tc>
                  <a:txBody>
                    <a:bodyPr/>
                    <a:lstStyle/>
                    <a:p>
                      <a:pPr algn="ctr"/>
                      <a:r>
                        <a:rPr lang="en-GB" sz="2800" b="1" dirty="0" smtClean="0">
                          <a:solidFill>
                            <a:schemeClr val="accent2"/>
                          </a:solidFill>
                        </a:rPr>
                        <a:t>CPU</a:t>
                      </a:r>
                      <a:endParaRPr lang="en-GB" sz="2800" b="1" dirty="0">
                        <a:solidFill>
                          <a:schemeClr val="accent2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 smtClean="0"/>
                        <a:t>Monte Carlo</a:t>
                      </a:r>
                      <a:endParaRPr lang="en-GB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 smtClean="0"/>
                        <a:t>Optimization</a:t>
                      </a:r>
                      <a:endParaRPr lang="en-GB" sz="28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2D9C5-9C72-4C75-A1BC-B4986A40F6AC}" type="slidenum">
              <a:rPr lang="en-GB" smtClean="0"/>
              <a:pPr/>
              <a:t>17</a:t>
            </a:fld>
            <a:endParaRPr lang="en-GB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Major Bottlenecks: Examples</a:t>
            </a:r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Examples</a:t>
            </a:r>
            <a:endParaRPr lang="en-GB" dirty="0"/>
          </a:p>
        </p:txBody>
      </p:sp>
      <p:sp>
        <p:nvSpPr>
          <p:cNvPr id="4" name="Rectangle 1027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eaLnBrk="1" hangingPunct="1">
              <a:buFont typeface="Wingdings" pitchFamily="2" charset="2"/>
              <a:buNone/>
            </a:pPr>
            <a:r>
              <a:rPr lang="en-US" b="1" dirty="0" smtClean="0">
                <a:latin typeface="Courier New" pitchFamily="49" charset="0"/>
              </a:rPr>
              <a:t>for(</a:t>
            </a:r>
            <a:r>
              <a:rPr lang="en-US" b="1" dirty="0" err="1" smtClean="0">
                <a:latin typeface="Courier New" pitchFamily="49" charset="0"/>
              </a:rPr>
              <a:t>int</a:t>
            </a:r>
            <a:r>
              <a:rPr lang="en-US" b="1" dirty="0" smtClean="0">
                <a:latin typeface="Courier New" pitchFamily="49" charset="0"/>
              </a:rPr>
              <a:t> </a:t>
            </a:r>
            <a:r>
              <a:rPr lang="en-US" b="1" dirty="0" err="1" smtClean="0">
                <a:latin typeface="Courier New" pitchFamily="49" charset="0"/>
              </a:rPr>
              <a:t>i</a:t>
            </a:r>
            <a:r>
              <a:rPr lang="en-US" b="1" dirty="0" smtClean="0">
                <a:latin typeface="Courier New" pitchFamily="49" charset="0"/>
              </a:rPr>
              <a:t>=0;i&lt;</a:t>
            </a:r>
            <a:r>
              <a:rPr lang="en-US" b="1" dirty="0" err="1" smtClean="0">
                <a:latin typeface="Courier New" pitchFamily="49" charset="0"/>
              </a:rPr>
              <a:t>N;i</a:t>
            </a:r>
            <a:r>
              <a:rPr lang="en-US" b="1" dirty="0" smtClean="0">
                <a:latin typeface="Courier New" pitchFamily="49" charset="0"/>
              </a:rPr>
              <a:t>++){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b="1" dirty="0" smtClean="0">
                <a:latin typeface="Courier New" pitchFamily="49" charset="0"/>
              </a:rPr>
              <a:t>	a[</a:t>
            </a:r>
            <a:r>
              <a:rPr lang="en-US" b="1" dirty="0" err="1" smtClean="0">
                <a:latin typeface="Courier New" pitchFamily="49" charset="0"/>
              </a:rPr>
              <a:t>i</a:t>
            </a:r>
            <a:r>
              <a:rPr lang="en-US" b="1" dirty="0" smtClean="0">
                <a:latin typeface="Courier New" pitchFamily="49" charset="0"/>
              </a:rPr>
              <a:t>]=b[</a:t>
            </a:r>
            <a:r>
              <a:rPr lang="en-US" b="1" dirty="0" err="1" smtClean="0">
                <a:latin typeface="Courier New" pitchFamily="49" charset="0"/>
              </a:rPr>
              <a:t>i</a:t>
            </a:r>
            <a:r>
              <a:rPr lang="en-US" b="1" dirty="0" smtClean="0">
                <a:latin typeface="Courier New" pitchFamily="49" charset="0"/>
              </a:rPr>
              <a:t>];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b="1" dirty="0" smtClean="0">
                <a:latin typeface="Courier New" pitchFamily="49" charset="0"/>
              </a:rPr>
              <a:t>}</a:t>
            </a:r>
          </a:p>
          <a:p>
            <a:pPr eaLnBrk="1" hangingPunct="1">
              <a:buFont typeface="Wingdings" pitchFamily="2" charset="2"/>
              <a:buNone/>
            </a:pPr>
            <a:endParaRPr lang="en-US" dirty="0" smtClean="0"/>
          </a:p>
          <a:p>
            <a:pPr eaLnBrk="1" hangingPunct="1">
              <a:buFont typeface="Wingdings" pitchFamily="2" charset="2"/>
              <a:buNone/>
            </a:pPr>
            <a:r>
              <a:rPr lang="en-US" dirty="0" smtClean="0"/>
              <a:t>is limited by</a:t>
            </a:r>
            <a:r>
              <a:rPr lang="en-US" dirty="0" smtClean="0"/>
              <a:t>: ………………………….</a:t>
            </a:r>
          </a:p>
          <a:p>
            <a:pPr eaLnBrk="1" hangingPunct="1">
              <a:buFont typeface="Wingdings" pitchFamily="2" charset="2"/>
              <a:buNone/>
            </a:pPr>
            <a:endParaRPr lang="en-US" dirty="0" smtClean="0"/>
          </a:p>
          <a:p>
            <a:pPr>
              <a:buNone/>
            </a:pPr>
            <a:r>
              <a:rPr lang="en-US" b="1" dirty="0" smtClean="0">
                <a:latin typeface="Courier New" pitchFamily="49" charset="0"/>
              </a:rPr>
              <a:t>for(</a:t>
            </a:r>
            <a:r>
              <a:rPr lang="en-US" b="1" dirty="0" err="1" smtClean="0">
                <a:latin typeface="Courier New" pitchFamily="49" charset="0"/>
              </a:rPr>
              <a:t>int</a:t>
            </a:r>
            <a:r>
              <a:rPr lang="en-US" b="1" dirty="0" smtClean="0">
                <a:latin typeface="Courier New" pitchFamily="49" charset="0"/>
              </a:rPr>
              <a:t> </a:t>
            </a:r>
            <a:r>
              <a:rPr lang="en-US" b="1" dirty="0" err="1" smtClean="0">
                <a:latin typeface="Courier New" pitchFamily="49" charset="0"/>
              </a:rPr>
              <a:t>i</a:t>
            </a:r>
            <a:r>
              <a:rPr lang="en-US" b="1" dirty="0" smtClean="0">
                <a:latin typeface="Courier New" pitchFamily="49" charset="0"/>
              </a:rPr>
              <a:t>=0;i&lt;</a:t>
            </a:r>
            <a:r>
              <a:rPr lang="en-US" b="1" dirty="0" err="1" smtClean="0">
                <a:latin typeface="Courier New" pitchFamily="49" charset="0"/>
              </a:rPr>
              <a:t>N;i</a:t>
            </a:r>
            <a:r>
              <a:rPr lang="en-US" b="1" dirty="0" smtClean="0">
                <a:latin typeface="Courier New" pitchFamily="49" charset="0"/>
              </a:rPr>
              <a:t>++){</a:t>
            </a:r>
          </a:p>
          <a:p>
            <a:pPr>
              <a:buNone/>
            </a:pPr>
            <a:r>
              <a:rPr lang="en-US" b="1" dirty="0" smtClean="0">
                <a:latin typeface="Courier New" pitchFamily="49" charset="0"/>
              </a:rPr>
              <a:t>	for(</a:t>
            </a:r>
            <a:r>
              <a:rPr lang="en-US" b="1" dirty="0" err="1" smtClean="0">
                <a:latin typeface="Courier New" pitchFamily="49" charset="0"/>
              </a:rPr>
              <a:t>int</a:t>
            </a:r>
            <a:r>
              <a:rPr lang="en-US" b="1" dirty="0" smtClean="0">
                <a:latin typeface="Courier New" pitchFamily="49" charset="0"/>
              </a:rPr>
              <a:t> j=0;j&lt;1000;j++){</a:t>
            </a:r>
          </a:p>
          <a:p>
            <a:pPr>
              <a:buNone/>
            </a:pPr>
            <a:r>
              <a:rPr lang="en-US" b="1" dirty="0" smtClean="0">
                <a:latin typeface="Courier New" pitchFamily="49" charset="0"/>
              </a:rPr>
              <a:t>		a[</a:t>
            </a:r>
            <a:r>
              <a:rPr lang="en-US" b="1" dirty="0" err="1" smtClean="0">
                <a:latin typeface="Courier New" pitchFamily="49" charset="0"/>
              </a:rPr>
              <a:t>i</a:t>
            </a:r>
            <a:r>
              <a:rPr lang="en-US" b="1" dirty="0" smtClean="0">
                <a:latin typeface="Courier New" pitchFamily="49" charset="0"/>
              </a:rPr>
              <a:t>]=a[</a:t>
            </a:r>
            <a:r>
              <a:rPr lang="en-US" b="1" dirty="0" err="1" smtClean="0">
                <a:latin typeface="Courier New" pitchFamily="49" charset="0"/>
              </a:rPr>
              <a:t>i</a:t>
            </a:r>
            <a:r>
              <a:rPr lang="en-US" b="1" dirty="0" smtClean="0">
                <a:latin typeface="Courier New" pitchFamily="49" charset="0"/>
              </a:rPr>
              <a:t>]+j;</a:t>
            </a:r>
          </a:p>
          <a:p>
            <a:pPr>
              <a:buNone/>
            </a:pPr>
            <a:r>
              <a:rPr lang="en-US" b="1" dirty="0" smtClean="0">
                <a:latin typeface="Courier New" pitchFamily="49" charset="0"/>
              </a:rPr>
              <a:t>  }</a:t>
            </a:r>
          </a:p>
          <a:p>
            <a:pPr>
              <a:buNone/>
            </a:pPr>
            <a:r>
              <a:rPr lang="en-US" b="1" dirty="0" smtClean="0">
                <a:latin typeface="Courier New" pitchFamily="49" charset="0"/>
              </a:rPr>
              <a:t>}</a:t>
            </a:r>
          </a:p>
          <a:p>
            <a:pPr eaLnBrk="1" hangingPunct="1">
              <a:buFont typeface="Wingdings" pitchFamily="2" charset="2"/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is limited by: ………………………….</a:t>
            </a:r>
          </a:p>
          <a:p>
            <a:pPr eaLnBrk="1" hangingPunct="1">
              <a:buFont typeface="Wingdings" pitchFamily="2" charset="2"/>
              <a:buNone/>
            </a:pP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2D9C5-9C72-4C75-A1BC-B4986A40F6AC}" type="slidenum">
              <a:rPr lang="en-GB" smtClean="0"/>
              <a:pPr/>
              <a:t>18</a:t>
            </a:fld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Rectangle 266"/>
          <p:cNvSpPr/>
          <p:nvPr/>
        </p:nvSpPr>
        <p:spPr>
          <a:xfrm>
            <a:off x="4436270" y="3265250"/>
            <a:ext cx="276228" cy="276228"/>
          </a:xfrm>
          <a:prstGeom prst="rect">
            <a:avLst/>
          </a:prstGeom>
          <a:solidFill>
            <a:srgbClr val="FFCD78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Reconfigurable Computing with FPGAs</a:t>
            </a:r>
            <a:endParaRPr lang="en-GB" dirty="0"/>
          </a:p>
        </p:txBody>
      </p:sp>
      <p:sp>
        <p:nvSpPr>
          <p:cNvPr id="22" name="Rectangle 21"/>
          <p:cNvSpPr/>
          <p:nvPr/>
        </p:nvSpPr>
        <p:spPr>
          <a:xfrm>
            <a:off x="4436270" y="1479297"/>
            <a:ext cx="276228" cy="276228"/>
          </a:xfrm>
          <a:custGeom>
            <a:avLst/>
            <a:gdLst>
              <a:gd name="connsiteX0" fmla="*/ 0 w 276228"/>
              <a:gd name="connsiteY0" fmla="*/ 0 h 276228"/>
              <a:gd name="connsiteX1" fmla="*/ 276228 w 276228"/>
              <a:gd name="connsiteY1" fmla="*/ 0 h 276228"/>
              <a:gd name="connsiteX2" fmla="*/ 276228 w 276228"/>
              <a:gd name="connsiteY2" fmla="*/ 276228 h 276228"/>
              <a:gd name="connsiteX3" fmla="*/ 0 w 276228"/>
              <a:gd name="connsiteY3" fmla="*/ 276228 h 276228"/>
              <a:gd name="connsiteX4" fmla="*/ 0 w 276228"/>
              <a:gd name="connsiteY4" fmla="*/ 0 h 276228"/>
              <a:gd name="connsiteX0" fmla="*/ 0 w 276228"/>
              <a:gd name="connsiteY0" fmla="*/ 0 h 276228"/>
              <a:gd name="connsiteX1" fmla="*/ 125784 w 276228"/>
              <a:gd name="connsiteY1" fmla="*/ 3220 h 276228"/>
              <a:gd name="connsiteX2" fmla="*/ 276228 w 276228"/>
              <a:gd name="connsiteY2" fmla="*/ 0 h 276228"/>
              <a:gd name="connsiteX3" fmla="*/ 276228 w 276228"/>
              <a:gd name="connsiteY3" fmla="*/ 276228 h 276228"/>
              <a:gd name="connsiteX4" fmla="*/ 0 w 276228"/>
              <a:gd name="connsiteY4" fmla="*/ 276228 h 276228"/>
              <a:gd name="connsiteX5" fmla="*/ 0 w 276228"/>
              <a:gd name="connsiteY5" fmla="*/ 0 h 2762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76228" h="276228">
                <a:moveTo>
                  <a:pt x="0" y="0"/>
                </a:moveTo>
                <a:lnTo>
                  <a:pt x="125784" y="3220"/>
                </a:lnTo>
                <a:lnTo>
                  <a:pt x="276228" y="0"/>
                </a:lnTo>
                <a:lnTo>
                  <a:pt x="276228" y="276228"/>
                </a:lnTo>
                <a:lnTo>
                  <a:pt x="0" y="276228"/>
                </a:lnTo>
                <a:lnTo>
                  <a:pt x="0" y="0"/>
                </a:lnTo>
                <a:close/>
              </a:path>
            </a:pathLst>
          </a:custGeom>
          <a:solidFill>
            <a:srgbClr val="FFCD78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Rectangle 22"/>
          <p:cNvSpPr/>
          <p:nvPr/>
        </p:nvSpPr>
        <p:spPr>
          <a:xfrm>
            <a:off x="4436270" y="1846011"/>
            <a:ext cx="276228" cy="276228"/>
          </a:xfrm>
          <a:prstGeom prst="rect">
            <a:avLst/>
          </a:prstGeom>
          <a:solidFill>
            <a:srgbClr val="FFCD78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Rectangle 23"/>
          <p:cNvSpPr/>
          <p:nvPr/>
        </p:nvSpPr>
        <p:spPr>
          <a:xfrm>
            <a:off x="4802984" y="1479297"/>
            <a:ext cx="276228" cy="276228"/>
          </a:xfrm>
          <a:prstGeom prst="rect">
            <a:avLst/>
          </a:prstGeom>
          <a:solidFill>
            <a:srgbClr val="FFCD78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Rectangle 24"/>
          <p:cNvSpPr/>
          <p:nvPr/>
        </p:nvSpPr>
        <p:spPr>
          <a:xfrm>
            <a:off x="4802984" y="1836487"/>
            <a:ext cx="276228" cy="276228"/>
          </a:xfrm>
          <a:prstGeom prst="rect">
            <a:avLst/>
          </a:prstGeom>
          <a:solidFill>
            <a:srgbClr val="FFCD78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Rectangle 25"/>
          <p:cNvSpPr/>
          <p:nvPr/>
        </p:nvSpPr>
        <p:spPr>
          <a:xfrm>
            <a:off x="4436270" y="2193677"/>
            <a:ext cx="276228" cy="276228"/>
          </a:xfrm>
          <a:prstGeom prst="rect">
            <a:avLst/>
          </a:prstGeom>
          <a:solidFill>
            <a:srgbClr val="FFCD78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Rectangle 26"/>
          <p:cNvSpPr/>
          <p:nvPr/>
        </p:nvSpPr>
        <p:spPr>
          <a:xfrm>
            <a:off x="4436270" y="2560391"/>
            <a:ext cx="276228" cy="276228"/>
          </a:xfrm>
          <a:prstGeom prst="rect">
            <a:avLst/>
          </a:prstGeom>
          <a:solidFill>
            <a:srgbClr val="FFCD78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Rectangle 27"/>
          <p:cNvSpPr/>
          <p:nvPr/>
        </p:nvSpPr>
        <p:spPr>
          <a:xfrm>
            <a:off x="4802984" y="2193677"/>
            <a:ext cx="276228" cy="276228"/>
          </a:xfrm>
          <a:prstGeom prst="rect">
            <a:avLst/>
          </a:prstGeom>
          <a:solidFill>
            <a:srgbClr val="FFCD78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Rectangle 28"/>
          <p:cNvSpPr/>
          <p:nvPr/>
        </p:nvSpPr>
        <p:spPr>
          <a:xfrm>
            <a:off x="4802984" y="2550867"/>
            <a:ext cx="276228" cy="276228"/>
          </a:xfrm>
          <a:prstGeom prst="rect">
            <a:avLst/>
          </a:prstGeom>
          <a:solidFill>
            <a:srgbClr val="FFCD78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Rectangle 29"/>
          <p:cNvSpPr/>
          <p:nvPr/>
        </p:nvSpPr>
        <p:spPr>
          <a:xfrm>
            <a:off x="4436270" y="2908057"/>
            <a:ext cx="276228" cy="276228"/>
          </a:xfrm>
          <a:prstGeom prst="rect">
            <a:avLst/>
          </a:prstGeom>
          <a:solidFill>
            <a:srgbClr val="FFCD78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" name="Rectangle 31"/>
          <p:cNvSpPr/>
          <p:nvPr/>
        </p:nvSpPr>
        <p:spPr>
          <a:xfrm>
            <a:off x="4802984" y="2908057"/>
            <a:ext cx="276228" cy="276228"/>
          </a:xfrm>
          <a:prstGeom prst="rect">
            <a:avLst/>
          </a:prstGeom>
          <a:solidFill>
            <a:srgbClr val="FFCD78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Rectangle 32"/>
          <p:cNvSpPr/>
          <p:nvPr/>
        </p:nvSpPr>
        <p:spPr>
          <a:xfrm>
            <a:off x="4802984" y="3265247"/>
            <a:ext cx="276228" cy="276228"/>
          </a:xfrm>
          <a:prstGeom prst="rect">
            <a:avLst/>
          </a:prstGeom>
          <a:solidFill>
            <a:srgbClr val="FFCD78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Rectangle 33"/>
          <p:cNvSpPr/>
          <p:nvPr/>
        </p:nvSpPr>
        <p:spPr>
          <a:xfrm>
            <a:off x="4436270" y="3622437"/>
            <a:ext cx="276228" cy="276228"/>
          </a:xfrm>
          <a:prstGeom prst="rect">
            <a:avLst/>
          </a:prstGeom>
          <a:solidFill>
            <a:srgbClr val="FFCD78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Rectangle 34"/>
          <p:cNvSpPr/>
          <p:nvPr/>
        </p:nvSpPr>
        <p:spPr>
          <a:xfrm>
            <a:off x="4436270" y="3989151"/>
            <a:ext cx="276228" cy="276228"/>
          </a:xfrm>
          <a:prstGeom prst="rect">
            <a:avLst/>
          </a:prstGeom>
          <a:solidFill>
            <a:srgbClr val="FFCD78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Rectangle 35"/>
          <p:cNvSpPr/>
          <p:nvPr/>
        </p:nvSpPr>
        <p:spPr>
          <a:xfrm>
            <a:off x="4802984" y="3622437"/>
            <a:ext cx="276228" cy="276228"/>
          </a:xfrm>
          <a:prstGeom prst="rect">
            <a:avLst/>
          </a:prstGeom>
          <a:solidFill>
            <a:srgbClr val="FFCD78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7" name="Rectangle 36"/>
          <p:cNvSpPr/>
          <p:nvPr/>
        </p:nvSpPr>
        <p:spPr>
          <a:xfrm>
            <a:off x="4802984" y="3979627"/>
            <a:ext cx="276228" cy="276228"/>
          </a:xfrm>
          <a:prstGeom prst="rect">
            <a:avLst/>
          </a:prstGeom>
          <a:solidFill>
            <a:srgbClr val="FFCD78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8" name="Rectangle 37"/>
          <p:cNvSpPr/>
          <p:nvPr/>
        </p:nvSpPr>
        <p:spPr>
          <a:xfrm>
            <a:off x="4436270" y="4336817"/>
            <a:ext cx="276228" cy="276228"/>
          </a:xfrm>
          <a:prstGeom prst="rect">
            <a:avLst/>
          </a:prstGeom>
          <a:solidFill>
            <a:srgbClr val="FFCD78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Rectangle 38"/>
          <p:cNvSpPr/>
          <p:nvPr/>
        </p:nvSpPr>
        <p:spPr>
          <a:xfrm>
            <a:off x="4436270" y="4703531"/>
            <a:ext cx="276228" cy="276228"/>
          </a:xfrm>
          <a:prstGeom prst="rect">
            <a:avLst/>
          </a:prstGeom>
          <a:solidFill>
            <a:srgbClr val="FFCD78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0" name="Rectangle 39"/>
          <p:cNvSpPr/>
          <p:nvPr/>
        </p:nvSpPr>
        <p:spPr>
          <a:xfrm>
            <a:off x="4802984" y="4336817"/>
            <a:ext cx="276228" cy="276228"/>
          </a:xfrm>
          <a:prstGeom prst="rect">
            <a:avLst/>
          </a:prstGeom>
          <a:solidFill>
            <a:srgbClr val="FFCD78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1" name="Rectangle 40"/>
          <p:cNvSpPr/>
          <p:nvPr/>
        </p:nvSpPr>
        <p:spPr>
          <a:xfrm>
            <a:off x="4802984" y="4694007"/>
            <a:ext cx="276228" cy="276228"/>
          </a:xfrm>
          <a:prstGeom prst="rect">
            <a:avLst/>
          </a:prstGeom>
          <a:solidFill>
            <a:srgbClr val="FFCD78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2" name="Rectangle 41"/>
          <p:cNvSpPr/>
          <p:nvPr/>
        </p:nvSpPr>
        <p:spPr>
          <a:xfrm>
            <a:off x="4436270" y="5051197"/>
            <a:ext cx="276228" cy="276228"/>
          </a:xfrm>
          <a:prstGeom prst="rect">
            <a:avLst/>
          </a:prstGeom>
          <a:solidFill>
            <a:srgbClr val="FFCD78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4" name="Rectangle 43"/>
          <p:cNvSpPr/>
          <p:nvPr/>
        </p:nvSpPr>
        <p:spPr>
          <a:xfrm>
            <a:off x="4802984" y="5051197"/>
            <a:ext cx="276228" cy="276228"/>
          </a:xfrm>
          <a:prstGeom prst="rect">
            <a:avLst/>
          </a:prstGeom>
          <a:solidFill>
            <a:srgbClr val="FFCD78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6" name="Rectangle 45"/>
          <p:cNvSpPr/>
          <p:nvPr/>
        </p:nvSpPr>
        <p:spPr>
          <a:xfrm>
            <a:off x="5150650" y="1479297"/>
            <a:ext cx="276228" cy="1357322"/>
          </a:xfrm>
          <a:prstGeom prst="rect">
            <a:avLst/>
          </a:prstGeom>
          <a:solidFill>
            <a:srgbClr val="C95EA4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/>
          </a:p>
        </p:txBody>
      </p:sp>
      <p:sp>
        <p:nvSpPr>
          <p:cNvPr id="47" name="Rectangle 46"/>
          <p:cNvSpPr/>
          <p:nvPr/>
        </p:nvSpPr>
        <p:spPr>
          <a:xfrm>
            <a:off x="5150650" y="2908057"/>
            <a:ext cx="276228" cy="1357322"/>
          </a:xfrm>
          <a:prstGeom prst="rect">
            <a:avLst/>
          </a:prstGeom>
          <a:solidFill>
            <a:srgbClr val="C95EA4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/>
          </a:p>
        </p:txBody>
      </p:sp>
      <p:sp>
        <p:nvSpPr>
          <p:cNvPr id="48" name="Rectangle 47"/>
          <p:cNvSpPr/>
          <p:nvPr/>
        </p:nvSpPr>
        <p:spPr>
          <a:xfrm>
            <a:off x="4436270" y="5417911"/>
            <a:ext cx="276228" cy="276228"/>
          </a:xfrm>
          <a:prstGeom prst="rect">
            <a:avLst/>
          </a:prstGeom>
          <a:solidFill>
            <a:srgbClr val="FFCD78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9" name="Rectangle 48"/>
          <p:cNvSpPr/>
          <p:nvPr/>
        </p:nvSpPr>
        <p:spPr>
          <a:xfrm>
            <a:off x="4802984" y="5417911"/>
            <a:ext cx="276228" cy="276228"/>
          </a:xfrm>
          <a:prstGeom prst="rect">
            <a:avLst/>
          </a:prstGeom>
          <a:solidFill>
            <a:srgbClr val="FFCD78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0" name="Rectangle 49"/>
          <p:cNvSpPr/>
          <p:nvPr/>
        </p:nvSpPr>
        <p:spPr>
          <a:xfrm>
            <a:off x="5150650" y="4336817"/>
            <a:ext cx="276228" cy="1357322"/>
          </a:xfrm>
          <a:prstGeom prst="rect">
            <a:avLst/>
          </a:prstGeom>
          <a:solidFill>
            <a:srgbClr val="C95EA4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/>
          </a:p>
        </p:txBody>
      </p:sp>
      <p:sp>
        <p:nvSpPr>
          <p:cNvPr id="51" name="Rectangle 50"/>
          <p:cNvSpPr/>
          <p:nvPr/>
        </p:nvSpPr>
        <p:spPr>
          <a:xfrm>
            <a:off x="5517364" y="1479297"/>
            <a:ext cx="276228" cy="1357322"/>
          </a:xfrm>
          <a:prstGeom prst="rect">
            <a:avLst/>
          </a:prstGeom>
          <a:solidFill>
            <a:schemeClr val="accent3"/>
          </a:solidFill>
          <a:ln>
            <a:noFill/>
          </a:ln>
          <a:effectLst>
            <a:outerShdw sx="1000" sy="1000" rotWithShape="0">
              <a:srgbClr val="000000"/>
            </a:outerShdw>
          </a:effectLst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2" name="Rectangle 51"/>
          <p:cNvSpPr/>
          <p:nvPr/>
        </p:nvSpPr>
        <p:spPr>
          <a:xfrm>
            <a:off x="5507840" y="2908057"/>
            <a:ext cx="276228" cy="1357322"/>
          </a:xfrm>
          <a:prstGeom prst="rect">
            <a:avLst/>
          </a:prstGeom>
          <a:solidFill>
            <a:schemeClr val="accent3"/>
          </a:solidFill>
          <a:ln>
            <a:noFill/>
          </a:ln>
          <a:effectLst>
            <a:outerShdw sx="1000" sy="1000" rotWithShape="0">
              <a:srgbClr val="000000"/>
            </a:outerShdw>
          </a:effectLst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3" name="Rectangle 52"/>
          <p:cNvSpPr/>
          <p:nvPr/>
        </p:nvSpPr>
        <p:spPr>
          <a:xfrm>
            <a:off x="5507840" y="4336817"/>
            <a:ext cx="276228" cy="1357322"/>
          </a:xfrm>
          <a:prstGeom prst="rect">
            <a:avLst/>
          </a:prstGeom>
          <a:solidFill>
            <a:schemeClr val="accent3"/>
          </a:solidFill>
          <a:ln>
            <a:noFill/>
          </a:ln>
          <a:effectLst>
            <a:outerShdw sx="1000" sy="1000" rotWithShape="0">
              <a:srgbClr val="000000"/>
            </a:outerShdw>
          </a:effectLst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6" name="Rectangle 75"/>
          <p:cNvSpPr/>
          <p:nvPr/>
        </p:nvSpPr>
        <p:spPr>
          <a:xfrm>
            <a:off x="6579410" y="1479297"/>
            <a:ext cx="276228" cy="1357322"/>
          </a:xfrm>
          <a:prstGeom prst="rect">
            <a:avLst/>
          </a:prstGeom>
          <a:solidFill>
            <a:srgbClr val="C95EA4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/>
          </a:p>
        </p:txBody>
      </p:sp>
      <p:sp>
        <p:nvSpPr>
          <p:cNvPr id="77" name="Rectangle 76"/>
          <p:cNvSpPr/>
          <p:nvPr/>
        </p:nvSpPr>
        <p:spPr>
          <a:xfrm>
            <a:off x="6579410" y="2908057"/>
            <a:ext cx="276228" cy="1357322"/>
          </a:xfrm>
          <a:prstGeom prst="rect">
            <a:avLst/>
          </a:prstGeom>
          <a:solidFill>
            <a:srgbClr val="C95EA4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/>
          </a:p>
        </p:txBody>
      </p:sp>
      <p:sp>
        <p:nvSpPr>
          <p:cNvPr id="80" name="Rectangle 79"/>
          <p:cNvSpPr/>
          <p:nvPr/>
        </p:nvSpPr>
        <p:spPr>
          <a:xfrm>
            <a:off x="6579410" y="4336817"/>
            <a:ext cx="276228" cy="1357322"/>
          </a:xfrm>
          <a:prstGeom prst="rect">
            <a:avLst/>
          </a:prstGeom>
          <a:solidFill>
            <a:srgbClr val="C95EA4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/>
          </a:p>
        </p:txBody>
      </p:sp>
      <p:sp>
        <p:nvSpPr>
          <p:cNvPr id="81" name="Rectangle 80"/>
          <p:cNvSpPr/>
          <p:nvPr/>
        </p:nvSpPr>
        <p:spPr>
          <a:xfrm>
            <a:off x="6946124" y="1479297"/>
            <a:ext cx="276228" cy="1357322"/>
          </a:xfrm>
          <a:prstGeom prst="rect">
            <a:avLst/>
          </a:prstGeom>
          <a:solidFill>
            <a:schemeClr val="accent3"/>
          </a:solidFill>
          <a:ln>
            <a:noFill/>
          </a:ln>
          <a:effectLst>
            <a:outerShdw sx="1000" sy="1000" rotWithShape="0">
              <a:srgbClr val="000000"/>
            </a:outerShdw>
          </a:effectLst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/>
          </a:p>
        </p:txBody>
      </p:sp>
      <p:sp>
        <p:nvSpPr>
          <p:cNvPr id="82" name="Rectangle 81"/>
          <p:cNvSpPr/>
          <p:nvPr/>
        </p:nvSpPr>
        <p:spPr>
          <a:xfrm>
            <a:off x="6936600" y="2908057"/>
            <a:ext cx="276228" cy="1357322"/>
          </a:xfrm>
          <a:prstGeom prst="rect">
            <a:avLst/>
          </a:prstGeom>
          <a:solidFill>
            <a:schemeClr val="accent3"/>
          </a:solidFill>
          <a:ln>
            <a:noFill/>
          </a:ln>
          <a:effectLst>
            <a:outerShdw sx="1000" sy="1000" rotWithShape="0">
              <a:srgbClr val="000000"/>
            </a:outerShdw>
          </a:effectLst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/>
          </a:p>
        </p:txBody>
      </p:sp>
      <p:sp>
        <p:nvSpPr>
          <p:cNvPr id="83" name="Rectangle 82"/>
          <p:cNvSpPr/>
          <p:nvPr/>
        </p:nvSpPr>
        <p:spPr>
          <a:xfrm>
            <a:off x="6936600" y="4336817"/>
            <a:ext cx="276228" cy="1357322"/>
          </a:xfrm>
          <a:prstGeom prst="rect">
            <a:avLst/>
          </a:prstGeom>
          <a:solidFill>
            <a:schemeClr val="accent3"/>
          </a:solidFill>
          <a:ln>
            <a:noFill/>
          </a:ln>
          <a:effectLst>
            <a:outerShdw sx="1000" sy="1000" rotWithShape="0">
              <a:srgbClr val="000000"/>
            </a:outerShdw>
          </a:effectLst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/>
          </a:p>
        </p:txBody>
      </p:sp>
      <p:cxnSp>
        <p:nvCxnSpPr>
          <p:cNvPr id="133" name="Straight Connector 132"/>
          <p:cNvCxnSpPr/>
          <p:nvPr/>
        </p:nvCxnSpPr>
        <p:spPr>
          <a:xfrm>
            <a:off x="4293394" y="1407859"/>
            <a:ext cx="385765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Connector 134"/>
          <p:cNvCxnSpPr/>
          <p:nvPr/>
        </p:nvCxnSpPr>
        <p:spPr>
          <a:xfrm rot="5400000">
            <a:off x="5941232" y="3617676"/>
            <a:ext cx="441962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Connector 143"/>
          <p:cNvCxnSpPr/>
          <p:nvPr/>
        </p:nvCxnSpPr>
        <p:spPr>
          <a:xfrm rot="5400000">
            <a:off x="4221956" y="1407859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Straight Connector 144"/>
          <p:cNvCxnSpPr/>
          <p:nvPr/>
        </p:nvCxnSpPr>
        <p:spPr>
          <a:xfrm rot="16200000" flipH="1">
            <a:off x="4221956" y="1479297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Straight Connector 145"/>
          <p:cNvCxnSpPr/>
          <p:nvPr/>
        </p:nvCxnSpPr>
        <p:spPr>
          <a:xfrm rot="5400000">
            <a:off x="4221956" y="1550735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Straight Connector 146"/>
          <p:cNvCxnSpPr/>
          <p:nvPr/>
        </p:nvCxnSpPr>
        <p:spPr>
          <a:xfrm rot="16200000" flipH="1">
            <a:off x="4221956" y="1622173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Straight Connector 147"/>
          <p:cNvCxnSpPr/>
          <p:nvPr/>
        </p:nvCxnSpPr>
        <p:spPr>
          <a:xfrm rot="5400000">
            <a:off x="4221956" y="1693611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Connector 148"/>
          <p:cNvCxnSpPr/>
          <p:nvPr/>
        </p:nvCxnSpPr>
        <p:spPr>
          <a:xfrm rot="16200000" flipH="1">
            <a:off x="4221955" y="1765049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Connector 149"/>
          <p:cNvCxnSpPr/>
          <p:nvPr/>
        </p:nvCxnSpPr>
        <p:spPr>
          <a:xfrm rot="5400000">
            <a:off x="4221955" y="1836487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Connector 150"/>
          <p:cNvCxnSpPr/>
          <p:nvPr/>
        </p:nvCxnSpPr>
        <p:spPr>
          <a:xfrm rot="16200000" flipH="1">
            <a:off x="4221955" y="1907925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Straight Connector 151"/>
          <p:cNvCxnSpPr/>
          <p:nvPr/>
        </p:nvCxnSpPr>
        <p:spPr>
          <a:xfrm rot="5400000">
            <a:off x="4221955" y="1979363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Connector 152"/>
          <p:cNvCxnSpPr/>
          <p:nvPr/>
        </p:nvCxnSpPr>
        <p:spPr>
          <a:xfrm rot="16200000" flipH="1">
            <a:off x="4221955" y="2050801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Straight Connector 153"/>
          <p:cNvCxnSpPr/>
          <p:nvPr/>
        </p:nvCxnSpPr>
        <p:spPr>
          <a:xfrm rot="5400000">
            <a:off x="4221955" y="2122239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Straight Connector 154"/>
          <p:cNvCxnSpPr/>
          <p:nvPr/>
        </p:nvCxnSpPr>
        <p:spPr>
          <a:xfrm rot="16200000" flipH="1">
            <a:off x="4221955" y="2193677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Straight Connector 155"/>
          <p:cNvCxnSpPr/>
          <p:nvPr/>
        </p:nvCxnSpPr>
        <p:spPr>
          <a:xfrm rot="5400000">
            <a:off x="4221955" y="2265115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Straight Connector 156"/>
          <p:cNvCxnSpPr/>
          <p:nvPr/>
        </p:nvCxnSpPr>
        <p:spPr>
          <a:xfrm rot="16200000" flipH="1">
            <a:off x="4221957" y="2336553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Straight Connector 157"/>
          <p:cNvCxnSpPr/>
          <p:nvPr/>
        </p:nvCxnSpPr>
        <p:spPr>
          <a:xfrm rot="5400000">
            <a:off x="4221957" y="2407991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Straight Connector 158"/>
          <p:cNvCxnSpPr/>
          <p:nvPr/>
        </p:nvCxnSpPr>
        <p:spPr>
          <a:xfrm rot="16200000" flipH="1">
            <a:off x="4221957" y="2479429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Straight Connector 159"/>
          <p:cNvCxnSpPr/>
          <p:nvPr/>
        </p:nvCxnSpPr>
        <p:spPr>
          <a:xfrm rot="5400000">
            <a:off x="4221957" y="2550867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Straight Connector 160"/>
          <p:cNvCxnSpPr/>
          <p:nvPr/>
        </p:nvCxnSpPr>
        <p:spPr>
          <a:xfrm rot="16200000" flipH="1">
            <a:off x="4221957" y="2622305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Straight Connector 161"/>
          <p:cNvCxnSpPr/>
          <p:nvPr/>
        </p:nvCxnSpPr>
        <p:spPr>
          <a:xfrm rot="5400000">
            <a:off x="4221957" y="2693743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Straight Connector 162"/>
          <p:cNvCxnSpPr/>
          <p:nvPr/>
        </p:nvCxnSpPr>
        <p:spPr>
          <a:xfrm rot="16200000" flipH="1">
            <a:off x="4221957" y="2765181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Straight Connector 163"/>
          <p:cNvCxnSpPr/>
          <p:nvPr/>
        </p:nvCxnSpPr>
        <p:spPr>
          <a:xfrm rot="5400000">
            <a:off x="4221957" y="2836619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Straight Connector 164"/>
          <p:cNvCxnSpPr/>
          <p:nvPr/>
        </p:nvCxnSpPr>
        <p:spPr>
          <a:xfrm rot="16200000" flipH="1">
            <a:off x="4221956" y="2908057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Connector 165"/>
          <p:cNvCxnSpPr/>
          <p:nvPr/>
        </p:nvCxnSpPr>
        <p:spPr>
          <a:xfrm rot="5400000">
            <a:off x="4221956" y="2979495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Straight Connector 166"/>
          <p:cNvCxnSpPr/>
          <p:nvPr/>
        </p:nvCxnSpPr>
        <p:spPr>
          <a:xfrm rot="16200000" flipH="1">
            <a:off x="4221956" y="3050933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Straight Connector 167"/>
          <p:cNvCxnSpPr/>
          <p:nvPr/>
        </p:nvCxnSpPr>
        <p:spPr>
          <a:xfrm rot="5400000">
            <a:off x="4221956" y="3122371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Straight Connector 168"/>
          <p:cNvCxnSpPr/>
          <p:nvPr/>
        </p:nvCxnSpPr>
        <p:spPr>
          <a:xfrm rot="16200000" flipH="1">
            <a:off x="4221956" y="3193809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Straight Connector 169"/>
          <p:cNvCxnSpPr/>
          <p:nvPr/>
        </p:nvCxnSpPr>
        <p:spPr>
          <a:xfrm rot="5400000">
            <a:off x="4221956" y="3265247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Straight Connector 170"/>
          <p:cNvCxnSpPr/>
          <p:nvPr/>
        </p:nvCxnSpPr>
        <p:spPr>
          <a:xfrm rot="16200000" flipH="1">
            <a:off x="4221956" y="3336685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Straight Connector 171"/>
          <p:cNvCxnSpPr/>
          <p:nvPr/>
        </p:nvCxnSpPr>
        <p:spPr>
          <a:xfrm rot="5400000">
            <a:off x="4221956" y="3408123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Straight Connector 172"/>
          <p:cNvCxnSpPr/>
          <p:nvPr/>
        </p:nvCxnSpPr>
        <p:spPr>
          <a:xfrm rot="16200000" flipH="1">
            <a:off x="4221957" y="3479561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Straight Connector 174"/>
          <p:cNvCxnSpPr/>
          <p:nvPr/>
        </p:nvCxnSpPr>
        <p:spPr>
          <a:xfrm rot="16200000" flipH="1">
            <a:off x="4221957" y="3622437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Straight Connector 175"/>
          <p:cNvCxnSpPr/>
          <p:nvPr/>
        </p:nvCxnSpPr>
        <p:spPr>
          <a:xfrm rot="5400000">
            <a:off x="4221957" y="3693875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Straight Connector 176"/>
          <p:cNvCxnSpPr/>
          <p:nvPr/>
        </p:nvCxnSpPr>
        <p:spPr>
          <a:xfrm rot="16200000" flipH="1">
            <a:off x="4221957" y="3765313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Straight Connector 177"/>
          <p:cNvCxnSpPr/>
          <p:nvPr/>
        </p:nvCxnSpPr>
        <p:spPr>
          <a:xfrm rot="5400000">
            <a:off x="4221957" y="3836751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Straight Connector 178"/>
          <p:cNvCxnSpPr/>
          <p:nvPr/>
        </p:nvCxnSpPr>
        <p:spPr>
          <a:xfrm rot="16200000" flipH="1">
            <a:off x="4221957" y="3908189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Straight Connector 179"/>
          <p:cNvCxnSpPr/>
          <p:nvPr/>
        </p:nvCxnSpPr>
        <p:spPr>
          <a:xfrm rot="5400000">
            <a:off x="4221957" y="3979627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Straight Connector 180"/>
          <p:cNvCxnSpPr/>
          <p:nvPr/>
        </p:nvCxnSpPr>
        <p:spPr>
          <a:xfrm rot="16200000" flipH="1">
            <a:off x="4221956" y="4051065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Straight Connector 181"/>
          <p:cNvCxnSpPr/>
          <p:nvPr/>
        </p:nvCxnSpPr>
        <p:spPr>
          <a:xfrm rot="5400000">
            <a:off x="4221956" y="4122503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Straight Connector 182"/>
          <p:cNvCxnSpPr/>
          <p:nvPr/>
        </p:nvCxnSpPr>
        <p:spPr>
          <a:xfrm rot="16200000" flipH="1">
            <a:off x="4221956" y="4193941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Straight Connector 183"/>
          <p:cNvCxnSpPr/>
          <p:nvPr/>
        </p:nvCxnSpPr>
        <p:spPr>
          <a:xfrm rot="5400000">
            <a:off x="4221956" y="4265379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Straight Connector 184"/>
          <p:cNvCxnSpPr/>
          <p:nvPr/>
        </p:nvCxnSpPr>
        <p:spPr>
          <a:xfrm rot="16200000" flipH="1">
            <a:off x="4221956" y="4336817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Straight Connector 185"/>
          <p:cNvCxnSpPr/>
          <p:nvPr/>
        </p:nvCxnSpPr>
        <p:spPr>
          <a:xfrm rot="5400000">
            <a:off x="4221956" y="4408255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Straight Connector 186"/>
          <p:cNvCxnSpPr/>
          <p:nvPr/>
        </p:nvCxnSpPr>
        <p:spPr>
          <a:xfrm rot="16200000" flipH="1">
            <a:off x="4221956" y="4479693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Straight Connector 187"/>
          <p:cNvCxnSpPr/>
          <p:nvPr/>
        </p:nvCxnSpPr>
        <p:spPr>
          <a:xfrm rot="5400000">
            <a:off x="4221956" y="4551131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Straight Connector 188"/>
          <p:cNvCxnSpPr/>
          <p:nvPr/>
        </p:nvCxnSpPr>
        <p:spPr>
          <a:xfrm rot="16200000" flipH="1">
            <a:off x="4221955" y="4622569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Straight Connector 189"/>
          <p:cNvCxnSpPr/>
          <p:nvPr/>
        </p:nvCxnSpPr>
        <p:spPr>
          <a:xfrm rot="5400000">
            <a:off x="4221955" y="4694007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Straight Connector 190"/>
          <p:cNvCxnSpPr/>
          <p:nvPr/>
        </p:nvCxnSpPr>
        <p:spPr>
          <a:xfrm rot="16200000" flipH="1">
            <a:off x="4221956" y="4765445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Straight Connector 191"/>
          <p:cNvCxnSpPr/>
          <p:nvPr/>
        </p:nvCxnSpPr>
        <p:spPr>
          <a:xfrm rot="5400000">
            <a:off x="4221956" y="4836883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Straight Connector 192"/>
          <p:cNvCxnSpPr/>
          <p:nvPr/>
        </p:nvCxnSpPr>
        <p:spPr>
          <a:xfrm rot="16200000" flipH="1">
            <a:off x="4221956" y="4908321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Straight Connector 193"/>
          <p:cNvCxnSpPr/>
          <p:nvPr/>
        </p:nvCxnSpPr>
        <p:spPr>
          <a:xfrm rot="5400000">
            <a:off x="4221956" y="4979759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Straight Connector 194"/>
          <p:cNvCxnSpPr/>
          <p:nvPr/>
        </p:nvCxnSpPr>
        <p:spPr>
          <a:xfrm rot="16200000" flipH="1">
            <a:off x="4221956" y="5051197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Straight Connector 195"/>
          <p:cNvCxnSpPr/>
          <p:nvPr/>
        </p:nvCxnSpPr>
        <p:spPr>
          <a:xfrm rot="5400000">
            <a:off x="4221956" y="5122635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Straight Connector 196"/>
          <p:cNvCxnSpPr/>
          <p:nvPr/>
        </p:nvCxnSpPr>
        <p:spPr>
          <a:xfrm rot="16200000" flipH="1">
            <a:off x="4221956" y="5194073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Straight Connector 197"/>
          <p:cNvCxnSpPr/>
          <p:nvPr/>
        </p:nvCxnSpPr>
        <p:spPr>
          <a:xfrm rot="5400000">
            <a:off x="4221956" y="5265511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Straight Connector 198"/>
          <p:cNvCxnSpPr/>
          <p:nvPr/>
        </p:nvCxnSpPr>
        <p:spPr>
          <a:xfrm rot="16200000" flipH="1">
            <a:off x="4221955" y="5336949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Straight Connector 199"/>
          <p:cNvCxnSpPr/>
          <p:nvPr/>
        </p:nvCxnSpPr>
        <p:spPr>
          <a:xfrm rot="5400000">
            <a:off x="4221955" y="5408387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Straight Connector 200"/>
          <p:cNvCxnSpPr/>
          <p:nvPr/>
        </p:nvCxnSpPr>
        <p:spPr>
          <a:xfrm rot="16200000" flipH="1">
            <a:off x="4221955" y="5479825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Straight Connector 201"/>
          <p:cNvCxnSpPr/>
          <p:nvPr/>
        </p:nvCxnSpPr>
        <p:spPr>
          <a:xfrm rot="5400000">
            <a:off x="4221955" y="5551263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Straight Connector 202"/>
          <p:cNvCxnSpPr/>
          <p:nvPr/>
        </p:nvCxnSpPr>
        <p:spPr>
          <a:xfrm rot="16200000" flipH="1">
            <a:off x="4221955" y="5622701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Straight Connector 203"/>
          <p:cNvCxnSpPr/>
          <p:nvPr/>
        </p:nvCxnSpPr>
        <p:spPr>
          <a:xfrm rot="5400000">
            <a:off x="4221955" y="5694139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Straight Connector 204"/>
          <p:cNvCxnSpPr/>
          <p:nvPr/>
        </p:nvCxnSpPr>
        <p:spPr>
          <a:xfrm rot="16200000" flipH="1">
            <a:off x="4221955" y="5765577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Straight Connector 206"/>
          <p:cNvCxnSpPr/>
          <p:nvPr/>
        </p:nvCxnSpPr>
        <p:spPr>
          <a:xfrm rot="10800000">
            <a:off x="8008171" y="5837016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Straight Connector 207"/>
          <p:cNvCxnSpPr/>
          <p:nvPr/>
        </p:nvCxnSpPr>
        <p:spPr>
          <a:xfrm flipH="1">
            <a:off x="7936733" y="5837016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" name="Straight Connector 208"/>
          <p:cNvCxnSpPr/>
          <p:nvPr/>
        </p:nvCxnSpPr>
        <p:spPr>
          <a:xfrm rot="10800000">
            <a:off x="7865295" y="5837016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Straight Connector 209"/>
          <p:cNvCxnSpPr/>
          <p:nvPr/>
        </p:nvCxnSpPr>
        <p:spPr>
          <a:xfrm flipH="1">
            <a:off x="7793857" y="5837016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" name="Straight Connector 210"/>
          <p:cNvCxnSpPr/>
          <p:nvPr/>
        </p:nvCxnSpPr>
        <p:spPr>
          <a:xfrm rot="10800000">
            <a:off x="7722419" y="5837016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Straight Connector 211"/>
          <p:cNvCxnSpPr/>
          <p:nvPr/>
        </p:nvCxnSpPr>
        <p:spPr>
          <a:xfrm flipH="1">
            <a:off x="7650981" y="5837016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Straight Connector 212"/>
          <p:cNvCxnSpPr/>
          <p:nvPr/>
        </p:nvCxnSpPr>
        <p:spPr>
          <a:xfrm rot="10800000">
            <a:off x="7579543" y="5837016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Straight Connector 213"/>
          <p:cNvCxnSpPr/>
          <p:nvPr/>
        </p:nvCxnSpPr>
        <p:spPr>
          <a:xfrm flipH="1">
            <a:off x="7508105" y="5837016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Straight Connector 214"/>
          <p:cNvCxnSpPr/>
          <p:nvPr/>
        </p:nvCxnSpPr>
        <p:spPr>
          <a:xfrm rot="10800000">
            <a:off x="7436667" y="5837015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Straight Connector 215"/>
          <p:cNvCxnSpPr/>
          <p:nvPr/>
        </p:nvCxnSpPr>
        <p:spPr>
          <a:xfrm flipH="1">
            <a:off x="7365229" y="5837015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7" name="Straight Connector 216"/>
          <p:cNvCxnSpPr/>
          <p:nvPr/>
        </p:nvCxnSpPr>
        <p:spPr>
          <a:xfrm rot="10800000">
            <a:off x="7293791" y="5837015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Straight Connector 217"/>
          <p:cNvCxnSpPr/>
          <p:nvPr/>
        </p:nvCxnSpPr>
        <p:spPr>
          <a:xfrm flipH="1">
            <a:off x="7222353" y="5837015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Straight Connector 218"/>
          <p:cNvCxnSpPr/>
          <p:nvPr/>
        </p:nvCxnSpPr>
        <p:spPr>
          <a:xfrm rot="10800000">
            <a:off x="7150915" y="5837015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Straight Connector 219"/>
          <p:cNvCxnSpPr/>
          <p:nvPr/>
        </p:nvCxnSpPr>
        <p:spPr>
          <a:xfrm flipH="1">
            <a:off x="7079477" y="5837015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Straight Connector 220"/>
          <p:cNvCxnSpPr/>
          <p:nvPr/>
        </p:nvCxnSpPr>
        <p:spPr>
          <a:xfrm rot="10800000">
            <a:off x="7008039" y="5837015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Straight Connector 221"/>
          <p:cNvCxnSpPr/>
          <p:nvPr/>
        </p:nvCxnSpPr>
        <p:spPr>
          <a:xfrm flipH="1">
            <a:off x="6936601" y="5837015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" name="Straight Connector 222"/>
          <p:cNvCxnSpPr/>
          <p:nvPr/>
        </p:nvCxnSpPr>
        <p:spPr>
          <a:xfrm rot="10800000">
            <a:off x="6865163" y="5837017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Straight Connector 223"/>
          <p:cNvCxnSpPr/>
          <p:nvPr/>
        </p:nvCxnSpPr>
        <p:spPr>
          <a:xfrm flipH="1">
            <a:off x="6793725" y="5837017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Straight Connector 224"/>
          <p:cNvCxnSpPr/>
          <p:nvPr/>
        </p:nvCxnSpPr>
        <p:spPr>
          <a:xfrm rot="10800000">
            <a:off x="6722287" y="5837017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" name="Straight Connector 225"/>
          <p:cNvCxnSpPr/>
          <p:nvPr/>
        </p:nvCxnSpPr>
        <p:spPr>
          <a:xfrm flipH="1">
            <a:off x="6650849" y="5837017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" name="Straight Connector 226"/>
          <p:cNvCxnSpPr/>
          <p:nvPr/>
        </p:nvCxnSpPr>
        <p:spPr>
          <a:xfrm rot="10800000">
            <a:off x="6579411" y="5837017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" name="Straight Connector 227"/>
          <p:cNvCxnSpPr/>
          <p:nvPr/>
        </p:nvCxnSpPr>
        <p:spPr>
          <a:xfrm flipH="1">
            <a:off x="6507973" y="5837017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" name="Straight Connector 228"/>
          <p:cNvCxnSpPr/>
          <p:nvPr/>
        </p:nvCxnSpPr>
        <p:spPr>
          <a:xfrm rot="10800000">
            <a:off x="6436535" y="5837017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Straight Connector 229"/>
          <p:cNvCxnSpPr/>
          <p:nvPr/>
        </p:nvCxnSpPr>
        <p:spPr>
          <a:xfrm flipH="1">
            <a:off x="6365097" y="5837017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" name="Straight Connector 230"/>
          <p:cNvCxnSpPr/>
          <p:nvPr/>
        </p:nvCxnSpPr>
        <p:spPr>
          <a:xfrm rot="10800000">
            <a:off x="6293659" y="5837016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" name="Straight Connector 231"/>
          <p:cNvCxnSpPr/>
          <p:nvPr/>
        </p:nvCxnSpPr>
        <p:spPr>
          <a:xfrm flipH="1">
            <a:off x="6222221" y="5837016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" name="Straight Connector 232"/>
          <p:cNvCxnSpPr/>
          <p:nvPr/>
        </p:nvCxnSpPr>
        <p:spPr>
          <a:xfrm rot="10800000">
            <a:off x="6150783" y="5837016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Straight Connector 233"/>
          <p:cNvCxnSpPr/>
          <p:nvPr/>
        </p:nvCxnSpPr>
        <p:spPr>
          <a:xfrm flipH="1">
            <a:off x="6079345" y="5837016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Straight Connector 234"/>
          <p:cNvCxnSpPr/>
          <p:nvPr/>
        </p:nvCxnSpPr>
        <p:spPr>
          <a:xfrm rot="10800000">
            <a:off x="6007907" y="5837016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" name="Straight Connector 235"/>
          <p:cNvCxnSpPr/>
          <p:nvPr/>
        </p:nvCxnSpPr>
        <p:spPr>
          <a:xfrm flipH="1">
            <a:off x="5936469" y="5837016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7" name="Straight Connector 236"/>
          <p:cNvCxnSpPr/>
          <p:nvPr/>
        </p:nvCxnSpPr>
        <p:spPr>
          <a:xfrm rot="10800000">
            <a:off x="5865031" y="5837016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" name="Straight Connector 237"/>
          <p:cNvCxnSpPr/>
          <p:nvPr/>
        </p:nvCxnSpPr>
        <p:spPr>
          <a:xfrm flipH="1">
            <a:off x="5793593" y="5837016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9" name="Straight Connector 238"/>
          <p:cNvCxnSpPr/>
          <p:nvPr/>
        </p:nvCxnSpPr>
        <p:spPr>
          <a:xfrm rot="10800000">
            <a:off x="5722155" y="5837017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0" name="Straight Connector 239"/>
          <p:cNvCxnSpPr/>
          <p:nvPr/>
        </p:nvCxnSpPr>
        <p:spPr>
          <a:xfrm flipH="1">
            <a:off x="5650717" y="5837017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1" name="Straight Connector 240"/>
          <p:cNvCxnSpPr/>
          <p:nvPr/>
        </p:nvCxnSpPr>
        <p:spPr>
          <a:xfrm rot="10800000">
            <a:off x="5579279" y="5837017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2" name="Straight Connector 241"/>
          <p:cNvCxnSpPr/>
          <p:nvPr/>
        </p:nvCxnSpPr>
        <p:spPr>
          <a:xfrm flipH="1">
            <a:off x="5507841" y="5837017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3" name="Straight Connector 242"/>
          <p:cNvCxnSpPr/>
          <p:nvPr/>
        </p:nvCxnSpPr>
        <p:spPr>
          <a:xfrm rot="10800000">
            <a:off x="5436403" y="5837017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4" name="Straight Connector 243"/>
          <p:cNvCxnSpPr/>
          <p:nvPr/>
        </p:nvCxnSpPr>
        <p:spPr>
          <a:xfrm flipH="1">
            <a:off x="5364965" y="5837017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5" name="Straight Connector 244"/>
          <p:cNvCxnSpPr/>
          <p:nvPr/>
        </p:nvCxnSpPr>
        <p:spPr>
          <a:xfrm rot="10800000">
            <a:off x="5293527" y="5837017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" name="Straight Connector 245"/>
          <p:cNvCxnSpPr/>
          <p:nvPr/>
        </p:nvCxnSpPr>
        <p:spPr>
          <a:xfrm flipH="1">
            <a:off x="5222089" y="5837017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" name="Straight Connector 246"/>
          <p:cNvCxnSpPr/>
          <p:nvPr/>
        </p:nvCxnSpPr>
        <p:spPr>
          <a:xfrm rot="10800000">
            <a:off x="5150651" y="5837016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8" name="Straight Connector 247"/>
          <p:cNvCxnSpPr/>
          <p:nvPr/>
        </p:nvCxnSpPr>
        <p:spPr>
          <a:xfrm flipH="1">
            <a:off x="5079213" y="5837016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9" name="Straight Connector 248"/>
          <p:cNvCxnSpPr/>
          <p:nvPr/>
        </p:nvCxnSpPr>
        <p:spPr>
          <a:xfrm rot="10800000">
            <a:off x="5007775" y="5837016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" name="Straight Connector 249"/>
          <p:cNvCxnSpPr/>
          <p:nvPr/>
        </p:nvCxnSpPr>
        <p:spPr>
          <a:xfrm flipH="1">
            <a:off x="4936337" y="5837016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1" name="Straight Connector 250"/>
          <p:cNvCxnSpPr/>
          <p:nvPr/>
        </p:nvCxnSpPr>
        <p:spPr>
          <a:xfrm rot="10800000">
            <a:off x="4864899" y="5837016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2" name="Straight Connector 251"/>
          <p:cNvCxnSpPr/>
          <p:nvPr/>
        </p:nvCxnSpPr>
        <p:spPr>
          <a:xfrm flipH="1">
            <a:off x="4793461" y="5837016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3" name="Straight Connector 252"/>
          <p:cNvCxnSpPr/>
          <p:nvPr/>
        </p:nvCxnSpPr>
        <p:spPr>
          <a:xfrm rot="10800000">
            <a:off x="4722023" y="5837016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4" name="Straight Connector 253"/>
          <p:cNvCxnSpPr/>
          <p:nvPr/>
        </p:nvCxnSpPr>
        <p:spPr>
          <a:xfrm flipH="1">
            <a:off x="4650585" y="5837016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5" name="Straight Connector 254"/>
          <p:cNvCxnSpPr/>
          <p:nvPr/>
        </p:nvCxnSpPr>
        <p:spPr>
          <a:xfrm rot="10800000">
            <a:off x="4579147" y="5837015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Straight Connector 255"/>
          <p:cNvCxnSpPr/>
          <p:nvPr/>
        </p:nvCxnSpPr>
        <p:spPr>
          <a:xfrm flipH="1">
            <a:off x="4507709" y="5837015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7" name="Straight Connector 256"/>
          <p:cNvCxnSpPr/>
          <p:nvPr/>
        </p:nvCxnSpPr>
        <p:spPr>
          <a:xfrm rot="10800000">
            <a:off x="4436271" y="5837016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8" name="Straight Connector 257"/>
          <p:cNvCxnSpPr/>
          <p:nvPr/>
        </p:nvCxnSpPr>
        <p:spPr>
          <a:xfrm flipH="1">
            <a:off x="4364833" y="5837016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9" name="Straight Connector 258"/>
          <p:cNvCxnSpPr/>
          <p:nvPr/>
        </p:nvCxnSpPr>
        <p:spPr>
          <a:xfrm rot="10800000">
            <a:off x="4293395" y="5837016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6" name="Straight Connector 275"/>
          <p:cNvCxnSpPr/>
          <p:nvPr/>
        </p:nvCxnSpPr>
        <p:spPr>
          <a:xfrm flipH="1">
            <a:off x="8079608" y="5837015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8" name="Rectangle 277"/>
          <p:cNvSpPr/>
          <p:nvPr/>
        </p:nvSpPr>
        <p:spPr>
          <a:xfrm>
            <a:off x="5865030" y="1479300"/>
            <a:ext cx="276228" cy="276228"/>
          </a:xfrm>
          <a:prstGeom prst="rect">
            <a:avLst/>
          </a:prstGeom>
          <a:solidFill>
            <a:srgbClr val="FFCD78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9" name="Rectangle 278"/>
          <p:cNvSpPr/>
          <p:nvPr/>
        </p:nvSpPr>
        <p:spPr>
          <a:xfrm>
            <a:off x="5865030" y="1846014"/>
            <a:ext cx="276228" cy="276228"/>
          </a:xfrm>
          <a:prstGeom prst="rect">
            <a:avLst/>
          </a:prstGeom>
          <a:solidFill>
            <a:srgbClr val="FFCD78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0" name="Rectangle 279"/>
          <p:cNvSpPr/>
          <p:nvPr/>
        </p:nvSpPr>
        <p:spPr>
          <a:xfrm>
            <a:off x="6231744" y="1479300"/>
            <a:ext cx="276228" cy="276228"/>
          </a:xfrm>
          <a:prstGeom prst="rect">
            <a:avLst/>
          </a:prstGeom>
          <a:solidFill>
            <a:srgbClr val="FFCD78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1" name="Rectangle 280"/>
          <p:cNvSpPr/>
          <p:nvPr/>
        </p:nvSpPr>
        <p:spPr>
          <a:xfrm>
            <a:off x="6231744" y="1836490"/>
            <a:ext cx="276228" cy="276228"/>
          </a:xfrm>
          <a:prstGeom prst="rect">
            <a:avLst/>
          </a:prstGeom>
          <a:solidFill>
            <a:srgbClr val="FFCD78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2" name="Rectangle 281"/>
          <p:cNvSpPr/>
          <p:nvPr/>
        </p:nvSpPr>
        <p:spPr>
          <a:xfrm>
            <a:off x="5865030" y="2193680"/>
            <a:ext cx="276228" cy="276228"/>
          </a:xfrm>
          <a:prstGeom prst="rect">
            <a:avLst/>
          </a:prstGeom>
          <a:solidFill>
            <a:srgbClr val="FFCD78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3" name="Rectangle 282"/>
          <p:cNvSpPr/>
          <p:nvPr/>
        </p:nvSpPr>
        <p:spPr>
          <a:xfrm>
            <a:off x="5865030" y="2560394"/>
            <a:ext cx="276228" cy="276228"/>
          </a:xfrm>
          <a:prstGeom prst="rect">
            <a:avLst/>
          </a:prstGeom>
          <a:solidFill>
            <a:srgbClr val="FFCD78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4" name="Rectangle 283"/>
          <p:cNvSpPr/>
          <p:nvPr/>
        </p:nvSpPr>
        <p:spPr>
          <a:xfrm>
            <a:off x="6231744" y="2193680"/>
            <a:ext cx="276228" cy="276228"/>
          </a:xfrm>
          <a:prstGeom prst="rect">
            <a:avLst/>
          </a:prstGeom>
          <a:solidFill>
            <a:srgbClr val="FFCD78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5" name="Rectangle 284"/>
          <p:cNvSpPr/>
          <p:nvPr/>
        </p:nvSpPr>
        <p:spPr>
          <a:xfrm>
            <a:off x="6231744" y="2550870"/>
            <a:ext cx="276228" cy="276228"/>
          </a:xfrm>
          <a:prstGeom prst="rect">
            <a:avLst/>
          </a:prstGeom>
          <a:solidFill>
            <a:srgbClr val="FFCD78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6" name="Rectangle 285"/>
          <p:cNvSpPr/>
          <p:nvPr/>
        </p:nvSpPr>
        <p:spPr>
          <a:xfrm>
            <a:off x="5865030" y="2908060"/>
            <a:ext cx="276228" cy="276228"/>
          </a:xfrm>
          <a:prstGeom prst="rect">
            <a:avLst/>
          </a:prstGeom>
          <a:solidFill>
            <a:srgbClr val="FFCD78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7" name="Rectangle 286"/>
          <p:cNvSpPr/>
          <p:nvPr/>
        </p:nvSpPr>
        <p:spPr>
          <a:xfrm>
            <a:off x="5865030" y="3274774"/>
            <a:ext cx="276228" cy="276228"/>
          </a:xfrm>
          <a:prstGeom prst="rect">
            <a:avLst/>
          </a:prstGeom>
          <a:solidFill>
            <a:srgbClr val="FFCD78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8" name="Rectangle 287"/>
          <p:cNvSpPr/>
          <p:nvPr/>
        </p:nvSpPr>
        <p:spPr>
          <a:xfrm>
            <a:off x="6231744" y="2908060"/>
            <a:ext cx="276228" cy="276228"/>
          </a:xfrm>
          <a:prstGeom prst="rect">
            <a:avLst/>
          </a:prstGeom>
          <a:solidFill>
            <a:srgbClr val="FFCD78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9" name="Rectangle 288"/>
          <p:cNvSpPr/>
          <p:nvPr/>
        </p:nvSpPr>
        <p:spPr>
          <a:xfrm>
            <a:off x="6231744" y="3265250"/>
            <a:ext cx="276228" cy="276228"/>
          </a:xfrm>
          <a:prstGeom prst="rect">
            <a:avLst/>
          </a:prstGeom>
          <a:solidFill>
            <a:srgbClr val="FFCD78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0" name="Rectangle 289"/>
          <p:cNvSpPr/>
          <p:nvPr/>
        </p:nvSpPr>
        <p:spPr>
          <a:xfrm>
            <a:off x="5865030" y="3622440"/>
            <a:ext cx="276228" cy="276228"/>
          </a:xfrm>
          <a:prstGeom prst="rect">
            <a:avLst/>
          </a:prstGeom>
          <a:solidFill>
            <a:srgbClr val="FFCD78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1" name="Rectangle 290"/>
          <p:cNvSpPr/>
          <p:nvPr/>
        </p:nvSpPr>
        <p:spPr>
          <a:xfrm>
            <a:off x="5865030" y="3989154"/>
            <a:ext cx="276228" cy="276228"/>
          </a:xfrm>
          <a:prstGeom prst="rect">
            <a:avLst/>
          </a:prstGeom>
          <a:solidFill>
            <a:srgbClr val="FFCD78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2" name="Rectangle 291"/>
          <p:cNvSpPr/>
          <p:nvPr/>
        </p:nvSpPr>
        <p:spPr>
          <a:xfrm>
            <a:off x="6231744" y="3622440"/>
            <a:ext cx="276228" cy="276228"/>
          </a:xfrm>
          <a:prstGeom prst="rect">
            <a:avLst/>
          </a:prstGeom>
          <a:solidFill>
            <a:srgbClr val="FFCD78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3" name="Rectangle 292"/>
          <p:cNvSpPr/>
          <p:nvPr/>
        </p:nvSpPr>
        <p:spPr>
          <a:xfrm>
            <a:off x="6231744" y="3979630"/>
            <a:ext cx="276228" cy="276228"/>
          </a:xfrm>
          <a:prstGeom prst="rect">
            <a:avLst/>
          </a:prstGeom>
          <a:solidFill>
            <a:srgbClr val="FFCD78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4" name="Rectangle 293"/>
          <p:cNvSpPr/>
          <p:nvPr/>
        </p:nvSpPr>
        <p:spPr>
          <a:xfrm>
            <a:off x="5865030" y="4336820"/>
            <a:ext cx="276228" cy="276228"/>
          </a:xfrm>
          <a:prstGeom prst="rect">
            <a:avLst/>
          </a:prstGeom>
          <a:solidFill>
            <a:srgbClr val="FFCD78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5" name="Rectangle 294"/>
          <p:cNvSpPr/>
          <p:nvPr/>
        </p:nvSpPr>
        <p:spPr>
          <a:xfrm>
            <a:off x="5865030" y="4703534"/>
            <a:ext cx="276228" cy="276228"/>
          </a:xfrm>
          <a:prstGeom prst="rect">
            <a:avLst/>
          </a:prstGeom>
          <a:solidFill>
            <a:srgbClr val="FFCD78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6" name="Rectangle 295"/>
          <p:cNvSpPr/>
          <p:nvPr/>
        </p:nvSpPr>
        <p:spPr>
          <a:xfrm>
            <a:off x="6231744" y="4336820"/>
            <a:ext cx="276228" cy="276228"/>
          </a:xfrm>
          <a:prstGeom prst="rect">
            <a:avLst/>
          </a:prstGeom>
          <a:solidFill>
            <a:srgbClr val="FFCD78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7" name="Rectangle 296"/>
          <p:cNvSpPr/>
          <p:nvPr/>
        </p:nvSpPr>
        <p:spPr>
          <a:xfrm>
            <a:off x="6231744" y="4694010"/>
            <a:ext cx="276228" cy="276228"/>
          </a:xfrm>
          <a:prstGeom prst="rect">
            <a:avLst/>
          </a:prstGeom>
          <a:solidFill>
            <a:srgbClr val="FFCD78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8" name="Rectangle 297"/>
          <p:cNvSpPr/>
          <p:nvPr/>
        </p:nvSpPr>
        <p:spPr>
          <a:xfrm>
            <a:off x="5865030" y="5051200"/>
            <a:ext cx="276228" cy="276228"/>
          </a:xfrm>
          <a:prstGeom prst="rect">
            <a:avLst/>
          </a:prstGeom>
          <a:solidFill>
            <a:srgbClr val="FFCD78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9" name="Rectangle 298"/>
          <p:cNvSpPr/>
          <p:nvPr/>
        </p:nvSpPr>
        <p:spPr>
          <a:xfrm>
            <a:off x="6231744" y="5051200"/>
            <a:ext cx="276228" cy="276228"/>
          </a:xfrm>
          <a:prstGeom prst="rect">
            <a:avLst/>
          </a:prstGeom>
          <a:solidFill>
            <a:srgbClr val="FFCD78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0" name="Rectangle 299"/>
          <p:cNvSpPr/>
          <p:nvPr/>
        </p:nvSpPr>
        <p:spPr>
          <a:xfrm>
            <a:off x="5865030" y="5417914"/>
            <a:ext cx="276228" cy="276228"/>
          </a:xfrm>
          <a:prstGeom prst="rect">
            <a:avLst/>
          </a:prstGeom>
          <a:solidFill>
            <a:srgbClr val="FFCD78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1" name="Rectangle 300"/>
          <p:cNvSpPr/>
          <p:nvPr/>
        </p:nvSpPr>
        <p:spPr>
          <a:xfrm>
            <a:off x="6231744" y="5417914"/>
            <a:ext cx="276228" cy="276228"/>
          </a:xfrm>
          <a:prstGeom prst="rect">
            <a:avLst/>
          </a:prstGeom>
          <a:solidFill>
            <a:srgbClr val="FFCD78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2" name="Rectangle 301"/>
          <p:cNvSpPr/>
          <p:nvPr/>
        </p:nvSpPr>
        <p:spPr>
          <a:xfrm>
            <a:off x="7293790" y="1479300"/>
            <a:ext cx="276228" cy="276228"/>
          </a:xfrm>
          <a:prstGeom prst="rect">
            <a:avLst/>
          </a:prstGeom>
          <a:solidFill>
            <a:srgbClr val="FFCD78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3" name="Rectangle 302"/>
          <p:cNvSpPr/>
          <p:nvPr/>
        </p:nvSpPr>
        <p:spPr>
          <a:xfrm>
            <a:off x="7293790" y="1846014"/>
            <a:ext cx="276228" cy="276228"/>
          </a:xfrm>
          <a:prstGeom prst="rect">
            <a:avLst/>
          </a:prstGeom>
          <a:solidFill>
            <a:srgbClr val="FFCD78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4" name="Rectangle 303"/>
          <p:cNvSpPr/>
          <p:nvPr/>
        </p:nvSpPr>
        <p:spPr>
          <a:xfrm>
            <a:off x="7660504" y="1479300"/>
            <a:ext cx="276228" cy="276228"/>
          </a:xfrm>
          <a:prstGeom prst="rect">
            <a:avLst/>
          </a:prstGeom>
          <a:solidFill>
            <a:srgbClr val="FFCD78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5" name="Rectangle 304"/>
          <p:cNvSpPr/>
          <p:nvPr/>
        </p:nvSpPr>
        <p:spPr>
          <a:xfrm>
            <a:off x="7660504" y="1836490"/>
            <a:ext cx="276228" cy="276228"/>
          </a:xfrm>
          <a:prstGeom prst="rect">
            <a:avLst/>
          </a:prstGeom>
          <a:solidFill>
            <a:srgbClr val="FFCD78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6" name="Rectangle 305"/>
          <p:cNvSpPr/>
          <p:nvPr/>
        </p:nvSpPr>
        <p:spPr>
          <a:xfrm>
            <a:off x="7293790" y="2193680"/>
            <a:ext cx="276228" cy="276228"/>
          </a:xfrm>
          <a:prstGeom prst="rect">
            <a:avLst/>
          </a:prstGeom>
          <a:solidFill>
            <a:srgbClr val="FFCD78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7" name="Rectangle 306"/>
          <p:cNvSpPr/>
          <p:nvPr/>
        </p:nvSpPr>
        <p:spPr>
          <a:xfrm>
            <a:off x="7293790" y="2560394"/>
            <a:ext cx="276228" cy="276228"/>
          </a:xfrm>
          <a:prstGeom prst="rect">
            <a:avLst/>
          </a:prstGeom>
          <a:solidFill>
            <a:srgbClr val="FFCD78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8" name="Rectangle 307"/>
          <p:cNvSpPr/>
          <p:nvPr/>
        </p:nvSpPr>
        <p:spPr>
          <a:xfrm>
            <a:off x="7660504" y="2193680"/>
            <a:ext cx="276228" cy="276228"/>
          </a:xfrm>
          <a:prstGeom prst="rect">
            <a:avLst/>
          </a:prstGeom>
          <a:solidFill>
            <a:srgbClr val="FFCD78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9" name="Rectangle 308"/>
          <p:cNvSpPr/>
          <p:nvPr/>
        </p:nvSpPr>
        <p:spPr>
          <a:xfrm>
            <a:off x="7660504" y="2550870"/>
            <a:ext cx="276228" cy="276228"/>
          </a:xfrm>
          <a:prstGeom prst="rect">
            <a:avLst/>
          </a:prstGeom>
          <a:solidFill>
            <a:srgbClr val="FFCD78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0" name="Rectangle 309"/>
          <p:cNvSpPr/>
          <p:nvPr/>
        </p:nvSpPr>
        <p:spPr>
          <a:xfrm>
            <a:off x="7293790" y="2908060"/>
            <a:ext cx="276228" cy="276228"/>
          </a:xfrm>
          <a:prstGeom prst="rect">
            <a:avLst/>
          </a:prstGeom>
          <a:solidFill>
            <a:srgbClr val="FFCD78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1" name="Rectangle 310"/>
          <p:cNvSpPr/>
          <p:nvPr/>
        </p:nvSpPr>
        <p:spPr>
          <a:xfrm>
            <a:off x="7293790" y="3274774"/>
            <a:ext cx="276228" cy="276228"/>
          </a:xfrm>
          <a:prstGeom prst="rect">
            <a:avLst/>
          </a:prstGeom>
          <a:solidFill>
            <a:srgbClr val="FFCD78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2" name="Rectangle 311"/>
          <p:cNvSpPr/>
          <p:nvPr/>
        </p:nvSpPr>
        <p:spPr>
          <a:xfrm>
            <a:off x="7660504" y="2908060"/>
            <a:ext cx="276228" cy="276228"/>
          </a:xfrm>
          <a:prstGeom prst="rect">
            <a:avLst/>
          </a:prstGeom>
          <a:solidFill>
            <a:srgbClr val="FFCD78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3" name="Rectangle 312"/>
          <p:cNvSpPr/>
          <p:nvPr/>
        </p:nvSpPr>
        <p:spPr>
          <a:xfrm>
            <a:off x="7660504" y="3265250"/>
            <a:ext cx="276228" cy="276228"/>
          </a:xfrm>
          <a:prstGeom prst="rect">
            <a:avLst/>
          </a:prstGeom>
          <a:solidFill>
            <a:srgbClr val="FFCD78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4" name="Rectangle 313"/>
          <p:cNvSpPr/>
          <p:nvPr/>
        </p:nvSpPr>
        <p:spPr>
          <a:xfrm>
            <a:off x="7293790" y="3622440"/>
            <a:ext cx="276228" cy="276228"/>
          </a:xfrm>
          <a:prstGeom prst="rect">
            <a:avLst/>
          </a:prstGeom>
          <a:solidFill>
            <a:srgbClr val="FFCD78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5" name="Rectangle 314"/>
          <p:cNvSpPr/>
          <p:nvPr/>
        </p:nvSpPr>
        <p:spPr>
          <a:xfrm>
            <a:off x="7293790" y="3989154"/>
            <a:ext cx="276228" cy="276228"/>
          </a:xfrm>
          <a:prstGeom prst="rect">
            <a:avLst/>
          </a:prstGeom>
          <a:solidFill>
            <a:srgbClr val="FFCD78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6" name="Rectangle 315"/>
          <p:cNvSpPr/>
          <p:nvPr/>
        </p:nvSpPr>
        <p:spPr>
          <a:xfrm>
            <a:off x="7660504" y="3622440"/>
            <a:ext cx="276228" cy="276228"/>
          </a:xfrm>
          <a:prstGeom prst="rect">
            <a:avLst/>
          </a:prstGeom>
          <a:solidFill>
            <a:srgbClr val="FFCD78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7" name="Rectangle 316"/>
          <p:cNvSpPr/>
          <p:nvPr/>
        </p:nvSpPr>
        <p:spPr>
          <a:xfrm>
            <a:off x="7660504" y="3979630"/>
            <a:ext cx="276228" cy="276228"/>
          </a:xfrm>
          <a:prstGeom prst="rect">
            <a:avLst/>
          </a:prstGeom>
          <a:solidFill>
            <a:srgbClr val="FFCD78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8" name="Rectangle 317"/>
          <p:cNvSpPr/>
          <p:nvPr/>
        </p:nvSpPr>
        <p:spPr>
          <a:xfrm>
            <a:off x="7293790" y="4336820"/>
            <a:ext cx="276228" cy="276228"/>
          </a:xfrm>
          <a:prstGeom prst="rect">
            <a:avLst/>
          </a:prstGeom>
          <a:solidFill>
            <a:srgbClr val="FFCD78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9" name="Rectangle 318"/>
          <p:cNvSpPr/>
          <p:nvPr/>
        </p:nvSpPr>
        <p:spPr>
          <a:xfrm>
            <a:off x="7293790" y="4703534"/>
            <a:ext cx="276228" cy="276228"/>
          </a:xfrm>
          <a:prstGeom prst="rect">
            <a:avLst/>
          </a:prstGeom>
          <a:solidFill>
            <a:srgbClr val="FFCD78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0" name="Rectangle 319"/>
          <p:cNvSpPr/>
          <p:nvPr/>
        </p:nvSpPr>
        <p:spPr>
          <a:xfrm>
            <a:off x="7660504" y="4336820"/>
            <a:ext cx="276228" cy="276228"/>
          </a:xfrm>
          <a:prstGeom prst="rect">
            <a:avLst/>
          </a:prstGeom>
          <a:solidFill>
            <a:srgbClr val="FFCD78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1" name="Rectangle 320"/>
          <p:cNvSpPr/>
          <p:nvPr/>
        </p:nvSpPr>
        <p:spPr>
          <a:xfrm>
            <a:off x="7660504" y="4694010"/>
            <a:ext cx="276228" cy="276228"/>
          </a:xfrm>
          <a:prstGeom prst="rect">
            <a:avLst/>
          </a:prstGeom>
          <a:solidFill>
            <a:srgbClr val="FFCD78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2" name="Rectangle 321"/>
          <p:cNvSpPr/>
          <p:nvPr/>
        </p:nvSpPr>
        <p:spPr>
          <a:xfrm>
            <a:off x="7293790" y="5051200"/>
            <a:ext cx="276228" cy="276228"/>
          </a:xfrm>
          <a:prstGeom prst="rect">
            <a:avLst/>
          </a:prstGeom>
          <a:solidFill>
            <a:srgbClr val="FFCD78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3" name="Rectangle 322"/>
          <p:cNvSpPr/>
          <p:nvPr/>
        </p:nvSpPr>
        <p:spPr>
          <a:xfrm>
            <a:off x="7660504" y="5051200"/>
            <a:ext cx="276228" cy="276228"/>
          </a:xfrm>
          <a:prstGeom prst="rect">
            <a:avLst/>
          </a:prstGeom>
          <a:solidFill>
            <a:srgbClr val="FFCD78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4" name="Rectangle 323"/>
          <p:cNvSpPr/>
          <p:nvPr/>
        </p:nvSpPr>
        <p:spPr>
          <a:xfrm>
            <a:off x="7293790" y="5417914"/>
            <a:ext cx="276228" cy="276228"/>
          </a:xfrm>
          <a:prstGeom prst="rect">
            <a:avLst/>
          </a:prstGeom>
          <a:solidFill>
            <a:srgbClr val="FFCD78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5" name="Rectangle 324"/>
          <p:cNvSpPr/>
          <p:nvPr/>
        </p:nvSpPr>
        <p:spPr>
          <a:xfrm>
            <a:off x="7660504" y="5417914"/>
            <a:ext cx="276228" cy="276228"/>
          </a:xfrm>
          <a:prstGeom prst="rect">
            <a:avLst/>
          </a:prstGeom>
          <a:solidFill>
            <a:srgbClr val="FFCD78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7" name="Rectangle 326"/>
          <p:cNvSpPr/>
          <p:nvPr/>
        </p:nvSpPr>
        <p:spPr>
          <a:xfrm>
            <a:off x="8008170" y="1479300"/>
            <a:ext cx="71438" cy="276228"/>
          </a:xfrm>
          <a:prstGeom prst="rect">
            <a:avLst/>
          </a:prstGeom>
          <a:solidFill>
            <a:schemeClr val="accent5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8" name="Rectangle 327"/>
          <p:cNvSpPr/>
          <p:nvPr/>
        </p:nvSpPr>
        <p:spPr>
          <a:xfrm>
            <a:off x="8008170" y="1836490"/>
            <a:ext cx="71438" cy="276228"/>
          </a:xfrm>
          <a:prstGeom prst="rect">
            <a:avLst/>
          </a:prstGeom>
          <a:solidFill>
            <a:schemeClr val="accent5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9" name="Rectangle 328"/>
          <p:cNvSpPr/>
          <p:nvPr/>
        </p:nvSpPr>
        <p:spPr>
          <a:xfrm>
            <a:off x="8008170" y="2193680"/>
            <a:ext cx="71438" cy="276228"/>
          </a:xfrm>
          <a:prstGeom prst="rect">
            <a:avLst/>
          </a:prstGeom>
          <a:solidFill>
            <a:schemeClr val="accent5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0" name="Rectangle 329"/>
          <p:cNvSpPr/>
          <p:nvPr/>
        </p:nvSpPr>
        <p:spPr>
          <a:xfrm>
            <a:off x="8008170" y="2550870"/>
            <a:ext cx="71438" cy="276228"/>
          </a:xfrm>
          <a:prstGeom prst="rect">
            <a:avLst/>
          </a:prstGeom>
          <a:solidFill>
            <a:schemeClr val="accent5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1" name="Rectangle 330"/>
          <p:cNvSpPr/>
          <p:nvPr/>
        </p:nvSpPr>
        <p:spPr>
          <a:xfrm>
            <a:off x="8008170" y="2908060"/>
            <a:ext cx="71438" cy="276228"/>
          </a:xfrm>
          <a:prstGeom prst="rect">
            <a:avLst/>
          </a:prstGeom>
          <a:solidFill>
            <a:schemeClr val="accent5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2" name="Rectangle 331"/>
          <p:cNvSpPr/>
          <p:nvPr/>
        </p:nvSpPr>
        <p:spPr>
          <a:xfrm>
            <a:off x="8008170" y="3265250"/>
            <a:ext cx="71438" cy="276228"/>
          </a:xfrm>
          <a:prstGeom prst="rect">
            <a:avLst/>
          </a:prstGeom>
          <a:solidFill>
            <a:schemeClr val="accent5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3" name="Rectangle 332"/>
          <p:cNvSpPr/>
          <p:nvPr/>
        </p:nvSpPr>
        <p:spPr>
          <a:xfrm>
            <a:off x="8008170" y="3622440"/>
            <a:ext cx="71438" cy="276228"/>
          </a:xfrm>
          <a:prstGeom prst="rect">
            <a:avLst/>
          </a:prstGeom>
          <a:solidFill>
            <a:schemeClr val="accent5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4" name="Rectangle 333"/>
          <p:cNvSpPr/>
          <p:nvPr/>
        </p:nvSpPr>
        <p:spPr>
          <a:xfrm>
            <a:off x="8008170" y="3979630"/>
            <a:ext cx="71438" cy="276228"/>
          </a:xfrm>
          <a:prstGeom prst="rect">
            <a:avLst/>
          </a:prstGeom>
          <a:solidFill>
            <a:schemeClr val="accent5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5" name="Rectangle 334"/>
          <p:cNvSpPr/>
          <p:nvPr/>
        </p:nvSpPr>
        <p:spPr>
          <a:xfrm>
            <a:off x="8008170" y="4336820"/>
            <a:ext cx="71438" cy="276228"/>
          </a:xfrm>
          <a:prstGeom prst="rect">
            <a:avLst/>
          </a:prstGeom>
          <a:solidFill>
            <a:schemeClr val="accent5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6" name="Rectangle 335"/>
          <p:cNvSpPr/>
          <p:nvPr/>
        </p:nvSpPr>
        <p:spPr>
          <a:xfrm>
            <a:off x="8008170" y="4694010"/>
            <a:ext cx="71438" cy="276228"/>
          </a:xfrm>
          <a:prstGeom prst="rect">
            <a:avLst/>
          </a:prstGeom>
          <a:solidFill>
            <a:schemeClr val="accent5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7" name="Rectangle 336"/>
          <p:cNvSpPr/>
          <p:nvPr/>
        </p:nvSpPr>
        <p:spPr>
          <a:xfrm>
            <a:off x="8008170" y="5051200"/>
            <a:ext cx="71438" cy="276228"/>
          </a:xfrm>
          <a:prstGeom prst="rect">
            <a:avLst/>
          </a:prstGeom>
          <a:solidFill>
            <a:schemeClr val="accent5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8" name="Rectangle 337"/>
          <p:cNvSpPr/>
          <p:nvPr/>
        </p:nvSpPr>
        <p:spPr>
          <a:xfrm>
            <a:off x="8008170" y="5408390"/>
            <a:ext cx="71438" cy="276228"/>
          </a:xfrm>
          <a:prstGeom prst="rect">
            <a:avLst/>
          </a:prstGeom>
          <a:solidFill>
            <a:schemeClr val="accent5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4" name="TextBox 263"/>
          <p:cNvSpPr txBox="1"/>
          <p:nvPr/>
        </p:nvSpPr>
        <p:spPr>
          <a:xfrm>
            <a:off x="4291114" y="8175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 smtClean="0"/>
              <a:t>DSP Block</a:t>
            </a:r>
            <a:endParaRPr lang="en-GB" sz="2800" dirty="0"/>
          </a:p>
        </p:txBody>
      </p:sp>
      <p:sp>
        <p:nvSpPr>
          <p:cNvPr id="265" name="TextBox 264"/>
          <p:cNvSpPr txBox="1"/>
          <p:nvPr/>
        </p:nvSpPr>
        <p:spPr>
          <a:xfrm>
            <a:off x="4657181" y="5858108"/>
            <a:ext cx="306962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 smtClean="0"/>
              <a:t>Block RAM (20TB/s)</a:t>
            </a:r>
            <a:endParaRPr lang="en-GB" sz="2800" dirty="0"/>
          </a:p>
        </p:txBody>
      </p:sp>
      <p:sp>
        <p:nvSpPr>
          <p:cNvPr id="266" name="TextBox 265"/>
          <p:cNvSpPr txBox="1"/>
          <p:nvPr/>
        </p:nvSpPr>
        <p:spPr>
          <a:xfrm>
            <a:off x="7099426" y="817548"/>
            <a:ext cx="13756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 smtClean="0"/>
              <a:t>IO Block</a:t>
            </a:r>
            <a:endParaRPr lang="en-GB" sz="2800" dirty="0"/>
          </a:p>
        </p:txBody>
      </p:sp>
      <p:cxnSp>
        <p:nvCxnSpPr>
          <p:cNvPr id="268" name="Straight Arrow Connector 267"/>
          <p:cNvCxnSpPr/>
          <p:nvPr/>
        </p:nvCxnSpPr>
        <p:spPr>
          <a:xfrm>
            <a:off x="5426878" y="1249596"/>
            <a:ext cx="188119" cy="69404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0" name="Straight Arrow Connector 269"/>
          <p:cNvCxnSpPr>
            <a:endCxn id="327" idx="0"/>
          </p:cNvCxnSpPr>
          <p:nvPr/>
        </p:nvCxnSpPr>
        <p:spPr>
          <a:xfrm>
            <a:off x="7793857" y="1249596"/>
            <a:ext cx="250032" cy="22970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Straight Arrow Connector 276"/>
          <p:cNvCxnSpPr/>
          <p:nvPr/>
        </p:nvCxnSpPr>
        <p:spPr>
          <a:xfrm rot="16200000" flipV="1">
            <a:off x="5224833" y="5449985"/>
            <a:ext cx="576612" cy="42197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Straight Connector 173"/>
          <p:cNvCxnSpPr/>
          <p:nvPr/>
        </p:nvCxnSpPr>
        <p:spPr>
          <a:xfrm rot="5400000">
            <a:off x="4221957" y="3550999"/>
            <a:ext cx="71438" cy="714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268"/>
          <p:cNvGrpSpPr/>
          <p:nvPr/>
        </p:nvGrpSpPr>
        <p:grpSpPr>
          <a:xfrm>
            <a:off x="467544" y="1105580"/>
            <a:ext cx="4243814" cy="4659997"/>
            <a:chOff x="460398" y="1340768"/>
            <a:chExt cx="4243814" cy="4659997"/>
          </a:xfrm>
        </p:grpSpPr>
        <p:sp>
          <p:nvSpPr>
            <p:cNvPr id="261" name="Rectangle 21"/>
            <p:cNvSpPr/>
            <p:nvPr/>
          </p:nvSpPr>
          <p:spPr>
            <a:xfrm>
              <a:off x="4427984" y="3501008"/>
              <a:ext cx="276228" cy="276228"/>
            </a:xfrm>
            <a:custGeom>
              <a:avLst/>
              <a:gdLst>
                <a:gd name="connsiteX0" fmla="*/ 0 w 276228"/>
                <a:gd name="connsiteY0" fmla="*/ 0 h 276228"/>
                <a:gd name="connsiteX1" fmla="*/ 276228 w 276228"/>
                <a:gd name="connsiteY1" fmla="*/ 0 h 276228"/>
                <a:gd name="connsiteX2" fmla="*/ 276228 w 276228"/>
                <a:gd name="connsiteY2" fmla="*/ 276228 h 276228"/>
                <a:gd name="connsiteX3" fmla="*/ 0 w 276228"/>
                <a:gd name="connsiteY3" fmla="*/ 276228 h 276228"/>
                <a:gd name="connsiteX4" fmla="*/ 0 w 276228"/>
                <a:gd name="connsiteY4" fmla="*/ 0 h 276228"/>
                <a:gd name="connsiteX0" fmla="*/ 0 w 276228"/>
                <a:gd name="connsiteY0" fmla="*/ 0 h 276228"/>
                <a:gd name="connsiteX1" fmla="*/ 125784 w 276228"/>
                <a:gd name="connsiteY1" fmla="*/ 3220 h 276228"/>
                <a:gd name="connsiteX2" fmla="*/ 276228 w 276228"/>
                <a:gd name="connsiteY2" fmla="*/ 0 h 276228"/>
                <a:gd name="connsiteX3" fmla="*/ 276228 w 276228"/>
                <a:gd name="connsiteY3" fmla="*/ 276228 h 276228"/>
                <a:gd name="connsiteX4" fmla="*/ 0 w 276228"/>
                <a:gd name="connsiteY4" fmla="*/ 276228 h 276228"/>
                <a:gd name="connsiteX5" fmla="*/ 0 w 276228"/>
                <a:gd name="connsiteY5" fmla="*/ 0 h 276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76228" h="276228">
                  <a:moveTo>
                    <a:pt x="0" y="0"/>
                  </a:moveTo>
                  <a:lnTo>
                    <a:pt x="125784" y="3220"/>
                  </a:lnTo>
                  <a:lnTo>
                    <a:pt x="276228" y="0"/>
                  </a:lnTo>
                  <a:lnTo>
                    <a:pt x="276228" y="276228"/>
                  </a:lnTo>
                  <a:lnTo>
                    <a:pt x="0" y="2762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D78"/>
            </a:solidFill>
            <a:ln w="9525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45" name="Straight Connector 44"/>
            <p:cNvCxnSpPr>
              <a:endCxn id="261" idx="2"/>
            </p:cNvCxnSpPr>
            <p:nvPr/>
          </p:nvCxnSpPr>
          <p:spPr>
            <a:xfrm>
              <a:off x="3851920" y="1893081"/>
              <a:ext cx="852292" cy="1607927"/>
            </a:xfrm>
            <a:prstGeom prst="line">
              <a:avLst/>
            </a:prstGeom>
            <a:ln w="127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/>
            <p:cNvCxnSpPr>
              <a:endCxn id="261" idx="0"/>
            </p:cNvCxnSpPr>
            <p:nvPr/>
          </p:nvCxnSpPr>
          <p:spPr>
            <a:xfrm>
              <a:off x="611560" y="1893081"/>
              <a:ext cx="3816424" cy="1607927"/>
            </a:xfrm>
            <a:prstGeom prst="line">
              <a:avLst/>
            </a:prstGeom>
            <a:ln w="127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/>
            <p:cNvCxnSpPr>
              <a:endCxn id="261" idx="3"/>
            </p:cNvCxnSpPr>
            <p:nvPr/>
          </p:nvCxnSpPr>
          <p:spPr>
            <a:xfrm flipV="1">
              <a:off x="3851920" y="3777236"/>
              <a:ext cx="852292" cy="2223529"/>
            </a:xfrm>
            <a:prstGeom prst="line">
              <a:avLst/>
            </a:prstGeom>
            <a:ln w="127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" name="Straight Connector 261"/>
            <p:cNvCxnSpPr>
              <a:endCxn id="261" idx="4"/>
            </p:cNvCxnSpPr>
            <p:nvPr/>
          </p:nvCxnSpPr>
          <p:spPr>
            <a:xfrm flipV="1">
              <a:off x="611560" y="3777236"/>
              <a:ext cx="3816424" cy="2223528"/>
            </a:xfrm>
            <a:prstGeom prst="line">
              <a:avLst/>
            </a:prstGeom>
            <a:ln w="127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3" name="TextBox 262"/>
            <p:cNvSpPr txBox="1"/>
            <p:nvPr/>
          </p:nvSpPr>
          <p:spPr>
            <a:xfrm>
              <a:off x="460398" y="1340768"/>
              <a:ext cx="388426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2800" dirty="0" smtClean="0"/>
                <a:t>Logic Cell (10</a:t>
              </a:r>
              <a:r>
                <a:rPr lang="en-GB" sz="2800" baseline="30000" dirty="0" smtClean="0"/>
                <a:t>5</a:t>
              </a:r>
              <a:r>
                <a:rPr lang="en-GB" sz="2800" dirty="0" smtClean="0"/>
                <a:t> elements)</a:t>
              </a:r>
              <a:endParaRPr lang="en-GB" sz="2800" dirty="0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611560" y="1893080"/>
              <a:ext cx="3240360" cy="410768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pic>
        <p:nvPicPr>
          <p:cNvPr id="260" name="Content Placeholder 9" descr="V6_Slice.png"/>
          <p:cNvPicPr>
            <a:picLocks noGrp="1" noChangeAspect="1"/>
          </p:cNvPicPr>
          <p:nvPr>
            <p:ph sz="half" idx="4294967295"/>
          </p:nvPr>
        </p:nvPicPr>
        <p:blipFill>
          <a:blip r:embed="rId3" cstate="print"/>
          <a:stretch>
            <a:fillRect/>
          </a:stretch>
        </p:blipFill>
        <p:spPr>
          <a:xfrm>
            <a:off x="640747" y="1744812"/>
            <a:ext cx="3171600" cy="3912138"/>
          </a:xfrm>
          <a:ln>
            <a:noFill/>
          </a:ln>
        </p:spPr>
      </p:pic>
      <p:grpSp>
        <p:nvGrpSpPr>
          <p:cNvPr id="362" name="Group 361"/>
          <p:cNvGrpSpPr/>
          <p:nvPr/>
        </p:nvGrpSpPr>
        <p:grpSpPr>
          <a:xfrm>
            <a:off x="251520" y="1381225"/>
            <a:ext cx="4041775" cy="4712071"/>
            <a:chOff x="188839" y="1790954"/>
            <a:chExt cx="4041775" cy="4712071"/>
          </a:xfrm>
        </p:grpSpPr>
        <p:sp>
          <p:nvSpPr>
            <p:cNvPr id="269" name="Text Placeholder 4"/>
            <p:cNvSpPr txBox="1">
              <a:spLocks/>
            </p:cNvSpPr>
            <p:nvPr/>
          </p:nvSpPr>
          <p:spPr>
            <a:xfrm>
              <a:off x="188839" y="1790954"/>
              <a:ext cx="4041775" cy="639762"/>
            </a:xfrm>
            <a:prstGeom prst="rect">
              <a:avLst/>
            </a:prstGeom>
          </p:spPr>
          <p:txBody>
            <a:bodyPr>
              <a:normAutofit/>
            </a:bodyPr>
            <a:lstStyle/>
            <a:p>
              <a:pPr marL="342900" marR="0" lvl="0" indent="-342900" algn="ctr" defTabSz="914400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tabLst/>
                <a:defRPr/>
              </a:pPr>
              <a:r>
                <a:rPr kumimoji="0" lang="en-GB" sz="2200" b="0" i="0" u="none" strike="noStrike" kern="1200" cap="none" spc="0" normalizeH="0" baseline="0" noProof="0" dirty="0" smtClean="0">
                  <a:ln>
                    <a:noFill/>
                  </a:ln>
                  <a:solidFill>
                    <a:schemeClr val="accent5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Xilinx Virtex-6 FPGA</a:t>
              </a:r>
            </a:p>
          </p:txBody>
        </p:sp>
        <p:pic>
          <p:nvPicPr>
            <p:cNvPr id="271" name="Content Placeholder 3"/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/>
          </p:blipFill>
          <p:spPr>
            <a:xfrm>
              <a:off x="599860" y="2564904"/>
              <a:ext cx="3179035" cy="3204673"/>
            </a:xfrm>
            <a:prstGeom prst="rect">
              <a:avLst/>
            </a:prstGeom>
            <a:ln w="19050">
              <a:solidFill>
                <a:schemeClr val="tx1"/>
              </a:solidFill>
            </a:ln>
          </p:spPr>
        </p:pic>
        <p:sp>
          <p:nvSpPr>
            <p:cNvPr id="272" name="Rectangle 271"/>
            <p:cNvSpPr/>
            <p:nvPr/>
          </p:nvSpPr>
          <p:spPr>
            <a:xfrm>
              <a:off x="1106296" y="2740627"/>
              <a:ext cx="45719" cy="2880320"/>
            </a:xfrm>
            <a:prstGeom prst="rect">
              <a:avLst/>
            </a:prstGeom>
            <a:noFill/>
            <a:ln w="19050"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73" name="Rectangle 272"/>
            <p:cNvSpPr/>
            <p:nvPr/>
          </p:nvSpPr>
          <p:spPr>
            <a:xfrm>
              <a:off x="1322320" y="2740627"/>
              <a:ext cx="45719" cy="2880320"/>
            </a:xfrm>
            <a:prstGeom prst="rect">
              <a:avLst/>
            </a:prstGeom>
            <a:noFill/>
            <a:ln w="19050"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74" name="Rectangle 273"/>
            <p:cNvSpPr/>
            <p:nvPr/>
          </p:nvSpPr>
          <p:spPr>
            <a:xfrm>
              <a:off x="1564633" y="2740627"/>
              <a:ext cx="45719" cy="2880320"/>
            </a:xfrm>
            <a:prstGeom prst="rect">
              <a:avLst/>
            </a:prstGeom>
            <a:noFill/>
            <a:ln w="19050"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75" name="Rectangle 274"/>
            <p:cNvSpPr/>
            <p:nvPr/>
          </p:nvSpPr>
          <p:spPr>
            <a:xfrm>
              <a:off x="1826376" y="2740627"/>
              <a:ext cx="45719" cy="2880320"/>
            </a:xfrm>
            <a:prstGeom prst="rect">
              <a:avLst/>
            </a:prstGeom>
            <a:noFill/>
            <a:ln w="19050"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26" name="Rectangle 325"/>
            <p:cNvSpPr/>
            <p:nvPr/>
          </p:nvSpPr>
          <p:spPr>
            <a:xfrm>
              <a:off x="818264" y="2740627"/>
              <a:ext cx="45719" cy="2880320"/>
            </a:xfrm>
            <a:prstGeom prst="rect">
              <a:avLst/>
            </a:prstGeom>
            <a:noFill/>
            <a:ln w="19050"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39" name="Rectangle 338"/>
            <p:cNvSpPr/>
            <p:nvPr/>
          </p:nvSpPr>
          <p:spPr>
            <a:xfrm>
              <a:off x="2860777" y="2740627"/>
              <a:ext cx="45719" cy="2880320"/>
            </a:xfrm>
            <a:prstGeom prst="rect">
              <a:avLst/>
            </a:prstGeom>
            <a:noFill/>
            <a:ln w="19050"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40" name="Rectangle 339"/>
            <p:cNvSpPr/>
            <p:nvPr/>
          </p:nvSpPr>
          <p:spPr>
            <a:xfrm>
              <a:off x="3076801" y="2740627"/>
              <a:ext cx="45719" cy="2880320"/>
            </a:xfrm>
            <a:prstGeom prst="rect">
              <a:avLst/>
            </a:prstGeom>
            <a:noFill/>
            <a:ln w="19050"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41" name="Rectangle 340"/>
            <p:cNvSpPr/>
            <p:nvPr/>
          </p:nvSpPr>
          <p:spPr>
            <a:xfrm>
              <a:off x="3319114" y="2740627"/>
              <a:ext cx="45719" cy="2880320"/>
            </a:xfrm>
            <a:prstGeom prst="rect">
              <a:avLst/>
            </a:prstGeom>
            <a:noFill/>
            <a:ln w="19050"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42" name="Rectangle 341"/>
            <p:cNvSpPr/>
            <p:nvPr/>
          </p:nvSpPr>
          <p:spPr>
            <a:xfrm>
              <a:off x="3580857" y="2740627"/>
              <a:ext cx="45719" cy="2880320"/>
            </a:xfrm>
            <a:prstGeom prst="rect">
              <a:avLst/>
            </a:prstGeom>
            <a:noFill/>
            <a:ln w="19050"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43" name="Rectangle 342"/>
            <p:cNvSpPr/>
            <p:nvPr/>
          </p:nvSpPr>
          <p:spPr>
            <a:xfrm>
              <a:off x="2572745" y="2740627"/>
              <a:ext cx="45719" cy="2880320"/>
            </a:xfrm>
            <a:prstGeom prst="rect">
              <a:avLst/>
            </a:prstGeom>
            <a:noFill/>
            <a:ln w="19050"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44" name="Rectangle 343"/>
            <p:cNvSpPr/>
            <p:nvPr/>
          </p:nvSpPr>
          <p:spPr>
            <a:xfrm>
              <a:off x="2330432" y="2740627"/>
              <a:ext cx="45719" cy="2880320"/>
            </a:xfrm>
            <a:prstGeom prst="rect">
              <a:avLst/>
            </a:prstGeom>
            <a:noFill/>
            <a:ln w="19050"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45" name="Rectangle 344"/>
            <p:cNvSpPr/>
            <p:nvPr/>
          </p:nvSpPr>
          <p:spPr>
            <a:xfrm>
              <a:off x="2042400" y="2740627"/>
              <a:ext cx="45719" cy="2880320"/>
            </a:xfrm>
            <a:prstGeom prst="rect">
              <a:avLst/>
            </a:prstGeom>
            <a:noFill/>
            <a:ln w="19050"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46" name="Rectangle 345"/>
            <p:cNvSpPr/>
            <p:nvPr/>
          </p:nvSpPr>
          <p:spPr>
            <a:xfrm>
              <a:off x="746256" y="2740627"/>
              <a:ext cx="45719" cy="2880320"/>
            </a:xfrm>
            <a:prstGeom prst="rect">
              <a:avLst/>
            </a:prstGeom>
            <a:noFill/>
            <a:ln w="1905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47" name="Rectangle 346"/>
            <p:cNvSpPr/>
            <p:nvPr/>
          </p:nvSpPr>
          <p:spPr>
            <a:xfrm>
              <a:off x="1034288" y="2740627"/>
              <a:ext cx="45719" cy="2880320"/>
            </a:xfrm>
            <a:prstGeom prst="rect">
              <a:avLst/>
            </a:prstGeom>
            <a:noFill/>
            <a:ln w="1905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48" name="Rectangle 347"/>
            <p:cNvSpPr/>
            <p:nvPr/>
          </p:nvSpPr>
          <p:spPr>
            <a:xfrm>
              <a:off x="1250312" y="2740627"/>
              <a:ext cx="45719" cy="2880320"/>
            </a:xfrm>
            <a:prstGeom prst="rect">
              <a:avLst/>
            </a:prstGeom>
            <a:noFill/>
            <a:ln w="1905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49" name="Rectangle 348"/>
            <p:cNvSpPr/>
            <p:nvPr/>
          </p:nvSpPr>
          <p:spPr>
            <a:xfrm>
              <a:off x="1492625" y="2740627"/>
              <a:ext cx="45719" cy="2880320"/>
            </a:xfrm>
            <a:prstGeom prst="rect">
              <a:avLst/>
            </a:prstGeom>
            <a:noFill/>
            <a:ln w="1905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50" name="Rectangle 349"/>
            <p:cNvSpPr/>
            <p:nvPr/>
          </p:nvSpPr>
          <p:spPr>
            <a:xfrm>
              <a:off x="1754368" y="2740627"/>
              <a:ext cx="45719" cy="2880320"/>
            </a:xfrm>
            <a:prstGeom prst="rect">
              <a:avLst/>
            </a:prstGeom>
            <a:noFill/>
            <a:ln w="1905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51" name="Rectangle 350"/>
            <p:cNvSpPr/>
            <p:nvPr/>
          </p:nvSpPr>
          <p:spPr>
            <a:xfrm>
              <a:off x="1970392" y="2740627"/>
              <a:ext cx="45719" cy="2880320"/>
            </a:xfrm>
            <a:prstGeom prst="rect">
              <a:avLst/>
            </a:prstGeom>
            <a:noFill/>
            <a:ln w="1905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52" name="Rectangle 351"/>
            <p:cNvSpPr/>
            <p:nvPr/>
          </p:nvSpPr>
          <p:spPr>
            <a:xfrm>
              <a:off x="2258424" y="2740627"/>
              <a:ext cx="45719" cy="2880320"/>
            </a:xfrm>
            <a:prstGeom prst="rect">
              <a:avLst/>
            </a:prstGeom>
            <a:noFill/>
            <a:ln w="1905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53" name="Rectangle 352"/>
            <p:cNvSpPr/>
            <p:nvPr/>
          </p:nvSpPr>
          <p:spPr>
            <a:xfrm>
              <a:off x="2500737" y="2740627"/>
              <a:ext cx="45719" cy="2880320"/>
            </a:xfrm>
            <a:prstGeom prst="rect">
              <a:avLst/>
            </a:prstGeom>
            <a:noFill/>
            <a:ln w="1905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54" name="Rectangle 353"/>
            <p:cNvSpPr/>
            <p:nvPr/>
          </p:nvSpPr>
          <p:spPr>
            <a:xfrm>
              <a:off x="2788769" y="2740627"/>
              <a:ext cx="45719" cy="2880320"/>
            </a:xfrm>
            <a:prstGeom prst="rect">
              <a:avLst/>
            </a:prstGeom>
            <a:noFill/>
            <a:ln w="1905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55" name="Rectangle 354"/>
            <p:cNvSpPr/>
            <p:nvPr/>
          </p:nvSpPr>
          <p:spPr>
            <a:xfrm>
              <a:off x="3004793" y="2740627"/>
              <a:ext cx="45719" cy="2880320"/>
            </a:xfrm>
            <a:prstGeom prst="rect">
              <a:avLst/>
            </a:prstGeom>
            <a:noFill/>
            <a:ln w="1905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56" name="Rectangle 355"/>
            <p:cNvSpPr/>
            <p:nvPr/>
          </p:nvSpPr>
          <p:spPr>
            <a:xfrm>
              <a:off x="3266536" y="2740627"/>
              <a:ext cx="45719" cy="2880320"/>
            </a:xfrm>
            <a:prstGeom prst="rect">
              <a:avLst/>
            </a:prstGeom>
            <a:noFill/>
            <a:ln w="1905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57" name="Rectangle 356"/>
            <p:cNvSpPr/>
            <p:nvPr/>
          </p:nvSpPr>
          <p:spPr>
            <a:xfrm>
              <a:off x="3508849" y="2740627"/>
              <a:ext cx="45719" cy="2880320"/>
            </a:xfrm>
            <a:prstGeom prst="rect">
              <a:avLst/>
            </a:prstGeom>
            <a:noFill/>
            <a:ln w="1905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358" name="Straight Arrow Connector 357"/>
            <p:cNvCxnSpPr>
              <a:endCxn id="349" idx="2"/>
            </p:cNvCxnSpPr>
            <p:nvPr/>
          </p:nvCxnSpPr>
          <p:spPr>
            <a:xfrm flipV="1">
              <a:off x="1345179" y="5620947"/>
              <a:ext cx="170306" cy="576064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0" name="Straight Arrow Connector 359"/>
            <p:cNvCxnSpPr/>
            <p:nvPr/>
          </p:nvCxnSpPr>
          <p:spPr>
            <a:xfrm flipH="1" flipV="1">
              <a:off x="2618464" y="5620947"/>
              <a:ext cx="310891" cy="576064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1" name="TextBox 360"/>
            <p:cNvSpPr txBox="1"/>
            <p:nvPr/>
          </p:nvSpPr>
          <p:spPr>
            <a:xfrm>
              <a:off x="2373947" y="6133693"/>
              <a:ext cx="110639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 smtClean="0"/>
                <a:t>DSP Block</a:t>
              </a:r>
              <a:endParaRPr lang="en-GB" dirty="0"/>
            </a:p>
          </p:txBody>
        </p:sp>
        <p:sp>
          <p:nvSpPr>
            <p:cNvPr id="359" name="TextBox 358"/>
            <p:cNvSpPr txBox="1"/>
            <p:nvPr/>
          </p:nvSpPr>
          <p:spPr>
            <a:xfrm>
              <a:off x="722935" y="6125003"/>
              <a:ext cx="124745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 smtClean="0"/>
                <a:t> Block RAM</a:t>
              </a:r>
              <a:endParaRPr lang="en-GB" dirty="0"/>
            </a:p>
          </p:txBody>
        </p:sp>
      </p:grpSp>
      <p:sp>
        <p:nvSpPr>
          <p:cNvPr id="363" name="Slide Number Placeholder 36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2D9C5-9C72-4C75-A1BC-B4986A40F6AC}" type="slidenum">
              <a:rPr lang="en-GB" smtClean="0"/>
              <a:pPr/>
              <a:t>19</a:t>
            </a:fld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2000"/>
                                        <p:tgtEl>
                                          <p:spTgt spid="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CPU and FPGA Scaling</a:t>
            </a:r>
            <a:endParaRPr lang="en-GB" dirty="0"/>
          </a:p>
        </p:txBody>
      </p:sp>
      <p:sp>
        <p:nvSpPr>
          <p:cNvPr id="9" name="Text Box 10"/>
          <p:cNvSpPr txBox="1">
            <a:spLocks noChangeArrowheads="1"/>
          </p:cNvSpPr>
          <p:nvPr/>
        </p:nvSpPr>
        <p:spPr bwMode="auto">
          <a:xfrm>
            <a:off x="1981200" y="1905000"/>
            <a:ext cx="2667000" cy="915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3366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dirty="0"/>
              <a:t>FPGAs on the same curve as CPUs (Moore’s law)</a:t>
            </a:r>
          </a:p>
        </p:txBody>
      </p:sp>
      <p:grpSp>
        <p:nvGrpSpPr>
          <p:cNvPr id="2" name="Group 3"/>
          <p:cNvGrpSpPr>
            <a:grpSpLocks noChangeAspect="1"/>
          </p:cNvGrpSpPr>
          <p:nvPr/>
        </p:nvGrpSpPr>
        <p:grpSpPr bwMode="auto">
          <a:xfrm>
            <a:off x="228600" y="1004912"/>
            <a:ext cx="8553450" cy="5232400"/>
            <a:chOff x="144" y="672"/>
            <a:chExt cx="5388" cy="3296"/>
          </a:xfrm>
        </p:grpSpPr>
        <p:sp>
          <p:nvSpPr>
            <p:cNvPr id="21506" name="AutoShape 2"/>
            <p:cNvSpPr>
              <a:spLocks noChangeAspect="1" noChangeArrowheads="1" noTextEdit="1"/>
            </p:cNvSpPr>
            <p:nvPr/>
          </p:nvSpPr>
          <p:spPr bwMode="auto">
            <a:xfrm>
              <a:off x="144" y="672"/>
              <a:ext cx="5376" cy="32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1508" name="Rectangle 4"/>
            <p:cNvSpPr>
              <a:spLocks noChangeArrowheads="1"/>
            </p:cNvSpPr>
            <p:nvPr/>
          </p:nvSpPr>
          <p:spPr bwMode="auto">
            <a:xfrm>
              <a:off x="180" y="720"/>
              <a:ext cx="5266" cy="3197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1509" name="Rectangle 5"/>
            <p:cNvSpPr>
              <a:spLocks noChangeArrowheads="1"/>
            </p:cNvSpPr>
            <p:nvPr/>
          </p:nvSpPr>
          <p:spPr bwMode="auto">
            <a:xfrm>
              <a:off x="1029" y="971"/>
              <a:ext cx="3761" cy="25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1510" name="Line 6"/>
            <p:cNvSpPr>
              <a:spLocks noChangeShapeType="1"/>
            </p:cNvSpPr>
            <p:nvPr/>
          </p:nvSpPr>
          <p:spPr bwMode="auto">
            <a:xfrm>
              <a:off x="1029" y="2884"/>
              <a:ext cx="3761" cy="1"/>
            </a:xfrm>
            <a:prstGeom prst="line">
              <a:avLst/>
            </a:prstGeom>
            <a:noFill/>
            <a:ln w="0">
              <a:solidFill>
                <a:srgbClr val="B3B3B3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1511" name="Line 7"/>
            <p:cNvSpPr>
              <a:spLocks noChangeShapeType="1"/>
            </p:cNvSpPr>
            <p:nvPr/>
          </p:nvSpPr>
          <p:spPr bwMode="auto">
            <a:xfrm>
              <a:off x="1029" y="2243"/>
              <a:ext cx="3761" cy="1"/>
            </a:xfrm>
            <a:prstGeom prst="line">
              <a:avLst/>
            </a:prstGeom>
            <a:noFill/>
            <a:ln w="0">
              <a:solidFill>
                <a:srgbClr val="B3B3B3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1512" name="Line 8"/>
            <p:cNvSpPr>
              <a:spLocks noChangeShapeType="1"/>
            </p:cNvSpPr>
            <p:nvPr/>
          </p:nvSpPr>
          <p:spPr bwMode="auto">
            <a:xfrm>
              <a:off x="1029" y="1612"/>
              <a:ext cx="3761" cy="1"/>
            </a:xfrm>
            <a:prstGeom prst="line">
              <a:avLst/>
            </a:prstGeom>
            <a:noFill/>
            <a:ln w="0">
              <a:solidFill>
                <a:srgbClr val="B3B3B3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1513" name="Line 9"/>
            <p:cNvSpPr>
              <a:spLocks noChangeShapeType="1"/>
            </p:cNvSpPr>
            <p:nvPr/>
          </p:nvSpPr>
          <p:spPr bwMode="auto">
            <a:xfrm>
              <a:off x="1029" y="971"/>
              <a:ext cx="3761" cy="1"/>
            </a:xfrm>
            <a:prstGeom prst="line">
              <a:avLst/>
            </a:prstGeom>
            <a:noFill/>
            <a:ln w="0">
              <a:solidFill>
                <a:srgbClr val="B3B3B3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1514" name="Rectangle 10"/>
            <p:cNvSpPr>
              <a:spLocks noChangeArrowheads="1"/>
            </p:cNvSpPr>
            <p:nvPr/>
          </p:nvSpPr>
          <p:spPr bwMode="auto">
            <a:xfrm>
              <a:off x="1029" y="971"/>
              <a:ext cx="3761" cy="2543"/>
            </a:xfrm>
            <a:prstGeom prst="rect">
              <a:avLst/>
            </a:prstGeom>
            <a:noFill/>
            <a:ln w="0">
              <a:solidFill>
                <a:srgbClr val="B3B3B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1515" name="Line 11"/>
            <p:cNvSpPr>
              <a:spLocks noChangeShapeType="1"/>
            </p:cNvSpPr>
            <p:nvPr/>
          </p:nvSpPr>
          <p:spPr bwMode="auto">
            <a:xfrm>
              <a:off x="1029" y="971"/>
              <a:ext cx="1" cy="254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1516" name="Line 12"/>
            <p:cNvSpPr>
              <a:spLocks noChangeShapeType="1"/>
            </p:cNvSpPr>
            <p:nvPr/>
          </p:nvSpPr>
          <p:spPr bwMode="auto">
            <a:xfrm>
              <a:off x="996" y="3514"/>
              <a:ext cx="33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1517" name="Line 13"/>
            <p:cNvSpPr>
              <a:spLocks noChangeShapeType="1"/>
            </p:cNvSpPr>
            <p:nvPr/>
          </p:nvSpPr>
          <p:spPr bwMode="auto">
            <a:xfrm>
              <a:off x="996" y="2884"/>
              <a:ext cx="33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1518" name="Line 14"/>
            <p:cNvSpPr>
              <a:spLocks noChangeShapeType="1"/>
            </p:cNvSpPr>
            <p:nvPr/>
          </p:nvSpPr>
          <p:spPr bwMode="auto">
            <a:xfrm>
              <a:off x="996" y="2243"/>
              <a:ext cx="33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1519" name="Line 15"/>
            <p:cNvSpPr>
              <a:spLocks noChangeShapeType="1"/>
            </p:cNvSpPr>
            <p:nvPr/>
          </p:nvSpPr>
          <p:spPr bwMode="auto">
            <a:xfrm>
              <a:off x="996" y="1612"/>
              <a:ext cx="33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1520" name="Line 16"/>
            <p:cNvSpPr>
              <a:spLocks noChangeShapeType="1"/>
            </p:cNvSpPr>
            <p:nvPr/>
          </p:nvSpPr>
          <p:spPr bwMode="auto">
            <a:xfrm>
              <a:off x="996" y="971"/>
              <a:ext cx="33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1521" name="Line 17"/>
            <p:cNvSpPr>
              <a:spLocks noChangeShapeType="1"/>
            </p:cNvSpPr>
            <p:nvPr/>
          </p:nvSpPr>
          <p:spPr bwMode="auto">
            <a:xfrm>
              <a:off x="1029" y="3514"/>
              <a:ext cx="376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1522" name="Line 18"/>
            <p:cNvSpPr>
              <a:spLocks noChangeShapeType="1"/>
            </p:cNvSpPr>
            <p:nvPr/>
          </p:nvSpPr>
          <p:spPr bwMode="auto">
            <a:xfrm flipV="1">
              <a:off x="1029" y="3514"/>
              <a:ext cx="1" cy="3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1523" name="Line 19"/>
            <p:cNvSpPr>
              <a:spLocks noChangeShapeType="1"/>
            </p:cNvSpPr>
            <p:nvPr/>
          </p:nvSpPr>
          <p:spPr bwMode="auto">
            <a:xfrm flipV="1">
              <a:off x="1571" y="3514"/>
              <a:ext cx="1" cy="3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1524" name="Line 20"/>
            <p:cNvSpPr>
              <a:spLocks noChangeShapeType="1"/>
            </p:cNvSpPr>
            <p:nvPr/>
          </p:nvSpPr>
          <p:spPr bwMode="auto">
            <a:xfrm flipV="1">
              <a:off x="2102" y="3514"/>
              <a:ext cx="1" cy="3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1525" name="Line 21"/>
            <p:cNvSpPr>
              <a:spLocks noChangeShapeType="1"/>
            </p:cNvSpPr>
            <p:nvPr/>
          </p:nvSpPr>
          <p:spPr bwMode="auto">
            <a:xfrm flipV="1">
              <a:off x="2644" y="3514"/>
              <a:ext cx="1" cy="3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1526" name="Line 22"/>
            <p:cNvSpPr>
              <a:spLocks noChangeShapeType="1"/>
            </p:cNvSpPr>
            <p:nvPr/>
          </p:nvSpPr>
          <p:spPr bwMode="auto">
            <a:xfrm flipV="1">
              <a:off x="3175" y="3514"/>
              <a:ext cx="1" cy="3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1527" name="Line 23"/>
            <p:cNvSpPr>
              <a:spLocks noChangeShapeType="1"/>
            </p:cNvSpPr>
            <p:nvPr/>
          </p:nvSpPr>
          <p:spPr bwMode="auto">
            <a:xfrm flipV="1">
              <a:off x="3717" y="3514"/>
              <a:ext cx="1" cy="3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1528" name="Line 24"/>
            <p:cNvSpPr>
              <a:spLocks noChangeShapeType="1"/>
            </p:cNvSpPr>
            <p:nvPr/>
          </p:nvSpPr>
          <p:spPr bwMode="auto">
            <a:xfrm flipV="1">
              <a:off x="4248" y="3514"/>
              <a:ext cx="1" cy="3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1529" name="Line 25"/>
            <p:cNvSpPr>
              <a:spLocks noChangeShapeType="1"/>
            </p:cNvSpPr>
            <p:nvPr/>
          </p:nvSpPr>
          <p:spPr bwMode="auto">
            <a:xfrm flipV="1">
              <a:off x="4790" y="3514"/>
              <a:ext cx="1" cy="3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1530" name="Freeform 26"/>
            <p:cNvSpPr>
              <a:spLocks/>
            </p:cNvSpPr>
            <p:nvPr/>
          </p:nvSpPr>
          <p:spPr bwMode="auto">
            <a:xfrm>
              <a:off x="4027" y="1369"/>
              <a:ext cx="110" cy="110"/>
            </a:xfrm>
            <a:custGeom>
              <a:avLst/>
              <a:gdLst/>
              <a:ahLst/>
              <a:cxnLst>
                <a:cxn ang="0">
                  <a:pos x="55" y="0"/>
                </a:cxn>
                <a:cxn ang="0">
                  <a:pos x="110" y="55"/>
                </a:cxn>
                <a:cxn ang="0">
                  <a:pos x="55" y="110"/>
                </a:cxn>
                <a:cxn ang="0">
                  <a:pos x="0" y="55"/>
                </a:cxn>
                <a:cxn ang="0">
                  <a:pos x="55" y="0"/>
                </a:cxn>
              </a:cxnLst>
              <a:rect l="0" t="0" r="r" b="b"/>
              <a:pathLst>
                <a:path w="110" h="110">
                  <a:moveTo>
                    <a:pt x="55" y="0"/>
                  </a:moveTo>
                  <a:lnTo>
                    <a:pt x="110" y="55"/>
                  </a:lnTo>
                  <a:lnTo>
                    <a:pt x="55" y="110"/>
                  </a:lnTo>
                  <a:lnTo>
                    <a:pt x="0" y="55"/>
                  </a:lnTo>
                  <a:lnTo>
                    <a:pt x="55" y="0"/>
                  </a:lnTo>
                  <a:close/>
                </a:path>
              </a:pathLst>
            </a:custGeom>
            <a:solidFill>
              <a:srgbClr val="BBE0E3"/>
            </a:solidFill>
            <a:ln w="11">
              <a:solidFill>
                <a:srgbClr val="BBE0E3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1531" name="Freeform 27"/>
            <p:cNvSpPr>
              <a:spLocks/>
            </p:cNvSpPr>
            <p:nvPr/>
          </p:nvSpPr>
          <p:spPr bwMode="auto">
            <a:xfrm>
              <a:off x="4027" y="1369"/>
              <a:ext cx="110" cy="110"/>
            </a:xfrm>
            <a:custGeom>
              <a:avLst/>
              <a:gdLst/>
              <a:ahLst/>
              <a:cxnLst>
                <a:cxn ang="0">
                  <a:pos x="55" y="0"/>
                </a:cxn>
                <a:cxn ang="0">
                  <a:pos x="110" y="55"/>
                </a:cxn>
                <a:cxn ang="0">
                  <a:pos x="55" y="110"/>
                </a:cxn>
                <a:cxn ang="0">
                  <a:pos x="0" y="55"/>
                </a:cxn>
                <a:cxn ang="0">
                  <a:pos x="55" y="0"/>
                </a:cxn>
              </a:cxnLst>
              <a:rect l="0" t="0" r="r" b="b"/>
              <a:pathLst>
                <a:path w="110" h="110">
                  <a:moveTo>
                    <a:pt x="55" y="0"/>
                  </a:moveTo>
                  <a:lnTo>
                    <a:pt x="110" y="55"/>
                  </a:lnTo>
                  <a:lnTo>
                    <a:pt x="55" y="110"/>
                  </a:lnTo>
                  <a:lnTo>
                    <a:pt x="0" y="55"/>
                  </a:lnTo>
                  <a:lnTo>
                    <a:pt x="55" y="0"/>
                  </a:lnTo>
                  <a:close/>
                </a:path>
              </a:pathLst>
            </a:custGeom>
            <a:solidFill>
              <a:srgbClr val="BBE0E3"/>
            </a:solidFill>
            <a:ln w="11">
              <a:solidFill>
                <a:srgbClr val="BBE0E3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1532" name="Freeform 28"/>
            <p:cNvSpPr>
              <a:spLocks/>
            </p:cNvSpPr>
            <p:nvPr/>
          </p:nvSpPr>
          <p:spPr bwMode="auto">
            <a:xfrm>
              <a:off x="4027" y="1369"/>
              <a:ext cx="110" cy="110"/>
            </a:xfrm>
            <a:custGeom>
              <a:avLst/>
              <a:gdLst/>
              <a:ahLst/>
              <a:cxnLst>
                <a:cxn ang="0">
                  <a:pos x="55" y="0"/>
                </a:cxn>
                <a:cxn ang="0">
                  <a:pos x="110" y="55"/>
                </a:cxn>
                <a:cxn ang="0">
                  <a:pos x="55" y="110"/>
                </a:cxn>
                <a:cxn ang="0">
                  <a:pos x="0" y="55"/>
                </a:cxn>
                <a:cxn ang="0">
                  <a:pos x="55" y="0"/>
                </a:cxn>
              </a:cxnLst>
              <a:rect l="0" t="0" r="r" b="b"/>
              <a:pathLst>
                <a:path w="110" h="110">
                  <a:moveTo>
                    <a:pt x="55" y="0"/>
                  </a:moveTo>
                  <a:lnTo>
                    <a:pt x="110" y="55"/>
                  </a:lnTo>
                  <a:lnTo>
                    <a:pt x="55" y="110"/>
                  </a:lnTo>
                  <a:lnTo>
                    <a:pt x="0" y="55"/>
                  </a:lnTo>
                  <a:lnTo>
                    <a:pt x="55" y="0"/>
                  </a:lnTo>
                  <a:close/>
                </a:path>
              </a:pathLst>
            </a:custGeom>
            <a:solidFill>
              <a:srgbClr val="BBE0E3"/>
            </a:solidFill>
            <a:ln w="11">
              <a:solidFill>
                <a:srgbClr val="BBE0E3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1533" name="Freeform 29"/>
            <p:cNvSpPr>
              <a:spLocks/>
            </p:cNvSpPr>
            <p:nvPr/>
          </p:nvSpPr>
          <p:spPr bwMode="auto">
            <a:xfrm>
              <a:off x="4027" y="1369"/>
              <a:ext cx="110" cy="110"/>
            </a:xfrm>
            <a:custGeom>
              <a:avLst/>
              <a:gdLst/>
              <a:ahLst/>
              <a:cxnLst>
                <a:cxn ang="0">
                  <a:pos x="55" y="0"/>
                </a:cxn>
                <a:cxn ang="0">
                  <a:pos x="110" y="55"/>
                </a:cxn>
                <a:cxn ang="0">
                  <a:pos x="55" y="110"/>
                </a:cxn>
                <a:cxn ang="0">
                  <a:pos x="0" y="55"/>
                </a:cxn>
                <a:cxn ang="0">
                  <a:pos x="55" y="0"/>
                </a:cxn>
              </a:cxnLst>
              <a:rect l="0" t="0" r="r" b="b"/>
              <a:pathLst>
                <a:path w="110" h="110">
                  <a:moveTo>
                    <a:pt x="55" y="0"/>
                  </a:moveTo>
                  <a:lnTo>
                    <a:pt x="110" y="55"/>
                  </a:lnTo>
                  <a:lnTo>
                    <a:pt x="55" y="110"/>
                  </a:lnTo>
                  <a:lnTo>
                    <a:pt x="0" y="55"/>
                  </a:lnTo>
                  <a:lnTo>
                    <a:pt x="55" y="0"/>
                  </a:lnTo>
                  <a:close/>
                </a:path>
              </a:pathLst>
            </a:custGeom>
            <a:solidFill>
              <a:srgbClr val="BBE0E3"/>
            </a:solidFill>
            <a:ln w="11">
              <a:solidFill>
                <a:srgbClr val="BBE0E3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1534" name="Freeform 30"/>
            <p:cNvSpPr>
              <a:spLocks/>
            </p:cNvSpPr>
            <p:nvPr/>
          </p:nvSpPr>
          <p:spPr bwMode="auto">
            <a:xfrm>
              <a:off x="4027" y="1369"/>
              <a:ext cx="110" cy="110"/>
            </a:xfrm>
            <a:custGeom>
              <a:avLst/>
              <a:gdLst/>
              <a:ahLst/>
              <a:cxnLst>
                <a:cxn ang="0">
                  <a:pos x="55" y="0"/>
                </a:cxn>
                <a:cxn ang="0">
                  <a:pos x="110" y="55"/>
                </a:cxn>
                <a:cxn ang="0">
                  <a:pos x="55" y="110"/>
                </a:cxn>
                <a:cxn ang="0">
                  <a:pos x="0" y="55"/>
                </a:cxn>
                <a:cxn ang="0">
                  <a:pos x="55" y="0"/>
                </a:cxn>
              </a:cxnLst>
              <a:rect l="0" t="0" r="r" b="b"/>
              <a:pathLst>
                <a:path w="110" h="110">
                  <a:moveTo>
                    <a:pt x="55" y="0"/>
                  </a:moveTo>
                  <a:lnTo>
                    <a:pt x="110" y="55"/>
                  </a:lnTo>
                  <a:lnTo>
                    <a:pt x="55" y="110"/>
                  </a:lnTo>
                  <a:lnTo>
                    <a:pt x="0" y="55"/>
                  </a:lnTo>
                  <a:lnTo>
                    <a:pt x="55" y="0"/>
                  </a:lnTo>
                  <a:close/>
                </a:path>
              </a:pathLst>
            </a:custGeom>
            <a:solidFill>
              <a:srgbClr val="BBE0E3"/>
            </a:solidFill>
            <a:ln w="11">
              <a:solidFill>
                <a:srgbClr val="BBE0E3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1535" name="Freeform 31"/>
            <p:cNvSpPr>
              <a:spLocks/>
            </p:cNvSpPr>
            <p:nvPr/>
          </p:nvSpPr>
          <p:spPr bwMode="auto">
            <a:xfrm>
              <a:off x="4027" y="1369"/>
              <a:ext cx="110" cy="110"/>
            </a:xfrm>
            <a:custGeom>
              <a:avLst/>
              <a:gdLst/>
              <a:ahLst/>
              <a:cxnLst>
                <a:cxn ang="0">
                  <a:pos x="55" y="0"/>
                </a:cxn>
                <a:cxn ang="0">
                  <a:pos x="110" y="55"/>
                </a:cxn>
                <a:cxn ang="0">
                  <a:pos x="55" y="110"/>
                </a:cxn>
                <a:cxn ang="0">
                  <a:pos x="0" y="55"/>
                </a:cxn>
                <a:cxn ang="0">
                  <a:pos x="55" y="0"/>
                </a:cxn>
              </a:cxnLst>
              <a:rect l="0" t="0" r="r" b="b"/>
              <a:pathLst>
                <a:path w="110" h="110">
                  <a:moveTo>
                    <a:pt x="55" y="0"/>
                  </a:moveTo>
                  <a:lnTo>
                    <a:pt x="110" y="55"/>
                  </a:lnTo>
                  <a:lnTo>
                    <a:pt x="55" y="110"/>
                  </a:lnTo>
                  <a:lnTo>
                    <a:pt x="0" y="55"/>
                  </a:lnTo>
                  <a:lnTo>
                    <a:pt x="55" y="0"/>
                  </a:lnTo>
                  <a:close/>
                </a:path>
              </a:pathLst>
            </a:custGeom>
            <a:solidFill>
              <a:srgbClr val="BBE0E3"/>
            </a:solidFill>
            <a:ln w="11">
              <a:solidFill>
                <a:srgbClr val="BBE0E3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1536" name="Freeform 32"/>
            <p:cNvSpPr>
              <a:spLocks/>
            </p:cNvSpPr>
            <p:nvPr/>
          </p:nvSpPr>
          <p:spPr bwMode="auto">
            <a:xfrm>
              <a:off x="4027" y="1369"/>
              <a:ext cx="110" cy="110"/>
            </a:xfrm>
            <a:custGeom>
              <a:avLst/>
              <a:gdLst/>
              <a:ahLst/>
              <a:cxnLst>
                <a:cxn ang="0">
                  <a:pos x="55" y="0"/>
                </a:cxn>
                <a:cxn ang="0">
                  <a:pos x="110" y="55"/>
                </a:cxn>
                <a:cxn ang="0">
                  <a:pos x="55" y="110"/>
                </a:cxn>
                <a:cxn ang="0">
                  <a:pos x="0" y="55"/>
                </a:cxn>
                <a:cxn ang="0">
                  <a:pos x="55" y="0"/>
                </a:cxn>
              </a:cxnLst>
              <a:rect l="0" t="0" r="r" b="b"/>
              <a:pathLst>
                <a:path w="110" h="110">
                  <a:moveTo>
                    <a:pt x="55" y="0"/>
                  </a:moveTo>
                  <a:lnTo>
                    <a:pt x="110" y="55"/>
                  </a:lnTo>
                  <a:lnTo>
                    <a:pt x="55" y="110"/>
                  </a:lnTo>
                  <a:lnTo>
                    <a:pt x="0" y="55"/>
                  </a:lnTo>
                  <a:lnTo>
                    <a:pt x="55" y="0"/>
                  </a:lnTo>
                  <a:close/>
                </a:path>
              </a:pathLst>
            </a:custGeom>
            <a:solidFill>
              <a:srgbClr val="BBE0E3"/>
            </a:solidFill>
            <a:ln w="11">
              <a:solidFill>
                <a:srgbClr val="BBE0E3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1537" name="Freeform 33"/>
            <p:cNvSpPr>
              <a:spLocks/>
            </p:cNvSpPr>
            <p:nvPr/>
          </p:nvSpPr>
          <p:spPr bwMode="auto">
            <a:xfrm>
              <a:off x="3905" y="1601"/>
              <a:ext cx="111" cy="111"/>
            </a:xfrm>
            <a:custGeom>
              <a:avLst/>
              <a:gdLst/>
              <a:ahLst/>
              <a:cxnLst>
                <a:cxn ang="0">
                  <a:pos x="55" y="0"/>
                </a:cxn>
                <a:cxn ang="0">
                  <a:pos x="111" y="55"/>
                </a:cxn>
                <a:cxn ang="0">
                  <a:pos x="55" y="111"/>
                </a:cxn>
                <a:cxn ang="0">
                  <a:pos x="0" y="55"/>
                </a:cxn>
                <a:cxn ang="0">
                  <a:pos x="55" y="0"/>
                </a:cxn>
              </a:cxnLst>
              <a:rect l="0" t="0" r="r" b="b"/>
              <a:pathLst>
                <a:path w="111" h="111">
                  <a:moveTo>
                    <a:pt x="55" y="0"/>
                  </a:moveTo>
                  <a:lnTo>
                    <a:pt x="111" y="55"/>
                  </a:lnTo>
                  <a:lnTo>
                    <a:pt x="55" y="111"/>
                  </a:lnTo>
                  <a:lnTo>
                    <a:pt x="0" y="55"/>
                  </a:lnTo>
                  <a:lnTo>
                    <a:pt x="55" y="0"/>
                  </a:lnTo>
                  <a:close/>
                </a:path>
              </a:pathLst>
            </a:custGeom>
            <a:solidFill>
              <a:srgbClr val="BBE0E3"/>
            </a:solidFill>
            <a:ln w="11">
              <a:solidFill>
                <a:srgbClr val="BBE0E3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1538" name="Freeform 34"/>
            <p:cNvSpPr>
              <a:spLocks/>
            </p:cNvSpPr>
            <p:nvPr/>
          </p:nvSpPr>
          <p:spPr bwMode="auto">
            <a:xfrm>
              <a:off x="3905" y="1601"/>
              <a:ext cx="111" cy="111"/>
            </a:xfrm>
            <a:custGeom>
              <a:avLst/>
              <a:gdLst/>
              <a:ahLst/>
              <a:cxnLst>
                <a:cxn ang="0">
                  <a:pos x="55" y="0"/>
                </a:cxn>
                <a:cxn ang="0">
                  <a:pos x="111" y="55"/>
                </a:cxn>
                <a:cxn ang="0">
                  <a:pos x="55" y="111"/>
                </a:cxn>
                <a:cxn ang="0">
                  <a:pos x="0" y="55"/>
                </a:cxn>
                <a:cxn ang="0">
                  <a:pos x="55" y="0"/>
                </a:cxn>
              </a:cxnLst>
              <a:rect l="0" t="0" r="r" b="b"/>
              <a:pathLst>
                <a:path w="111" h="111">
                  <a:moveTo>
                    <a:pt x="55" y="0"/>
                  </a:moveTo>
                  <a:lnTo>
                    <a:pt x="111" y="55"/>
                  </a:lnTo>
                  <a:lnTo>
                    <a:pt x="55" y="111"/>
                  </a:lnTo>
                  <a:lnTo>
                    <a:pt x="0" y="55"/>
                  </a:lnTo>
                  <a:lnTo>
                    <a:pt x="55" y="0"/>
                  </a:lnTo>
                  <a:close/>
                </a:path>
              </a:pathLst>
            </a:custGeom>
            <a:solidFill>
              <a:srgbClr val="BBE0E3"/>
            </a:solidFill>
            <a:ln w="11">
              <a:solidFill>
                <a:srgbClr val="BBE0E3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1539" name="Freeform 35"/>
            <p:cNvSpPr>
              <a:spLocks/>
            </p:cNvSpPr>
            <p:nvPr/>
          </p:nvSpPr>
          <p:spPr bwMode="auto">
            <a:xfrm>
              <a:off x="3905" y="1601"/>
              <a:ext cx="111" cy="111"/>
            </a:xfrm>
            <a:custGeom>
              <a:avLst/>
              <a:gdLst/>
              <a:ahLst/>
              <a:cxnLst>
                <a:cxn ang="0">
                  <a:pos x="55" y="0"/>
                </a:cxn>
                <a:cxn ang="0">
                  <a:pos x="111" y="55"/>
                </a:cxn>
                <a:cxn ang="0">
                  <a:pos x="55" y="111"/>
                </a:cxn>
                <a:cxn ang="0">
                  <a:pos x="0" y="55"/>
                </a:cxn>
                <a:cxn ang="0">
                  <a:pos x="55" y="0"/>
                </a:cxn>
              </a:cxnLst>
              <a:rect l="0" t="0" r="r" b="b"/>
              <a:pathLst>
                <a:path w="111" h="111">
                  <a:moveTo>
                    <a:pt x="55" y="0"/>
                  </a:moveTo>
                  <a:lnTo>
                    <a:pt x="111" y="55"/>
                  </a:lnTo>
                  <a:lnTo>
                    <a:pt x="55" y="111"/>
                  </a:lnTo>
                  <a:lnTo>
                    <a:pt x="0" y="55"/>
                  </a:lnTo>
                  <a:lnTo>
                    <a:pt x="55" y="0"/>
                  </a:lnTo>
                  <a:close/>
                </a:path>
              </a:pathLst>
            </a:custGeom>
            <a:solidFill>
              <a:srgbClr val="BBE0E3"/>
            </a:solidFill>
            <a:ln w="11">
              <a:solidFill>
                <a:srgbClr val="BBE0E3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1540" name="Freeform 36"/>
            <p:cNvSpPr>
              <a:spLocks/>
            </p:cNvSpPr>
            <p:nvPr/>
          </p:nvSpPr>
          <p:spPr bwMode="auto">
            <a:xfrm>
              <a:off x="3905" y="1800"/>
              <a:ext cx="111" cy="111"/>
            </a:xfrm>
            <a:custGeom>
              <a:avLst/>
              <a:gdLst/>
              <a:ahLst/>
              <a:cxnLst>
                <a:cxn ang="0">
                  <a:pos x="55" y="0"/>
                </a:cxn>
                <a:cxn ang="0">
                  <a:pos x="111" y="55"/>
                </a:cxn>
                <a:cxn ang="0">
                  <a:pos x="55" y="111"/>
                </a:cxn>
                <a:cxn ang="0">
                  <a:pos x="0" y="55"/>
                </a:cxn>
                <a:cxn ang="0">
                  <a:pos x="55" y="0"/>
                </a:cxn>
              </a:cxnLst>
              <a:rect l="0" t="0" r="r" b="b"/>
              <a:pathLst>
                <a:path w="111" h="111">
                  <a:moveTo>
                    <a:pt x="55" y="0"/>
                  </a:moveTo>
                  <a:lnTo>
                    <a:pt x="111" y="55"/>
                  </a:lnTo>
                  <a:lnTo>
                    <a:pt x="55" y="111"/>
                  </a:lnTo>
                  <a:lnTo>
                    <a:pt x="0" y="55"/>
                  </a:lnTo>
                  <a:lnTo>
                    <a:pt x="55" y="0"/>
                  </a:lnTo>
                  <a:close/>
                </a:path>
              </a:pathLst>
            </a:custGeom>
            <a:solidFill>
              <a:srgbClr val="BBE0E3"/>
            </a:solidFill>
            <a:ln w="11">
              <a:solidFill>
                <a:srgbClr val="BBE0E3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1541" name="Freeform 37"/>
            <p:cNvSpPr>
              <a:spLocks/>
            </p:cNvSpPr>
            <p:nvPr/>
          </p:nvSpPr>
          <p:spPr bwMode="auto">
            <a:xfrm>
              <a:off x="3839" y="1701"/>
              <a:ext cx="110" cy="110"/>
            </a:xfrm>
            <a:custGeom>
              <a:avLst/>
              <a:gdLst/>
              <a:ahLst/>
              <a:cxnLst>
                <a:cxn ang="0">
                  <a:pos x="55" y="0"/>
                </a:cxn>
                <a:cxn ang="0">
                  <a:pos x="110" y="55"/>
                </a:cxn>
                <a:cxn ang="0">
                  <a:pos x="55" y="110"/>
                </a:cxn>
                <a:cxn ang="0">
                  <a:pos x="0" y="55"/>
                </a:cxn>
                <a:cxn ang="0">
                  <a:pos x="55" y="0"/>
                </a:cxn>
              </a:cxnLst>
              <a:rect l="0" t="0" r="r" b="b"/>
              <a:pathLst>
                <a:path w="110" h="110">
                  <a:moveTo>
                    <a:pt x="55" y="0"/>
                  </a:moveTo>
                  <a:lnTo>
                    <a:pt x="110" y="55"/>
                  </a:lnTo>
                  <a:lnTo>
                    <a:pt x="55" y="110"/>
                  </a:lnTo>
                  <a:lnTo>
                    <a:pt x="0" y="55"/>
                  </a:lnTo>
                  <a:lnTo>
                    <a:pt x="55" y="0"/>
                  </a:lnTo>
                  <a:close/>
                </a:path>
              </a:pathLst>
            </a:custGeom>
            <a:solidFill>
              <a:srgbClr val="BBE0E3"/>
            </a:solidFill>
            <a:ln w="11">
              <a:solidFill>
                <a:srgbClr val="BBE0E3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1542" name="Freeform 38"/>
            <p:cNvSpPr>
              <a:spLocks/>
            </p:cNvSpPr>
            <p:nvPr/>
          </p:nvSpPr>
          <p:spPr bwMode="auto">
            <a:xfrm>
              <a:off x="3839" y="1701"/>
              <a:ext cx="110" cy="110"/>
            </a:xfrm>
            <a:custGeom>
              <a:avLst/>
              <a:gdLst/>
              <a:ahLst/>
              <a:cxnLst>
                <a:cxn ang="0">
                  <a:pos x="55" y="0"/>
                </a:cxn>
                <a:cxn ang="0">
                  <a:pos x="110" y="55"/>
                </a:cxn>
                <a:cxn ang="0">
                  <a:pos x="55" y="110"/>
                </a:cxn>
                <a:cxn ang="0">
                  <a:pos x="0" y="55"/>
                </a:cxn>
                <a:cxn ang="0">
                  <a:pos x="55" y="0"/>
                </a:cxn>
              </a:cxnLst>
              <a:rect l="0" t="0" r="r" b="b"/>
              <a:pathLst>
                <a:path w="110" h="110">
                  <a:moveTo>
                    <a:pt x="55" y="0"/>
                  </a:moveTo>
                  <a:lnTo>
                    <a:pt x="110" y="55"/>
                  </a:lnTo>
                  <a:lnTo>
                    <a:pt x="55" y="110"/>
                  </a:lnTo>
                  <a:lnTo>
                    <a:pt x="0" y="55"/>
                  </a:lnTo>
                  <a:lnTo>
                    <a:pt x="55" y="0"/>
                  </a:lnTo>
                  <a:close/>
                </a:path>
              </a:pathLst>
            </a:custGeom>
            <a:solidFill>
              <a:srgbClr val="BBE0E3"/>
            </a:solidFill>
            <a:ln w="11">
              <a:solidFill>
                <a:srgbClr val="BBE0E3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1543" name="Freeform 39"/>
            <p:cNvSpPr>
              <a:spLocks/>
            </p:cNvSpPr>
            <p:nvPr/>
          </p:nvSpPr>
          <p:spPr bwMode="auto">
            <a:xfrm>
              <a:off x="3839" y="1701"/>
              <a:ext cx="110" cy="110"/>
            </a:xfrm>
            <a:custGeom>
              <a:avLst/>
              <a:gdLst/>
              <a:ahLst/>
              <a:cxnLst>
                <a:cxn ang="0">
                  <a:pos x="55" y="0"/>
                </a:cxn>
                <a:cxn ang="0">
                  <a:pos x="110" y="55"/>
                </a:cxn>
                <a:cxn ang="0">
                  <a:pos x="55" y="110"/>
                </a:cxn>
                <a:cxn ang="0">
                  <a:pos x="0" y="55"/>
                </a:cxn>
                <a:cxn ang="0">
                  <a:pos x="55" y="0"/>
                </a:cxn>
              </a:cxnLst>
              <a:rect l="0" t="0" r="r" b="b"/>
              <a:pathLst>
                <a:path w="110" h="110">
                  <a:moveTo>
                    <a:pt x="55" y="0"/>
                  </a:moveTo>
                  <a:lnTo>
                    <a:pt x="110" y="55"/>
                  </a:lnTo>
                  <a:lnTo>
                    <a:pt x="55" y="110"/>
                  </a:lnTo>
                  <a:lnTo>
                    <a:pt x="0" y="55"/>
                  </a:lnTo>
                  <a:lnTo>
                    <a:pt x="55" y="0"/>
                  </a:lnTo>
                  <a:close/>
                </a:path>
              </a:pathLst>
            </a:custGeom>
            <a:solidFill>
              <a:srgbClr val="BBE0E3"/>
            </a:solidFill>
            <a:ln w="11">
              <a:solidFill>
                <a:srgbClr val="BBE0E3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1544" name="Freeform 40"/>
            <p:cNvSpPr>
              <a:spLocks/>
            </p:cNvSpPr>
            <p:nvPr/>
          </p:nvSpPr>
          <p:spPr bwMode="auto">
            <a:xfrm>
              <a:off x="3839" y="1701"/>
              <a:ext cx="110" cy="110"/>
            </a:xfrm>
            <a:custGeom>
              <a:avLst/>
              <a:gdLst/>
              <a:ahLst/>
              <a:cxnLst>
                <a:cxn ang="0">
                  <a:pos x="55" y="0"/>
                </a:cxn>
                <a:cxn ang="0">
                  <a:pos x="110" y="55"/>
                </a:cxn>
                <a:cxn ang="0">
                  <a:pos x="55" y="110"/>
                </a:cxn>
                <a:cxn ang="0">
                  <a:pos x="0" y="55"/>
                </a:cxn>
                <a:cxn ang="0">
                  <a:pos x="55" y="0"/>
                </a:cxn>
              </a:cxnLst>
              <a:rect l="0" t="0" r="r" b="b"/>
              <a:pathLst>
                <a:path w="110" h="110">
                  <a:moveTo>
                    <a:pt x="55" y="0"/>
                  </a:moveTo>
                  <a:lnTo>
                    <a:pt x="110" y="55"/>
                  </a:lnTo>
                  <a:lnTo>
                    <a:pt x="55" y="110"/>
                  </a:lnTo>
                  <a:lnTo>
                    <a:pt x="0" y="55"/>
                  </a:lnTo>
                  <a:lnTo>
                    <a:pt x="55" y="0"/>
                  </a:lnTo>
                  <a:close/>
                </a:path>
              </a:pathLst>
            </a:custGeom>
            <a:solidFill>
              <a:srgbClr val="BBE0E3"/>
            </a:solidFill>
            <a:ln w="11">
              <a:solidFill>
                <a:srgbClr val="BBE0E3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1545" name="Freeform 41"/>
            <p:cNvSpPr>
              <a:spLocks/>
            </p:cNvSpPr>
            <p:nvPr/>
          </p:nvSpPr>
          <p:spPr bwMode="auto">
            <a:xfrm>
              <a:off x="3839" y="1701"/>
              <a:ext cx="110" cy="110"/>
            </a:xfrm>
            <a:custGeom>
              <a:avLst/>
              <a:gdLst/>
              <a:ahLst/>
              <a:cxnLst>
                <a:cxn ang="0">
                  <a:pos x="55" y="0"/>
                </a:cxn>
                <a:cxn ang="0">
                  <a:pos x="110" y="55"/>
                </a:cxn>
                <a:cxn ang="0">
                  <a:pos x="55" y="110"/>
                </a:cxn>
                <a:cxn ang="0">
                  <a:pos x="0" y="55"/>
                </a:cxn>
                <a:cxn ang="0">
                  <a:pos x="55" y="0"/>
                </a:cxn>
              </a:cxnLst>
              <a:rect l="0" t="0" r="r" b="b"/>
              <a:pathLst>
                <a:path w="110" h="110">
                  <a:moveTo>
                    <a:pt x="55" y="0"/>
                  </a:moveTo>
                  <a:lnTo>
                    <a:pt x="110" y="55"/>
                  </a:lnTo>
                  <a:lnTo>
                    <a:pt x="55" y="110"/>
                  </a:lnTo>
                  <a:lnTo>
                    <a:pt x="0" y="55"/>
                  </a:lnTo>
                  <a:lnTo>
                    <a:pt x="55" y="0"/>
                  </a:lnTo>
                  <a:close/>
                </a:path>
              </a:pathLst>
            </a:custGeom>
            <a:solidFill>
              <a:srgbClr val="BBE0E3"/>
            </a:solidFill>
            <a:ln w="11">
              <a:solidFill>
                <a:srgbClr val="BBE0E3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1546" name="Freeform 42"/>
            <p:cNvSpPr>
              <a:spLocks/>
            </p:cNvSpPr>
            <p:nvPr/>
          </p:nvSpPr>
          <p:spPr bwMode="auto">
            <a:xfrm>
              <a:off x="3839" y="1701"/>
              <a:ext cx="110" cy="110"/>
            </a:xfrm>
            <a:custGeom>
              <a:avLst/>
              <a:gdLst/>
              <a:ahLst/>
              <a:cxnLst>
                <a:cxn ang="0">
                  <a:pos x="55" y="0"/>
                </a:cxn>
                <a:cxn ang="0">
                  <a:pos x="110" y="55"/>
                </a:cxn>
                <a:cxn ang="0">
                  <a:pos x="55" y="110"/>
                </a:cxn>
                <a:cxn ang="0">
                  <a:pos x="0" y="55"/>
                </a:cxn>
                <a:cxn ang="0">
                  <a:pos x="55" y="0"/>
                </a:cxn>
              </a:cxnLst>
              <a:rect l="0" t="0" r="r" b="b"/>
              <a:pathLst>
                <a:path w="110" h="110">
                  <a:moveTo>
                    <a:pt x="55" y="0"/>
                  </a:moveTo>
                  <a:lnTo>
                    <a:pt x="110" y="55"/>
                  </a:lnTo>
                  <a:lnTo>
                    <a:pt x="55" y="110"/>
                  </a:lnTo>
                  <a:lnTo>
                    <a:pt x="0" y="55"/>
                  </a:lnTo>
                  <a:lnTo>
                    <a:pt x="55" y="0"/>
                  </a:lnTo>
                  <a:close/>
                </a:path>
              </a:pathLst>
            </a:custGeom>
            <a:solidFill>
              <a:srgbClr val="BBE0E3"/>
            </a:solidFill>
            <a:ln w="11">
              <a:solidFill>
                <a:srgbClr val="BBE0E3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1547" name="Freeform 43"/>
            <p:cNvSpPr>
              <a:spLocks/>
            </p:cNvSpPr>
            <p:nvPr/>
          </p:nvSpPr>
          <p:spPr bwMode="auto">
            <a:xfrm>
              <a:off x="3872" y="1601"/>
              <a:ext cx="111" cy="111"/>
            </a:xfrm>
            <a:custGeom>
              <a:avLst/>
              <a:gdLst/>
              <a:ahLst/>
              <a:cxnLst>
                <a:cxn ang="0">
                  <a:pos x="55" y="0"/>
                </a:cxn>
                <a:cxn ang="0">
                  <a:pos x="111" y="55"/>
                </a:cxn>
                <a:cxn ang="0">
                  <a:pos x="55" y="111"/>
                </a:cxn>
                <a:cxn ang="0">
                  <a:pos x="0" y="55"/>
                </a:cxn>
                <a:cxn ang="0">
                  <a:pos x="55" y="0"/>
                </a:cxn>
              </a:cxnLst>
              <a:rect l="0" t="0" r="r" b="b"/>
              <a:pathLst>
                <a:path w="111" h="111">
                  <a:moveTo>
                    <a:pt x="55" y="0"/>
                  </a:moveTo>
                  <a:lnTo>
                    <a:pt x="111" y="55"/>
                  </a:lnTo>
                  <a:lnTo>
                    <a:pt x="55" y="111"/>
                  </a:lnTo>
                  <a:lnTo>
                    <a:pt x="0" y="55"/>
                  </a:lnTo>
                  <a:lnTo>
                    <a:pt x="55" y="0"/>
                  </a:lnTo>
                  <a:close/>
                </a:path>
              </a:pathLst>
            </a:custGeom>
            <a:solidFill>
              <a:srgbClr val="BBE0E3"/>
            </a:solidFill>
            <a:ln w="11">
              <a:solidFill>
                <a:srgbClr val="BBE0E3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1548" name="Freeform 44"/>
            <p:cNvSpPr>
              <a:spLocks/>
            </p:cNvSpPr>
            <p:nvPr/>
          </p:nvSpPr>
          <p:spPr bwMode="auto">
            <a:xfrm>
              <a:off x="3872" y="1601"/>
              <a:ext cx="111" cy="111"/>
            </a:xfrm>
            <a:custGeom>
              <a:avLst/>
              <a:gdLst/>
              <a:ahLst/>
              <a:cxnLst>
                <a:cxn ang="0">
                  <a:pos x="55" y="0"/>
                </a:cxn>
                <a:cxn ang="0">
                  <a:pos x="111" y="55"/>
                </a:cxn>
                <a:cxn ang="0">
                  <a:pos x="55" y="111"/>
                </a:cxn>
                <a:cxn ang="0">
                  <a:pos x="0" y="55"/>
                </a:cxn>
                <a:cxn ang="0">
                  <a:pos x="55" y="0"/>
                </a:cxn>
              </a:cxnLst>
              <a:rect l="0" t="0" r="r" b="b"/>
              <a:pathLst>
                <a:path w="111" h="111">
                  <a:moveTo>
                    <a:pt x="55" y="0"/>
                  </a:moveTo>
                  <a:lnTo>
                    <a:pt x="111" y="55"/>
                  </a:lnTo>
                  <a:lnTo>
                    <a:pt x="55" y="111"/>
                  </a:lnTo>
                  <a:lnTo>
                    <a:pt x="0" y="55"/>
                  </a:lnTo>
                  <a:lnTo>
                    <a:pt x="55" y="0"/>
                  </a:lnTo>
                  <a:close/>
                </a:path>
              </a:pathLst>
            </a:custGeom>
            <a:solidFill>
              <a:srgbClr val="BBE0E3"/>
            </a:solidFill>
            <a:ln w="11">
              <a:solidFill>
                <a:srgbClr val="BBE0E3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1549" name="Freeform 45"/>
            <p:cNvSpPr>
              <a:spLocks/>
            </p:cNvSpPr>
            <p:nvPr/>
          </p:nvSpPr>
          <p:spPr bwMode="auto">
            <a:xfrm>
              <a:off x="3872" y="1601"/>
              <a:ext cx="111" cy="111"/>
            </a:xfrm>
            <a:custGeom>
              <a:avLst/>
              <a:gdLst/>
              <a:ahLst/>
              <a:cxnLst>
                <a:cxn ang="0">
                  <a:pos x="55" y="0"/>
                </a:cxn>
                <a:cxn ang="0">
                  <a:pos x="111" y="55"/>
                </a:cxn>
                <a:cxn ang="0">
                  <a:pos x="55" y="111"/>
                </a:cxn>
                <a:cxn ang="0">
                  <a:pos x="0" y="55"/>
                </a:cxn>
                <a:cxn ang="0">
                  <a:pos x="55" y="0"/>
                </a:cxn>
              </a:cxnLst>
              <a:rect l="0" t="0" r="r" b="b"/>
              <a:pathLst>
                <a:path w="111" h="111">
                  <a:moveTo>
                    <a:pt x="55" y="0"/>
                  </a:moveTo>
                  <a:lnTo>
                    <a:pt x="111" y="55"/>
                  </a:lnTo>
                  <a:lnTo>
                    <a:pt x="55" y="111"/>
                  </a:lnTo>
                  <a:lnTo>
                    <a:pt x="0" y="55"/>
                  </a:lnTo>
                  <a:lnTo>
                    <a:pt x="55" y="0"/>
                  </a:lnTo>
                  <a:close/>
                </a:path>
              </a:pathLst>
            </a:custGeom>
            <a:solidFill>
              <a:srgbClr val="BBE0E3"/>
            </a:solidFill>
            <a:ln w="11">
              <a:solidFill>
                <a:srgbClr val="BBE0E3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1550" name="Freeform 46"/>
            <p:cNvSpPr>
              <a:spLocks/>
            </p:cNvSpPr>
            <p:nvPr/>
          </p:nvSpPr>
          <p:spPr bwMode="auto">
            <a:xfrm>
              <a:off x="3872" y="1601"/>
              <a:ext cx="111" cy="111"/>
            </a:xfrm>
            <a:custGeom>
              <a:avLst/>
              <a:gdLst/>
              <a:ahLst/>
              <a:cxnLst>
                <a:cxn ang="0">
                  <a:pos x="55" y="0"/>
                </a:cxn>
                <a:cxn ang="0">
                  <a:pos x="111" y="55"/>
                </a:cxn>
                <a:cxn ang="0">
                  <a:pos x="55" y="111"/>
                </a:cxn>
                <a:cxn ang="0">
                  <a:pos x="0" y="55"/>
                </a:cxn>
                <a:cxn ang="0">
                  <a:pos x="55" y="0"/>
                </a:cxn>
              </a:cxnLst>
              <a:rect l="0" t="0" r="r" b="b"/>
              <a:pathLst>
                <a:path w="111" h="111">
                  <a:moveTo>
                    <a:pt x="55" y="0"/>
                  </a:moveTo>
                  <a:lnTo>
                    <a:pt x="111" y="55"/>
                  </a:lnTo>
                  <a:lnTo>
                    <a:pt x="55" y="111"/>
                  </a:lnTo>
                  <a:lnTo>
                    <a:pt x="0" y="55"/>
                  </a:lnTo>
                  <a:lnTo>
                    <a:pt x="55" y="0"/>
                  </a:lnTo>
                  <a:close/>
                </a:path>
              </a:pathLst>
            </a:custGeom>
            <a:solidFill>
              <a:srgbClr val="BBE0E3"/>
            </a:solidFill>
            <a:ln w="11">
              <a:solidFill>
                <a:srgbClr val="BBE0E3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1551" name="Freeform 47"/>
            <p:cNvSpPr>
              <a:spLocks/>
            </p:cNvSpPr>
            <p:nvPr/>
          </p:nvSpPr>
          <p:spPr bwMode="auto">
            <a:xfrm>
              <a:off x="3872" y="1601"/>
              <a:ext cx="111" cy="111"/>
            </a:xfrm>
            <a:custGeom>
              <a:avLst/>
              <a:gdLst/>
              <a:ahLst/>
              <a:cxnLst>
                <a:cxn ang="0">
                  <a:pos x="55" y="0"/>
                </a:cxn>
                <a:cxn ang="0">
                  <a:pos x="111" y="55"/>
                </a:cxn>
                <a:cxn ang="0">
                  <a:pos x="55" y="111"/>
                </a:cxn>
                <a:cxn ang="0">
                  <a:pos x="0" y="55"/>
                </a:cxn>
                <a:cxn ang="0">
                  <a:pos x="55" y="0"/>
                </a:cxn>
              </a:cxnLst>
              <a:rect l="0" t="0" r="r" b="b"/>
              <a:pathLst>
                <a:path w="111" h="111">
                  <a:moveTo>
                    <a:pt x="55" y="0"/>
                  </a:moveTo>
                  <a:lnTo>
                    <a:pt x="111" y="55"/>
                  </a:lnTo>
                  <a:lnTo>
                    <a:pt x="55" y="111"/>
                  </a:lnTo>
                  <a:lnTo>
                    <a:pt x="0" y="55"/>
                  </a:lnTo>
                  <a:lnTo>
                    <a:pt x="55" y="0"/>
                  </a:lnTo>
                  <a:close/>
                </a:path>
              </a:pathLst>
            </a:custGeom>
            <a:solidFill>
              <a:srgbClr val="BBE0E3"/>
            </a:solidFill>
            <a:ln w="11">
              <a:solidFill>
                <a:srgbClr val="BBE0E3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1552" name="Freeform 48"/>
            <p:cNvSpPr>
              <a:spLocks/>
            </p:cNvSpPr>
            <p:nvPr/>
          </p:nvSpPr>
          <p:spPr bwMode="auto">
            <a:xfrm>
              <a:off x="3872" y="1601"/>
              <a:ext cx="111" cy="111"/>
            </a:xfrm>
            <a:custGeom>
              <a:avLst/>
              <a:gdLst/>
              <a:ahLst/>
              <a:cxnLst>
                <a:cxn ang="0">
                  <a:pos x="55" y="0"/>
                </a:cxn>
                <a:cxn ang="0">
                  <a:pos x="111" y="55"/>
                </a:cxn>
                <a:cxn ang="0">
                  <a:pos x="55" y="111"/>
                </a:cxn>
                <a:cxn ang="0">
                  <a:pos x="0" y="55"/>
                </a:cxn>
                <a:cxn ang="0">
                  <a:pos x="55" y="0"/>
                </a:cxn>
              </a:cxnLst>
              <a:rect l="0" t="0" r="r" b="b"/>
              <a:pathLst>
                <a:path w="111" h="111">
                  <a:moveTo>
                    <a:pt x="55" y="0"/>
                  </a:moveTo>
                  <a:lnTo>
                    <a:pt x="111" y="55"/>
                  </a:lnTo>
                  <a:lnTo>
                    <a:pt x="55" y="111"/>
                  </a:lnTo>
                  <a:lnTo>
                    <a:pt x="0" y="55"/>
                  </a:lnTo>
                  <a:lnTo>
                    <a:pt x="55" y="0"/>
                  </a:lnTo>
                  <a:close/>
                </a:path>
              </a:pathLst>
            </a:custGeom>
            <a:solidFill>
              <a:srgbClr val="BBE0E3"/>
            </a:solidFill>
            <a:ln w="11">
              <a:solidFill>
                <a:srgbClr val="BBE0E3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1553" name="Freeform 49"/>
            <p:cNvSpPr>
              <a:spLocks/>
            </p:cNvSpPr>
            <p:nvPr/>
          </p:nvSpPr>
          <p:spPr bwMode="auto">
            <a:xfrm>
              <a:off x="3872" y="1601"/>
              <a:ext cx="111" cy="111"/>
            </a:xfrm>
            <a:custGeom>
              <a:avLst/>
              <a:gdLst/>
              <a:ahLst/>
              <a:cxnLst>
                <a:cxn ang="0">
                  <a:pos x="55" y="0"/>
                </a:cxn>
                <a:cxn ang="0">
                  <a:pos x="111" y="55"/>
                </a:cxn>
                <a:cxn ang="0">
                  <a:pos x="55" y="111"/>
                </a:cxn>
                <a:cxn ang="0">
                  <a:pos x="0" y="55"/>
                </a:cxn>
                <a:cxn ang="0">
                  <a:pos x="55" y="0"/>
                </a:cxn>
              </a:cxnLst>
              <a:rect l="0" t="0" r="r" b="b"/>
              <a:pathLst>
                <a:path w="111" h="111">
                  <a:moveTo>
                    <a:pt x="55" y="0"/>
                  </a:moveTo>
                  <a:lnTo>
                    <a:pt x="111" y="55"/>
                  </a:lnTo>
                  <a:lnTo>
                    <a:pt x="55" y="111"/>
                  </a:lnTo>
                  <a:lnTo>
                    <a:pt x="0" y="55"/>
                  </a:lnTo>
                  <a:lnTo>
                    <a:pt x="55" y="0"/>
                  </a:lnTo>
                  <a:close/>
                </a:path>
              </a:pathLst>
            </a:custGeom>
            <a:solidFill>
              <a:srgbClr val="BBE0E3"/>
            </a:solidFill>
            <a:ln w="11">
              <a:solidFill>
                <a:srgbClr val="BBE0E3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1554" name="Freeform 50"/>
            <p:cNvSpPr>
              <a:spLocks/>
            </p:cNvSpPr>
            <p:nvPr/>
          </p:nvSpPr>
          <p:spPr bwMode="auto">
            <a:xfrm>
              <a:off x="3872" y="1601"/>
              <a:ext cx="111" cy="111"/>
            </a:xfrm>
            <a:custGeom>
              <a:avLst/>
              <a:gdLst/>
              <a:ahLst/>
              <a:cxnLst>
                <a:cxn ang="0">
                  <a:pos x="55" y="0"/>
                </a:cxn>
                <a:cxn ang="0">
                  <a:pos x="111" y="55"/>
                </a:cxn>
                <a:cxn ang="0">
                  <a:pos x="55" y="111"/>
                </a:cxn>
                <a:cxn ang="0">
                  <a:pos x="0" y="55"/>
                </a:cxn>
                <a:cxn ang="0">
                  <a:pos x="55" y="0"/>
                </a:cxn>
              </a:cxnLst>
              <a:rect l="0" t="0" r="r" b="b"/>
              <a:pathLst>
                <a:path w="111" h="111">
                  <a:moveTo>
                    <a:pt x="55" y="0"/>
                  </a:moveTo>
                  <a:lnTo>
                    <a:pt x="111" y="55"/>
                  </a:lnTo>
                  <a:lnTo>
                    <a:pt x="55" y="111"/>
                  </a:lnTo>
                  <a:lnTo>
                    <a:pt x="0" y="55"/>
                  </a:lnTo>
                  <a:lnTo>
                    <a:pt x="55" y="0"/>
                  </a:lnTo>
                  <a:close/>
                </a:path>
              </a:pathLst>
            </a:custGeom>
            <a:solidFill>
              <a:srgbClr val="BBE0E3"/>
            </a:solidFill>
            <a:ln w="11">
              <a:solidFill>
                <a:srgbClr val="BBE0E3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1555" name="Freeform 51"/>
            <p:cNvSpPr>
              <a:spLocks/>
            </p:cNvSpPr>
            <p:nvPr/>
          </p:nvSpPr>
          <p:spPr bwMode="auto">
            <a:xfrm>
              <a:off x="3872" y="1601"/>
              <a:ext cx="111" cy="111"/>
            </a:xfrm>
            <a:custGeom>
              <a:avLst/>
              <a:gdLst/>
              <a:ahLst/>
              <a:cxnLst>
                <a:cxn ang="0">
                  <a:pos x="55" y="0"/>
                </a:cxn>
                <a:cxn ang="0">
                  <a:pos x="111" y="55"/>
                </a:cxn>
                <a:cxn ang="0">
                  <a:pos x="55" y="111"/>
                </a:cxn>
                <a:cxn ang="0">
                  <a:pos x="0" y="55"/>
                </a:cxn>
                <a:cxn ang="0">
                  <a:pos x="55" y="0"/>
                </a:cxn>
              </a:cxnLst>
              <a:rect l="0" t="0" r="r" b="b"/>
              <a:pathLst>
                <a:path w="111" h="111">
                  <a:moveTo>
                    <a:pt x="55" y="0"/>
                  </a:moveTo>
                  <a:lnTo>
                    <a:pt x="111" y="55"/>
                  </a:lnTo>
                  <a:lnTo>
                    <a:pt x="55" y="111"/>
                  </a:lnTo>
                  <a:lnTo>
                    <a:pt x="0" y="55"/>
                  </a:lnTo>
                  <a:lnTo>
                    <a:pt x="55" y="0"/>
                  </a:lnTo>
                  <a:close/>
                </a:path>
              </a:pathLst>
            </a:custGeom>
            <a:solidFill>
              <a:srgbClr val="BBE0E3"/>
            </a:solidFill>
            <a:ln w="11">
              <a:solidFill>
                <a:srgbClr val="BBE0E3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1556" name="Freeform 52"/>
            <p:cNvSpPr>
              <a:spLocks/>
            </p:cNvSpPr>
            <p:nvPr/>
          </p:nvSpPr>
          <p:spPr bwMode="auto">
            <a:xfrm>
              <a:off x="3872" y="1601"/>
              <a:ext cx="111" cy="111"/>
            </a:xfrm>
            <a:custGeom>
              <a:avLst/>
              <a:gdLst/>
              <a:ahLst/>
              <a:cxnLst>
                <a:cxn ang="0">
                  <a:pos x="55" y="0"/>
                </a:cxn>
                <a:cxn ang="0">
                  <a:pos x="111" y="55"/>
                </a:cxn>
                <a:cxn ang="0">
                  <a:pos x="55" y="111"/>
                </a:cxn>
                <a:cxn ang="0">
                  <a:pos x="0" y="55"/>
                </a:cxn>
                <a:cxn ang="0">
                  <a:pos x="55" y="0"/>
                </a:cxn>
              </a:cxnLst>
              <a:rect l="0" t="0" r="r" b="b"/>
              <a:pathLst>
                <a:path w="111" h="111">
                  <a:moveTo>
                    <a:pt x="55" y="0"/>
                  </a:moveTo>
                  <a:lnTo>
                    <a:pt x="111" y="55"/>
                  </a:lnTo>
                  <a:lnTo>
                    <a:pt x="55" y="111"/>
                  </a:lnTo>
                  <a:lnTo>
                    <a:pt x="0" y="55"/>
                  </a:lnTo>
                  <a:lnTo>
                    <a:pt x="55" y="0"/>
                  </a:lnTo>
                  <a:close/>
                </a:path>
              </a:pathLst>
            </a:custGeom>
            <a:solidFill>
              <a:srgbClr val="BBE0E3"/>
            </a:solidFill>
            <a:ln w="11">
              <a:solidFill>
                <a:srgbClr val="BBE0E3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1557" name="Freeform 53"/>
            <p:cNvSpPr>
              <a:spLocks/>
            </p:cNvSpPr>
            <p:nvPr/>
          </p:nvSpPr>
          <p:spPr bwMode="auto">
            <a:xfrm>
              <a:off x="3872" y="1601"/>
              <a:ext cx="111" cy="111"/>
            </a:xfrm>
            <a:custGeom>
              <a:avLst/>
              <a:gdLst/>
              <a:ahLst/>
              <a:cxnLst>
                <a:cxn ang="0">
                  <a:pos x="55" y="0"/>
                </a:cxn>
                <a:cxn ang="0">
                  <a:pos x="111" y="55"/>
                </a:cxn>
                <a:cxn ang="0">
                  <a:pos x="55" y="111"/>
                </a:cxn>
                <a:cxn ang="0">
                  <a:pos x="0" y="55"/>
                </a:cxn>
                <a:cxn ang="0">
                  <a:pos x="55" y="0"/>
                </a:cxn>
              </a:cxnLst>
              <a:rect l="0" t="0" r="r" b="b"/>
              <a:pathLst>
                <a:path w="111" h="111">
                  <a:moveTo>
                    <a:pt x="55" y="0"/>
                  </a:moveTo>
                  <a:lnTo>
                    <a:pt x="111" y="55"/>
                  </a:lnTo>
                  <a:lnTo>
                    <a:pt x="55" y="111"/>
                  </a:lnTo>
                  <a:lnTo>
                    <a:pt x="0" y="55"/>
                  </a:lnTo>
                  <a:lnTo>
                    <a:pt x="55" y="0"/>
                  </a:lnTo>
                  <a:close/>
                </a:path>
              </a:pathLst>
            </a:custGeom>
            <a:solidFill>
              <a:srgbClr val="BBE0E3"/>
            </a:solidFill>
            <a:ln w="11">
              <a:solidFill>
                <a:srgbClr val="BBE0E3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1558" name="Freeform 54"/>
            <p:cNvSpPr>
              <a:spLocks/>
            </p:cNvSpPr>
            <p:nvPr/>
          </p:nvSpPr>
          <p:spPr bwMode="auto">
            <a:xfrm>
              <a:off x="3872" y="1601"/>
              <a:ext cx="111" cy="111"/>
            </a:xfrm>
            <a:custGeom>
              <a:avLst/>
              <a:gdLst/>
              <a:ahLst/>
              <a:cxnLst>
                <a:cxn ang="0">
                  <a:pos x="55" y="0"/>
                </a:cxn>
                <a:cxn ang="0">
                  <a:pos x="111" y="55"/>
                </a:cxn>
                <a:cxn ang="0">
                  <a:pos x="55" y="111"/>
                </a:cxn>
                <a:cxn ang="0">
                  <a:pos x="0" y="55"/>
                </a:cxn>
                <a:cxn ang="0">
                  <a:pos x="55" y="0"/>
                </a:cxn>
              </a:cxnLst>
              <a:rect l="0" t="0" r="r" b="b"/>
              <a:pathLst>
                <a:path w="111" h="111">
                  <a:moveTo>
                    <a:pt x="55" y="0"/>
                  </a:moveTo>
                  <a:lnTo>
                    <a:pt x="111" y="55"/>
                  </a:lnTo>
                  <a:lnTo>
                    <a:pt x="55" y="111"/>
                  </a:lnTo>
                  <a:lnTo>
                    <a:pt x="0" y="55"/>
                  </a:lnTo>
                  <a:lnTo>
                    <a:pt x="55" y="0"/>
                  </a:lnTo>
                  <a:close/>
                </a:path>
              </a:pathLst>
            </a:custGeom>
            <a:solidFill>
              <a:srgbClr val="BBE0E3"/>
            </a:solidFill>
            <a:ln w="11">
              <a:solidFill>
                <a:srgbClr val="BBE0E3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1559" name="Freeform 55"/>
            <p:cNvSpPr>
              <a:spLocks/>
            </p:cNvSpPr>
            <p:nvPr/>
          </p:nvSpPr>
          <p:spPr bwMode="auto">
            <a:xfrm>
              <a:off x="3817" y="1701"/>
              <a:ext cx="110" cy="110"/>
            </a:xfrm>
            <a:custGeom>
              <a:avLst/>
              <a:gdLst/>
              <a:ahLst/>
              <a:cxnLst>
                <a:cxn ang="0">
                  <a:pos x="55" y="0"/>
                </a:cxn>
                <a:cxn ang="0">
                  <a:pos x="110" y="55"/>
                </a:cxn>
                <a:cxn ang="0">
                  <a:pos x="55" y="110"/>
                </a:cxn>
                <a:cxn ang="0">
                  <a:pos x="0" y="55"/>
                </a:cxn>
                <a:cxn ang="0">
                  <a:pos x="55" y="0"/>
                </a:cxn>
              </a:cxnLst>
              <a:rect l="0" t="0" r="r" b="b"/>
              <a:pathLst>
                <a:path w="110" h="110">
                  <a:moveTo>
                    <a:pt x="55" y="0"/>
                  </a:moveTo>
                  <a:lnTo>
                    <a:pt x="110" y="55"/>
                  </a:lnTo>
                  <a:lnTo>
                    <a:pt x="55" y="110"/>
                  </a:lnTo>
                  <a:lnTo>
                    <a:pt x="0" y="55"/>
                  </a:lnTo>
                  <a:lnTo>
                    <a:pt x="55" y="0"/>
                  </a:lnTo>
                  <a:close/>
                </a:path>
              </a:pathLst>
            </a:custGeom>
            <a:solidFill>
              <a:srgbClr val="BBE0E3"/>
            </a:solidFill>
            <a:ln w="11">
              <a:solidFill>
                <a:srgbClr val="BBE0E3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1560" name="Freeform 56"/>
            <p:cNvSpPr>
              <a:spLocks/>
            </p:cNvSpPr>
            <p:nvPr/>
          </p:nvSpPr>
          <p:spPr bwMode="auto">
            <a:xfrm>
              <a:off x="3739" y="1701"/>
              <a:ext cx="111" cy="110"/>
            </a:xfrm>
            <a:custGeom>
              <a:avLst/>
              <a:gdLst/>
              <a:ahLst/>
              <a:cxnLst>
                <a:cxn ang="0">
                  <a:pos x="56" y="0"/>
                </a:cxn>
                <a:cxn ang="0">
                  <a:pos x="111" y="55"/>
                </a:cxn>
                <a:cxn ang="0">
                  <a:pos x="56" y="110"/>
                </a:cxn>
                <a:cxn ang="0">
                  <a:pos x="0" y="55"/>
                </a:cxn>
                <a:cxn ang="0">
                  <a:pos x="56" y="0"/>
                </a:cxn>
              </a:cxnLst>
              <a:rect l="0" t="0" r="r" b="b"/>
              <a:pathLst>
                <a:path w="111" h="110">
                  <a:moveTo>
                    <a:pt x="56" y="0"/>
                  </a:moveTo>
                  <a:lnTo>
                    <a:pt x="111" y="55"/>
                  </a:lnTo>
                  <a:lnTo>
                    <a:pt x="56" y="110"/>
                  </a:lnTo>
                  <a:lnTo>
                    <a:pt x="0" y="55"/>
                  </a:lnTo>
                  <a:lnTo>
                    <a:pt x="56" y="0"/>
                  </a:lnTo>
                  <a:close/>
                </a:path>
              </a:pathLst>
            </a:custGeom>
            <a:solidFill>
              <a:srgbClr val="BBE0E3"/>
            </a:solidFill>
            <a:ln w="11">
              <a:solidFill>
                <a:srgbClr val="BBE0E3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1561" name="Freeform 57"/>
            <p:cNvSpPr>
              <a:spLocks/>
            </p:cNvSpPr>
            <p:nvPr/>
          </p:nvSpPr>
          <p:spPr bwMode="auto">
            <a:xfrm>
              <a:off x="3706" y="1701"/>
              <a:ext cx="111" cy="110"/>
            </a:xfrm>
            <a:custGeom>
              <a:avLst/>
              <a:gdLst/>
              <a:ahLst/>
              <a:cxnLst>
                <a:cxn ang="0">
                  <a:pos x="55" y="0"/>
                </a:cxn>
                <a:cxn ang="0">
                  <a:pos x="111" y="55"/>
                </a:cxn>
                <a:cxn ang="0">
                  <a:pos x="55" y="110"/>
                </a:cxn>
                <a:cxn ang="0">
                  <a:pos x="0" y="55"/>
                </a:cxn>
                <a:cxn ang="0">
                  <a:pos x="55" y="0"/>
                </a:cxn>
              </a:cxnLst>
              <a:rect l="0" t="0" r="r" b="b"/>
              <a:pathLst>
                <a:path w="111" h="110">
                  <a:moveTo>
                    <a:pt x="55" y="0"/>
                  </a:moveTo>
                  <a:lnTo>
                    <a:pt x="111" y="55"/>
                  </a:lnTo>
                  <a:lnTo>
                    <a:pt x="55" y="110"/>
                  </a:lnTo>
                  <a:lnTo>
                    <a:pt x="0" y="55"/>
                  </a:lnTo>
                  <a:lnTo>
                    <a:pt x="55" y="0"/>
                  </a:lnTo>
                  <a:close/>
                </a:path>
              </a:pathLst>
            </a:custGeom>
            <a:solidFill>
              <a:srgbClr val="BBE0E3"/>
            </a:solidFill>
            <a:ln w="11">
              <a:solidFill>
                <a:srgbClr val="BBE0E3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1562" name="Freeform 58"/>
            <p:cNvSpPr>
              <a:spLocks/>
            </p:cNvSpPr>
            <p:nvPr/>
          </p:nvSpPr>
          <p:spPr bwMode="auto">
            <a:xfrm>
              <a:off x="3817" y="1701"/>
              <a:ext cx="110" cy="110"/>
            </a:xfrm>
            <a:custGeom>
              <a:avLst/>
              <a:gdLst/>
              <a:ahLst/>
              <a:cxnLst>
                <a:cxn ang="0">
                  <a:pos x="55" y="0"/>
                </a:cxn>
                <a:cxn ang="0">
                  <a:pos x="110" y="55"/>
                </a:cxn>
                <a:cxn ang="0">
                  <a:pos x="55" y="110"/>
                </a:cxn>
                <a:cxn ang="0">
                  <a:pos x="0" y="55"/>
                </a:cxn>
                <a:cxn ang="0">
                  <a:pos x="55" y="0"/>
                </a:cxn>
              </a:cxnLst>
              <a:rect l="0" t="0" r="r" b="b"/>
              <a:pathLst>
                <a:path w="110" h="110">
                  <a:moveTo>
                    <a:pt x="55" y="0"/>
                  </a:moveTo>
                  <a:lnTo>
                    <a:pt x="110" y="55"/>
                  </a:lnTo>
                  <a:lnTo>
                    <a:pt x="55" y="110"/>
                  </a:lnTo>
                  <a:lnTo>
                    <a:pt x="0" y="55"/>
                  </a:lnTo>
                  <a:lnTo>
                    <a:pt x="55" y="0"/>
                  </a:lnTo>
                  <a:close/>
                </a:path>
              </a:pathLst>
            </a:custGeom>
            <a:solidFill>
              <a:srgbClr val="BBE0E3"/>
            </a:solidFill>
            <a:ln w="11">
              <a:solidFill>
                <a:srgbClr val="BBE0E3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1563" name="Freeform 59"/>
            <p:cNvSpPr>
              <a:spLocks/>
            </p:cNvSpPr>
            <p:nvPr/>
          </p:nvSpPr>
          <p:spPr bwMode="auto">
            <a:xfrm>
              <a:off x="3673" y="1701"/>
              <a:ext cx="110" cy="110"/>
            </a:xfrm>
            <a:custGeom>
              <a:avLst/>
              <a:gdLst/>
              <a:ahLst/>
              <a:cxnLst>
                <a:cxn ang="0">
                  <a:pos x="55" y="0"/>
                </a:cxn>
                <a:cxn ang="0">
                  <a:pos x="110" y="55"/>
                </a:cxn>
                <a:cxn ang="0">
                  <a:pos x="55" y="110"/>
                </a:cxn>
                <a:cxn ang="0">
                  <a:pos x="0" y="55"/>
                </a:cxn>
                <a:cxn ang="0">
                  <a:pos x="55" y="0"/>
                </a:cxn>
              </a:cxnLst>
              <a:rect l="0" t="0" r="r" b="b"/>
              <a:pathLst>
                <a:path w="110" h="110">
                  <a:moveTo>
                    <a:pt x="55" y="0"/>
                  </a:moveTo>
                  <a:lnTo>
                    <a:pt x="110" y="55"/>
                  </a:lnTo>
                  <a:lnTo>
                    <a:pt x="55" y="110"/>
                  </a:lnTo>
                  <a:lnTo>
                    <a:pt x="0" y="55"/>
                  </a:lnTo>
                  <a:lnTo>
                    <a:pt x="55" y="0"/>
                  </a:lnTo>
                  <a:close/>
                </a:path>
              </a:pathLst>
            </a:custGeom>
            <a:solidFill>
              <a:srgbClr val="BBE0E3"/>
            </a:solidFill>
            <a:ln w="11">
              <a:solidFill>
                <a:srgbClr val="BBE0E3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1564" name="Freeform 60"/>
            <p:cNvSpPr>
              <a:spLocks/>
            </p:cNvSpPr>
            <p:nvPr/>
          </p:nvSpPr>
          <p:spPr bwMode="auto">
            <a:xfrm>
              <a:off x="3673" y="1701"/>
              <a:ext cx="110" cy="110"/>
            </a:xfrm>
            <a:custGeom>
              <a:avLst/>
              <a:gdLst/>
              <a:ahLst/>
              <a:cxnLst>
                <a:cxn ang="0">
                  <a:pos x="55" y="0"/>
                </a:cxn>
                <a:cxn ang="0">
                  <a:pos x="110" y="55"/>
                </a:cxn>
                <a:cxn ang="0">
                  <a:pos x="55" y="110"/>
                </a:cxn>
                <a:cxn ang="0">
                  <a:pos x="0" y="55"/>
                </a:cxn>
                <a:cxn ang="0">
                  <a:pos x="55" y="0"/>
                </a:cxn>
              </a:cxnLst>
              <a:rect l="0" t="0" r="r" b="b"/>
              <a:pathLst>
                <a:path w="110" h="110">
                  <a:moveTo>
                    <a:pt x="55" y="0"/>
                  </a:moveTo>
                  <a:lnTo>
                    <a:pt x="110" y="55"/>
                  </a:lnTo>
                  <a:lnTo>
                    <a:pt x="55" y="110"/>
                  </a:lnTo>
                  <a:lnTo>
                    <a:pt x="0" y="55"/>
                  </a:lnTo>
                  <a:lnTo>
                    <a:pt x="55" y="0"/>
                  </a:lnTo>
                  <a:close/>
                </a:path>
              </a:pathLst>
            </a:custGeom>
            <a:solidFill>
              <a:srgbClr val="BBE0E3"/>
            </a:solidFill>
            <a:ln w="11">
              <a:solidFill>
                <a:srgbClr val="BBE0E3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1565" name="Freeform 61"/>
            <p:cNvSpPr>
              <a:spLocks/>
            </p:cNvSpPr>
            <p:nvPr/>
          </p:nvSpPr>
          <p:spPr bwMode="auto">
            <a:xfrm>
              <a:off x="3739" y="1701"/>
              <a:ext cx="111" cy="110"/>
            </a:xfrm>
            <a:custGeom>
              <a:avLst/>
              <a:gdLst/>
              <a:ahLst/>
              <a:cxnLst>
                <a:cxn ang="0">
                  <a:pos x="56" y="0"/>
                </a:cxn>
                <a:cxn ang="0">
                  <a:pos x="111" y="55"/>
                </a:cxn>
                <a:cxn ang="0">
                  <a:pos x="56" y="110"/>
                </a:cxn>
                <a:cxn ang="0">
                  <a:pos x="0" y="55"/>
                </a:cxn>
                <a:cxn ang="0">
                  <a:pos x="56" y="0"/>
                </a:cxn>
              </a:cxnLst>
              <a:rect l="0" t="0" r="r" b="b"/>
              <a:pathLst>
                <a:path w="111" h="110">
                  <a:moveTo>
                    <a:pt x="56" y="0"/>
                  </a:moveTo>
                  <a:lnTo>
                    <a:pt x="111" y="55"/>
                  </a:lnTo>
                  <a:lnTo>
                    <a:pt x="56" y="110"/>
                  </a:lnTo>
                  <a:lnTo>
                    <a:pt x="0" y="55"/>
                  </a:lnTo>
                  <a:lnTo>
                    <a:pt x="56" y="0"/>
                  </a:lnTo>
                  <a:close/>
                </a:path>
              </a:pathLst>
            </a:custGeom>
            <a:solidFill>
              <a:srgbClr val="BBE0E3"/>
            </a:solidFill>
            <a:ln w="11">
              <a:solidFill>
                <a:srgbClr val="BBE0E3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1566" name="Freeform 62"/>
            <p:cNvSpPr>
              <a:spLocks/>
            </p:cNvSpPr>
            <p:nvPr/>
          </p:nvSpPr>
          <p:spPr bwMode="auto">
            <a:xfrm>
              <a:off x="3673" y="1701"/>
              <a:ext cx="110" cy="110"/>
            </a:xfrm>
            <a:custGeom>
              <a:avLst/>
              <a:gdLst/>
              <a:ahLst/>
              <a:cxnLst>
                <a:cxn ang="0">
                  <a:pos x="55" y="0"/>
                </a:cxn>
                <a:cxn ang="0">
                  <a:pos x="110" y="55"/>
                </a:cxn>
                <a:cxn ang="0">
                  <a:pos x="55" y="110"/>
                </a:cxn>
                <a:cxn ang="0">
                  <a:pos x="0" y="55"/>
                </a:cxn>
                <a:cxn ang="0">
                  <a:pos x="55" y="0"/>
                </a:cxn>
              </a:cxnLst>
              <a:rect l="0" t="0" r="r" b="b"/>
              <a:pathLst>
                <a:path w="110" h="110">
                  <a:moveTo>
                    <a:pt x="55" y="0"/>
                  </a:moveTo>
                  <a:lnTo>
                    <a:pt x="110" y="55"/>
                  </a:lnTo>
                  <a:lnTo>
                    <a:pt x="55" y="110"/>
                  </a:lnTo>
                  <a:lnTo>
                    <a:pt x="0" y="55"/>
                  </a:lnTo>
                  <a:lnTo>
                    <a:pt x="55" y="0"/>
                  </a:lnTo>
                  <a:close/>
                </a:path>
              </a:pathLst>
            </a:custGeom>
            <a:solidFill>
              <a:srgbClr val="BBE0E3"/>
            </a:solidFill>
            <a:ln w="11">
              <a:solidFill>
                <a:srgbClr val="BBE0E3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1567" name="Freeform 63"/>
            <p:cNvSpPr>
              <a:spLocks/>
            </p:cNvSpPr>
            <p:nvPr/>
          </p:nvSpPr>
          <p:spPr bwMode="auto">
            <a:xfrm>
              <a:off x="3673" y="1701"/>
              <a:ext cx="110" cy="110"/>
            </a:xfrm>
            <a:custGeom>
              <a:avLst/>
              <a:gdLst/>
              <a:ahLst/>
              <a:cxnLst>
                <a:cxn ang="0">
                  <a:pos x="55" y="0"/>
                </a:cxn>
                <a:cxn ang="0">
                  <a:pos x="110" y="55"/>
                </a:cxn>
                <a:cxn ang="0">
                  <a:pos x="55" y="110"/>
                </a:cxn>
                <a:cxn ang="0">
                  <a:pos x="0" y="55"/>
                </a:cxn>
                <a:cxn ang="0">
                  <a:pos x="55" y="0"/>
                </a:cxn>
              </a:cxnLst>
              <a:rect l="0" t="0" r="r" b="b"/>
              <a:pathLst>
                <a:path w="110" h="110">
                  <a:moveTo>
                    <a:pt x="55" y="0"/>
                  </a:moveTo>
                  <a:lnTo>
                    <a:pt x="110" y="55"/>
                  </a:lnTo>
                  <a:lnTo>
                    <a:pt x="55" y="110"/>
                  </a:lnTo>
                  <a:lnTo>
                    <a:pt x="0" y="55"/>
                  </a:lnTo>
                  <a:lnTo>
                    <a:pt x="55" y="0"/>
                  </a:lnTo>
                  <a:close/>
                </a:path>
              </a:pathLst>
            </a:custGeom>
            <a:solidFill>
              <a:srgbClr val="BBE0E3"/>
            </a:solidFill>
            <a:ln w="11">
              <a:solidFill>
                <a:srgbClr val="BBE0E3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1568" name="Freeform 64"/>
            <p:cNvSpPr>
              <a:spLocks/>
            </p:cNvSpPr>
            <p:nvPr/>
          </p:nvSpPr>
          <p:spPr bwMode="auto">
            <a:xfrm>
              <a:off x="3618" y="1468"/>
              <a:ext cx="110" cy="111"/>
            </a:xfrm>
            <a:custGeom>
              <a:avLst/>
              <a:gdLst/>
              <a:ahLst/>
              <a:cxnLst>
                <a:cxn ang="0">
                  <a:pos x="55" y="0"/>
                </a:cxn>
                <a:cxn ang="0">
                  <a:pos x="110" y="56"/>
                </a:cxn>
                <a:cxn ang="0">
                  <a:pos x="55" y="111"/>
                </a:cxn>
                <a:cxn ang="0">
                  <a:pos x="0" y="56"/>
                </a:cxn>
                <a:cxn ang="0">
                  <a:pos x="55" y="0"/>
                </a:cxn>
              </a:cxnLst>
              <a:rect l="0" t="0" r="r" b="b"/>
              <a:pathLst>
                <a:path w="110" h="111">
                  <a:moveTo>
                    <a:pt x="55" y="0"/>
                  </a:moveTo>
                  <a:lnTo>
                    <a:pt x="110" y="56"/>
                  </a:lnTo>
                  <a:lnTo>
                    <a:pt x="55" y="111"/>
                  </a:lnTo>
                  <a:lnTo>
                    <a:pt x="0" y="56"/>
                  </a:lnTo>
                  <a:lnTo>
                    <a:pt x="55" y="0"/>
                  </a:lnTo>
                  <a:close/>
                </a:path>
              </a:pathLst>
            </a:custGeom>
            <a:solidFill>
              <a:srgbClr val="BBE0E3"/>
            </a:solidFill>
            <a:ln w="11">
              <a:solidFill>
                <a:srgbClr val="BBE0E3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1569" name="Freeform 65"/>
            <p:cNvSpPr>
              <a:spLocks/>
            </p:cNvSpPr>
            <p:nvPr/>
          </p:nvSpPr>
          <p:spPr bwMode="auto">
            <a:xfrm>
              <a:off x="3618" y="1468"/>
              <a:ext cx="110" cy="111"/>
            </a:xfrm>
            <a:custGeom>
              <a:avLst/>
              <a:gdLst/>
              <a:ahLst/>
              <a:cxnLst>
                <a:cxn ang="0">
                  <a:pos x="55" y="0"/>
                </a:cxn>
                <a:cxn ang="0">
                  <a:pos x="110" y="56"/>
                </a:cxn>
                <a:cxn ang="0">
                  <a:pos x="55" y="111"/>
                </a:cxn>
                <a:cxn ang="0">
                  <a:pos x="0" y="56"/>
                </a:cxn>
                <a:cxn ang="0">
                  <a:pos x="55" y="0"/>
                </a:cxn>
              </a:cxnLst>
              <a:rect l="0" t="0" r="r" b="b"/>
              <a:pathLst>
                <a:path w="110" h="111">
                  <a:moveTo>
                    <a:pt x="55" y="0"/>
                  </a:moveTo>
                  <a:lnTo>
                    <a:pt x="110" y="56"/>
                  </a:lnTo>
                  <a:lnTo>
                    <a:pt x="55" y="111"/>
                  </a:lnTo>
                  <a:lnTo>
                    <a:pt x="0" y="56"/>
                  </a:lnTo>
                  <a:lnTo>
                    <a:pt x="55" y="0"/>
                  </a:lnTo>
                  <a:close/>
                </a:path>
              </a:pathLst>
            </a:custGeom>
            <a:solidFill>
              <a:srgbClr val="BBE0E3"/>
            </a:solidFill>
            <a:ln w="11">
              <a:solidFill>
                <a:srgbClr val="BBE0E3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1570" name="Freeform 66"/>
            <p:cNvSpPr>
              <a:spLocks/>
            </p:cNvSpPr>
            <p:nvPr/>
          </p:nvSpPr>
          <p:spPr bwMode="auto">
            <a:xfrm>
              <a:off x="3618" y="1468"/>
              <a:ext cx="110" cy="111"/>
            </a:xfrm>
            <a:custGeom>
              <a:avLst/>
              <a:gdLst/>
              <a:ahLst/>
              <a:cxnLst>
                <a:cxn ang="0">
                  <a:pos x="55" y="0"/>
                </a:cxn>
                <a:cxn ang="0">
                  <a:pos x="110" y="56"/>
                </a:cxn>
                <a:cxn ang="0">
                  <a:pos x="55" y="111"/>
                </a:cxn>
                <a:cxn ang="0">
                  <a:pos x="0" y="56"/>
                </a:cxn>
                <a:cxn ang="0">
                  <a:pos x="55" y="0"/>
                </a:cxn>
              </a:cxnLst>
              <a:rect l="0" t="0" r="r" b="b"/>
              <a:pathLst>
                <a:path w="110" h="111">
                  <a:moveTo>
                    <a:pt x="55" y="0"/>
                  </a:moveTo>
                  <a:lnTo>
                    <a:pt x="110" y="56"/>
                  </a:lnTo>
                  <a:lnTo>
                    <a:pt x="55" y="111"/>
                  </a:lnTo>
                  <a:lnTo>
                    <a:pt x="0" y="56"/>
                  </a:lnTo>
                  <a:lnTo>
                    <a:pt x="55" y="0"/>
                  </a:lnTo>
                  <a:close/>
                </a:path>
              </a:pathLst>
            </a:custGeom>
            <a:solidFill>
              <a:srgbClr val="BBE0E3"/>
            </a:solidFill>
            <a:ln w="11">
              <a:solidFill>
                <a:srgbClr val="BBE0E3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1571" name="Freeform 67"/>
            <p:cNvSpPr>
              <a:spLocks/>
            </p:cNvSpPr>
            <p:nvPr/>
          </p:nvSpPr>
          <p:spPr bwMode="auto">
            <a:xfrm>
              <a:off x="3618" y="1468"/>
              <a:ext cx="110" cy="111"/>
            </a:xfrm>
            <a:custGeom>
              <a:avLst/>
              <a:gdLst/>
              <a:ahLst/>
              <a:cxnLst>
                <a:cxn ang="0">
                  <a:pos x="55" y="0"/>
                </a:cxn>
                <a:cxn ang="0">
                  <a:pos x="110" y="56"/>
                </a:cxn>
                <a:cxn ang="0">
                  <a:pos x="55" y="111"/>
                </a:cxn>
                <a:cxn ang="0">
                  <a:pos x="0" y="56"/>
                </a:cxn>
                <a:cxn ang="0">
                  <a:pos x="55" y="0"/>
                </a:cxn>
              </a:cxnLst>
              <a:rect l="0" t="0" r="r" b="b"/>
              <a:pathLst>
                <a:path w="110" h="111">
                  <a:moveTo>
                    <a:pt x="55" y="0"/>
                  </a:moveTo>
                  <a:lnTo>
                    <a:pt x="110" y="56"/>
                  </a:lnTo>
                  <a:lnTo>
                    <a:pt x="55" y="111"/>
                  </a:lnTo>
                  <a:lnTo>
                    <a:pt x="0" y="56"/>
                  </a:lnTo>
                  <a:lnTo>
                    <a:pt x="55" y="0"/>
                  </a:lnTo>
                  <a:close/>
                </a:path>
              </a:pathLst>
            </a:custGeom>
            <a:solidFill>
              <a:srgbClr val="BBE0E3"/>
            </a:solidFill>
            <a:ln w="11">
              <a:solidFill>
                <a:srgbClr val="BBE0E3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1572" name="Freeform 68"/>
            <p:cNvSpPr>
              <a:spLocks/>
            </p:cNvSpPr>
            <p:nvPr/>
          </p:nvSpPr>
          <p:spPr bwMode="auto">
            <a:xfrm>
              <a:off x="3584" y="1889"/>
              <a:ext cx="111" cy="110"/>
            </a:xfrm>
            <a:custGeom>
              <a:avLst/>
              <a:gdLst/>
              <a:ahLst/>
              <a:cxnLst>
                <a:cxn ang="0">
                  <a:pos x="56" y="0"/>
                </a:cxn>
                <a:cxn ang="0">
                  <a:pos x="111" y="55"/>
                </a:cxn>
                <a:cxn ang="0">
                  <a:pos x="56" y="110"/>
                </a:cxn>
                <a:cxn ang="0">
                  <a:pos x="0" y="55"/>
                </a:cxn>
                <a:cxn ang="0">
                  <a:pos x="56" y="0"/>
                </a:cxn>
              </a:cxnLst>
              <a:rect l="0" t="0" r="r" b="b"/>
              <a:pathLst>
                <a:path w="111" h="110">
                  <a:moveTo>
                    <a:pt x="56" y="0"/>
                  </a:moveTo>
                  <a:lnTo>
                    <a:pt x="111" y="55"/>
                  </a:lnTo>
                  <a:lnTo>
                    <a:pt x="56" y="110"/>
                  </a:lnTo>
                  <a:lnTo>
                    <a:pt x="0" y="55"/>
                  </a:lnTo>
                  <a:lnTo>
                    <a:pt x="56" y="0"/>
                  </a:lnTo>
                  <a:close/>
                </a:path>
              </a:pathLst>
            </a:custGeom>
            <a:solidFill>
              <a:srgbClr val="BBE0E3"/>
            </a:solidFill>
            <a:ln w="11">
              <a:solidFill>
                <a:srgbClr val="BBE0E3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1573" name="Freeform 69"/>
            <p:cNvSpPr>
              <a:spLocks/>
            </p:cNvSpPr>
            <p:nvPr/>
          </p:nvSpPr>
          <p:spPr bwMode="auto">
            <a:xfrm>
              <a:off x="3872" y="1800"/>
              <a:ext cx="111" cy="111"/>
            </a:xfrm>
            <a:custGeom>
              <a:avLst/>
              <a:gdLst/>
              <a:ahLst/>
              <a:cxnLst>
                <a:cxn ang="0">
                  <a:pos x="55" y="0"/>
                </a:cxn>
                <a:cxn ang="0">
                  <a:pos x="111" y="55"/>
                </a:cxn>
                <a:cxn ang="0">
                  <a:pos x="55" y="111"/>
                </a:cxn>
                <a:cxn ang="0">
                  <a:pos x="0" y="55"/>
                </a:cxn>
                <a:cxn ang="0">
                  <a:pos x="55" y="0"/>
                </a:cxn>
              </a:cxnLst>
              <a:rect l="0" t="0" r="r" b="b"/>
              <a:pathLst>
                <a:path w="111" h="111">
                  <a:moveTo>
                    <a:pt x="55" y="0"/>
                  </a:moveTo>
                  <a:lnTo>
                    <a:pt x="111" y="55"/>
                  </a:lnTo>
                  <a:lnTo>
                    <a:pt x="55" y="111"/>
                  </a:lnTo>
                  <a:lnTo>
                    <a:pt x="0" y="55"/>
                  </a:lnTo>
                  <a:lnTo>
                    <a:pt x="55" y="0"/>
                  </a:lnTo>
                  <a:close/>
                </a:path>
              </a:pathLst>
            </a:custGeom>
            <a:solidFill>
              <a:srgbClr val="BBE0E3"/>
            </a:solidFill>
            <a:ln w="11">
              <a:solidFill>
                <a:srgbClr val="BBE0E3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1574" name="Freeform 70"/>
            <p:cNvSpPr>
              <a:spLocks/>
            </p:cNvSpPr>
            <p:nvPr/>
          </p:nvSpPr>
          <p:spPr bwMode="auto">
            <a:xfrm>
              <a:off x="3872" y="1800"/>
              <a:ext cx="111" cy="111"/>
            </a:xfrm>
            <a:custGeom>
              <a:avLst/>
              <a:gdLst/>
              <a:ahLst/>
              <a:cxnLst>
                <a:cxn ang="0">
                  <a:pos x="55" y="0"/>
                </a:cxn>
                <a:cxn ang="0">
                  <a:pos x="111" y="55"/>
                </a:cxn>
                <a:cxn ang="0">
                  <a:pos x="55" y="111"/>
                </a:cxn>
                <a:cxn ang="0">
                  <a:pos x="0" y="55"/>
                </a:cxn>
                <a:cxn ang="0">
                  <a:pos x="55" y="0"/>
                </a:cxn>
              </a:cxnLst>
              <a:rect l="0" t="0" r="r" b="b"/>
              <a:pathLst>
                <a:path w="111" h="111">
                  <a:moveTo>
                    <a:pt x="55" y="0"/>
                  </a:moveTo>
                  <a:lnTo>
                    <a:pt x="111" y="55"/>
                  </a:lnTo>
                  <a:lnTo>
                    <a:pt x="55" y="111"/>
                  </a:lnTo>
                  <a:lnTo>
                    <a:pt x="0" y="55"/>
                  </a:lnTo>
                  <a:lnTo>
                    <a:pt x="55" y="0"/>
                  </a:lnTo>
                  <a:close/>
                </a:path>
              </a:pathLst>
            </a:custGeom>
            <a:solidFill>
              <a:srgbClr val="BBE0E3"/>
            </a:solidFill>
            <a:ln w="11">
              <a:solidFill>
                <a:srgbClr val="BBE0E3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1575" name="Freeform 71"/>
            <p:cNvSpPr>
              <a:spLocks/>
            </p:cNvSpPr>
            <p:nvPr/>
          </p:nvSpPr>
          <p:spPr bwMode="auto">
            <a:xfrm>
              <a:off x="3573" y="1822"/>
              <a:ext cx="111" cy="111"/>
            </a:xfrm>
            <a:custGeom>
              <a:avLst/>
              <a:gdLst/>
              <a:ahLst/>
              <a:cxnLst>
                <a:cxn ang="0">
                  <a:pos x="56" y="0"/>
                </a:cxn>
                <a:cxn ang="0">
                  <a:pos x="111" y="56"/>
                </a:cxn>
                <a:cxn ang="0">
                  <a:pos x="56" y="111"/>
                </a:cxn>
                <a:cxn ang="0">
                  <a:pos x="0" y="56"/>
                </a:cxn>
                <a:cxn ang="0">
                  <a:pos x="56" y="0"/>
                </a:cxn>
              </a:cxnLst>
              <a:rect l="0" t="0" r="r" b="b"/>
              <a:pathLst>
                <a:path w="111" h="111">
                  <a:moveTo>
                    <a:pt x="56" y="0"/>
                  </a:moveTo>
                  <a:lnTo>
                    <a:pt x="111" y="56"/>
                  </a:lnTo>
                  <a:lnTo>
                    <a:pt x="56" y="111"/>
                  </a:lnTo>
                  <a:lnTo>
                    <a:pt x="0" y="56"/>
                  </a:lnTo>
                  <a:lnTo>
                    <a:pt x="56" y="0"/>
                  </a:lnTo>
                  <a:close/>
                </a:path>
              </a:pathLst>
            </a:custGeom>
            <a:solidFill>
              <a:srgbClr val="BBE0E3"/>
            </a:solidFill>
            <a:ln w="11">
              <a:solidFill>
                <a:srgbClr val="BBE0E3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1576" name="Freeform 72"/>
            <p:cNvSpPr>
              <a:spLocks/>
            </p:cNvSpPr>
            <p:nvPr/>
          </p:nvSpPr>
          <p:spPr bwMode="auto">
            <a:xfrm>
              <a:off x="3573" y="1822"/>
              <a:ext cx="111" cy="111"/>
            </a:xfrm>
            <a:custGeom>
              <a:avLst/>
              <a:gdLst/>
              <a:ahLst/>
              <a:cxnLst>
                <a:cxn ang="0">
                  <a:pos x="56" y="0"/>
                </a:cxn>
                <a:cxn ang="0">
                  <a:pos x="111" y="56"/>
                </a:cxn>
                <a:cxn ang="0">
                  <a:pos x="56" y="111"/>
                </a:cxn>
                <a:cxn ang="0">
                  <a:pos x="0" y="56"/>
                </a:cxn>
                <a:cxn ang="0">
                  <a:pos x="56" y="0"/>
                </a:cxn>
              </a:cxnLst>
              <a:rect l="0" t="0" r="r" b="b"/>
              <a:pathLst>
                <a:path w="111" h="111">
                  <a:moveTo>
                    <a:pt x="56" y="0"/>
                  </a:moveTo>
                  <a:lnTo>
                    <a:pt x="111" y="56"/>
                  </a:lnTo>
                  <a:lnTo>
                    <a:pt x="56" y="111"/>
                  </a:lnTo>
                  <a:lnTo>
                    <a:pt x="0" y="56"/>
                  </a:lnTo>
                  <a:lnTo>
                    <a:pt x="56" y="0"/>
                  </a:lnTo>
                  <a:close/>
                </a:path>
              </a:pathLst>
            </a:custGeom>
            <a:solidFill>
              <a:srgbClr val="BBE0E3"/>
            </a:solidFill>
            <a:ln w="11">
              <a:solidFill>
                <a:srgbClr val="BBE0E3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1577" name="Freeform 73"/>
            <p:cNvSpPr>
              <a:spLocks/>
            </p:cNvSpPr>
            <p:nvPr/>
          </p:nvSpPr>
          <p:spPr bwMode="auto">
            <a:xfrm>
              <a:off x="3474" y="1855"/>
              <a:ext cx="110" cy="111"/>
            </a:xfrm>
            <a:custGeom>
              <a:avLst/>
              <a:gdLst/>
              <a:ahLst/>
              <a:cxnLst>
                <a:cxn ang="0">
                  <a:pos x="55" y="0"/>
                </a:cxn>
                <a:cxn ang="0">
                  <a:pos x="110" y="56"/>
                </a:cxn>
                <a:cxn ang="0">
                  <a:pos x="55" y="111"/>
                </a:cxn>
                <a:cxn ang="0">
                  <a:pos x="0" y="56"/>
                </a:cxn>
                <a:cxn ang="0">
                  <a:pos x="55" y="0"/>
                </a:cxn>
              </a:cxnLst>
              <a:rect l="0" t="0" r="r" b="b"/>
              <a:pathLst>
                <a:path w="110" h="111">
                  <a:moveTo>
                    <a:pt x="55" y="0"/>
                  </a:moveTo>
                  <a:lnTo>
                    <a:pt x="110" y="56"/>
                  </a:lnTo>
                  <a:lnTo>
                    <a:pt x="55" y="111"/>
                  </a:lnTo>
                  <a:lnTo>
                    <a:pt x="0" y="56"/>
                  </a:lnTo>
                  <a:lnTo>
                    <a:pt x="55" y="0"/>
                  </a:lnTo>
                  <a:close/>
                </a:path>
              </a:pathLst>
            </a:custGeom>
            <a:solidFill>
              <a:srgbClr val="BBE0E3"/>
            </a:solidFill>
            <a:ln w="11">
              <a:solidFill>
                <a:srgbClr val="BBE0E3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1578" name="Freeform 74"/>
            <p:cNvSpPr>
              <a:spLocks/>
            </p:cNvSpPr>
            <p:nvPr/>
          </p:nvSpPr>
          <p:spPr bwMode="auto">
            <a:xfrm>
              <a:off x="3463" y="1855"/>
              <a:ext cx="110" cy="111"/>
            </a:xfrm>
            <a:custGeom>
              <a:avLst/>
              <a:gdLst/>
              <a:ahLst/>
              <a:cxnLst>
                <a:cxn ang="0">
                  <a:pos x="55" y="0"/>
                </a:cxn>
                <a:cxn ang="0">
                  <a:pos x="110" y="56"/>
                </a:cxn>
                <a:cxn ang="0">
                  <a:pos x="55" y="111"/>
                </a:cxn>
                <a:cxn ang="0">
                  <a:pos x="0" y="56"/>
                </a:cxn>
                <a:cxn ang="0">
                  <a:pos x="55" y="0"/>
                </a:cxn>
              </a:cxnLst>
              <a:rect l="0" t="0" r="r" b="b"/>
              <a:pathLst>
                <a:path w="110" h="111">
                  <a:moveTo>
                    <a:pt x="55" y="0"/>
                  </a:moveTo>
                  <a:lnTo>
                    <a:pt x="110" y="56"/>
                  </a:lnTo>
                  <a:lnTo>
                    <a:pt x="55" y="111"/>
                  </a:lnTo>
                  <a:lnTo>
                    <a:pt x="0" y="56"/>
                  </a:lnTo>
                  <a:lnTo>
                    <a:pt x="55" y="0"/>
                  </a:lnTo>
                  <a:close/>
                </a:path>
              </a:pathLst>
            </a:custGeom>
            <a:solidFill>
              <a:srgbClr val="BBE0E3"/>
            </a:solidFill>
            <a:ln w="11">
              <a:solidFill>
                <a:srgbClr val="BBE0E3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1579" name="Freeform 75"/>
            <p:cNvSpPr>
              <a:spLocks/>
            </p:cNvSpPr>
            <p:nvPr/>
          </p:nvSpPr>
          <p:spPr bwMode="auto">
            <a:xfrm>
              <a:off x="3872" y="1800"/>
              <a:ext cx="111" cy="111"/>
            </a:xfrm>
            <a:custGeom>
              <a:avLst/>
              <a:gdLst/>
              <a:ahLst/>
              <a:cxnLst>
                <a:cxn ang="0">
                  <a:pos x="55" y="0"/>
                </a:cxn>
                <a:cxn ang="0">
                  <a:pos x="111" y="55"/>
                </a:cxn>
                <a:cxn ang="0">
                  <a:pos x="55" y="111"/>
                </a:cxn>
                <a:cxn ang="0">
                  <a:pos x="0" y="55"/>
                </a:cxn>
                <a:cxn ang="0">
                  <a:pos x="55" y="0"/>
                </a:cxn>
              </a:cxnLst>
              <a:rect l="0" t="0" r="r" b="b"/>
              <a:pathLst>
                <a:path w="111" h="111">
                  <a:moveTo>
                    <a:pt x="55" y="0"/>
                  </a:moveTo>
                  <a:lnTo>
                    <a:pt x="111" y="55"/>
                  </a:lnTo>
                  <a:lnTo>
                    <a:pt x="55" y="111"/>
                  </a:lnTo>
                  <a:lnTo>
                    <a:pt x="0" y="55"/>
                  </a:lnTo>
                  <a:lnTo>
                    <a:pt x="55" y="0"/>
                  </a:lnTo>
                  <a:close/>
                </a:path>
              </a:pathLst>
            </a:custGeom>
            <a:solidFill>
              <a:srgbClr val="BBE0E3"/>
            </a:solidFill>
            <a:ln w="11">
              <a:solidFill>
                <a:srgbClr val="BBE0E3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1580" name="Freeform 76"/>
            <p:cNvSpPr>
              <a:spLocks/>
            </p:cNvSpPr>
            <p:nvPr/>
          </p:nvSpPr>
          <p:spPr bwMode="auto">
            <a:xfrm>
              <a:off x="3341" y="2121"/>
              <a:ext cx="111" cy="110"/>
            </a:xfrm>
            <a:custGeom>
              <a:avLst/>
              <a:gdLst/>
              <a:ahLst/>
              <a:cxnLst>
                <a:cxn ang="0">
                  <a:pos x="55" y="0"/>
                </a:cxn>
                <a:cxn ang="0">
                  <a:pos x="111" y="55"/>
                </a:cxn>
                <a:cxn ang="0">
                  <a:pos x="55" y="110"/>
                </a:cxn>
                <a:cxn ang="0">
                  <a:pos x="0" y="55"/>
                </a:cxn>
                <a:cxn ang="0">
                  <a:pos x="55" y="0"/>
                </a:cxn>
              </a:cxnLst>
              <a:rect l="0" t="0" r="r" b="b"/>
              <a:pathLst>
                <a:path w="111" h="110">
                  <a:moveTo>
                    <a:pt x="55" y="0"/>
                  </a:moveTo>
                  <a:lnTo>
                    <a:pt x="111" y="55"/>
                  </a:lnTo>
                  <a:lnTo>
                    <a:pt x="55" y="110"/>
                  </a:lnTo>
                  <a:lnTo>
                    <a:pt x="0" y="55"/>
                  </a:lnTo>
                  <a:lnTo>
                    <a:pt x="55" y="0"/>
                  </a:lnTo>
                  <a:close/>
                </a:path>
              </a:pathLst>
            </a:custGeom>
            <a:solidFill>
              <a:srgbClr val="BBE0E3"/>
            </a:solidFill>
            <a:ln w="11">
              <a:solidFill>
                <a:srgbClr val="BBE0E3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1581" name="Freeform 77"/>
            <p:cNvSpPr>
              <a:spLocks/>
            </p:cNvSpPr>
            <p:nvPr/>
          </p:nvSpPr>
          <p:spPr bwMode="auto">
            <a:xfrm>
              <a:off x="3341" y="1656"/>
              <a:ext cx="111" cy="111"/>
            </a:xfrm>
            <a:custGeom>
              <a:avLst/>
              <a:gdLst/>
              <a:ahLst/>
              <a:cxnLst>
                <a:cxn ang="0">
                  <a:pos x="55" y="0"/>
                </a:cxn>
                <a:cxn ang="0">
                  <a:pos x="111" y="56"/>
                </a:cxn>
                <a:cxn ang="0">
                  <a:pos x="55" y="111"/>
                </a:cxn>
                <a:cxn ang="0">
                  <a:pos x="0" y="56"/>
                </a:cxn>
                <a:cxn ang="0">
                  <a:pos x="55" y="0"/>
                </a:cxn>
              </a:cxnLst>
              <a:rect l="0" t="0" r="r" b="b"/>
              <a:pathLst>
                <a:path w="111" h="111">
                  <a:moveTo>
                    <a:pt x="55" y="0"/>
                  </a:moveTo>
                  <a:lnTo>
                    <a:pt x="111" y="56"/>
                  </a:lnTo>
                  <a:lnTo>
                    <a:pt x="55" y="111"/>
                  </a:lnTo>
                  <a:lnTo>
                    <a:pt x="0" y="56"/>
                  </a:lnTo>
                  <a:lnTo>
                    <a:pt x="55" y="0"/>
                  </a:lnTo>
                  <a:close/>
                </a:path>
              </a:pathLst>
            </a:custGeom>
            <a:solidFill>
              <a:srgbClr val="BBE0E3"/>
            </a:solidFill>
            <a:ln w="11">
              <a:solidFill>
                <a:srgbClr val="BBE0E3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1582" name="Freeform 78"/>
            <p:cNvSpPr>
              <a:spLocks/>
            </p:cNvSpPr>
            <p:nvPr/>
          </p:nvSpPr>
          <p:spPr bwMode="auto">
            <a:xfrm>
              <a:off x="3330" y="2043"/>
              <a:ext cx="111" cy="111"/>
            </a:xfrm>
            <a:custGeom>
              <a:avLst/>
              <a:gdLst/>
              <a:ahLst/>
              <a:cxnLst>
                <a:cxn ang="0">
                  <a:pos x="55" y="0"/>
                </a:cxn>
                <a:cxn ang="0">
                  <a:pos x="111" y="56"/>
                </a:cxn>
                <a:cxn ang="0">
                  <a:pos x="55" y="111"/>
                </a:cxn>
                <a:cxn ang="0">
                  <a:pos x="0" y="56"/>
                </a:cxn>
                <a:cxn ang="0">
                  <a:pos x="55" y="0"/>
                </a:cxn>
              </a:cxnLst>
              <a:rect l="0" t="0" r="r" b="b"/>
              <a:pathLst>
                <a:path w="111" h="111">
                  <a:moveTo>
                    <a:pt x="55" y="0"/>
                  </a:moveTo>
                  <a:lnTo>
                    <a:pt x="111" y="56"/>
                  </a:lnTo>
                  <a:lnTo>
                    <a:pt x="55" y="111"/>
                  </a:lnTo>
                  <a:lnTo>
                    <a:pt x="0" y="56"/>
                  </a:lnTo>
                  <a:lnTo>
                    <a:pt x="55" y="0"/>
                  </a:lnTo>
                  <a:close/>
                </a:path>
              </a:pathLst>
            </a:custGeom>
            <a:solidFill>
              <a:srgbClr val="BBE0E3"/>
            </a:solidFill>
            <a:ln w="11">
              <a:solidFill>
                <a:srgbClr val="BBE0E3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1583" name="Freeform 79"/>
            <p:cNvSpPr>
              <a:spLocks/>
            </p:cNvSpPr>
            <p:nvPr/>
          </p:nvSpPr>
          <p:spPr bwMode="auto">
            <a:xfrm>
              <a:off x="3197" y="2121"/>
              <a:ext cx="111" cy="110"/>
            </a:xfrm>
            <a:custGeom>
              <a:avLst/>
              <a:gdLst/>
              <a:ahLst/>
              <a:cxnLst>
                <a:cxn ang="0">
                  <a:pos x="55" y="0"/>
                </a:cxn>
                <a:cxn ang="0">
                  <a:pos x="111" y="55"/>
                </a:cxn>
                <a:cxn ang="0">
                  <a:pos x="55" y="110"/>
                </a:cxn>
                <a:cxn ang="0">
                  <a:pos x="0" y="55"/>
                </a:cxn>
                <a:cxn ang="0">
                  <a:pos x="55" y="0"/>
                </a:cxn>
              </a:cxnLst>
              <a:rect l="0" t="0" r="r" b="b"/>
              <a:pathLst>
                <a:path w="111" h="110">
                  <a:moveTo>
                    <a:pt x="55" y="0"/>
                  </a:moveTo>
                  <a:lnTo>
                    <a:pt x="111" y="55"/>
                  </a:lnTo>
                  <a:lnTo>
                    <a:pt x="55" y="110"/>
                  </a:lnTo>
                  <a:lnTo>
                    <a:pt x="0" y="55"/>
                  </a:lnTo>
                  <a:lnTo>
                    <a:pt x="55" y="0"/>
                  </a:lnTo>
                  <a:close/>
                </a:path>
              </a:pathLst>
            </a:custGeom>
            <a:solidFill>
              <a:srgbClr val="BBE0E3"/>
            </a:solidFill>
            <a:ln w="11">
              <a:solidFill>
                <a:srgbClr val="BBE0E3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1584" name="Freeform 80"/>
            <p:cNvSpPr>
              <a:spLocks/>
            </p:cNvSpPr>
            <p:nvPr/>
          </p:nvSpPr>
          <p:spPr bwMode="auto">
            <a:xfrm>
              <a:off x="2887" y="1900"/>
              <a:ext cx="111" cy="110"/>
            </a:xfrm>
            <a:custGeom>
              <a:avLst/>
              <a:gdLst/>
              <a:ahLst/>
              <a:cxnLst>
                <a:cxn ang="0">
                  <a:pos x="56" y="0"/>
                </a:cxn>
                <a:cxn ang="0">
                  <a:pos x="111" y="55"/>
                </a:cxn>
                <a:cxn ang="0">
                  <a:pos x="56" y="110"/>
                </a:cxn>
                <a:cxn ang="0">
                  <a:pos x="0" y="55"/>
                </a:cxn>
                <a:cxn ang="0">
                  <a:pos x="56" y="0"/>
                </a:cxn>
              </a:cxnLst>
              <a:rect l="0" t="0" r="r" b="b"/>
              <a:pathLst>
                <a:path w="111" h="110">
                  <a:moveTo>
                    <a:pt x="56" y="0"/>
                  </a:moveTo>
                  <a:lnTo>
                    <a:pt x="111" y="55"/>
                  </a:lnTo>
                  <a:lnTo>
                    <a:pt x="56" y="110"/>
                  </a:lnTo>
                  <a:lnTo>
                    <a:pt x="0" y="55"/>
                  </a:lnTo>
                  <a:lnTo>
                    <a:pt x="56" y="0"/>
                  </a:lnTo>
                  <a:close/>
                </a:path>
              </a:pathLst>
            </a:custGeom>
            <a:solidFill>
              <a:srgbClr val="BBE0E3"/>
            </a:solidFill>
            <a:ln w="11">
              <a:solidFill>
                <a:srgbClr val="BBE0E3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1585" name="Freeform 81"/>
            <p:cNvSpPr>
              <a:spLocks/>
            </p:cNvSpPr>
            <p:nvPr/>
          </p:nvSpPr>
          <p:spPr bwMode="auto">
            <a:xfrm>
              <a:off x="2721" y="2353"/>
              <a:ext cx="111" cy="111"/>
            </a:xfrm>
            <a:custGeom>
              <a:avLst/>
              <a:gdLst/>
              <a:ahLst/>
              <a:cxnLst>
                <a:cxn ang="0">
                  <a:pos x="56" y="0"/>
                </a:cxn>
                <a:cxn ang="0">
                  <a:pos x="111" y="55"/>
                </a:cxn>
                <a:cxn ang="0">
                  <a:pos x="56" y="111"/>
                </a:cxn>
                <a:cxn ang="0">
                  <a:pos x="0" y="55"/>
                </a:cxn>
                <a:cxn ang="0">
                  <a:pos x="56" y="0"/>
                </a:cxn>
              </a:cxnLst>
              <a:rect l="0" t="0" r="r" b="b"/>
              <a:pathLst>
                <a:path w="111" h="111">
                  <a:moveTo>
                    <a:pt x="56" y="0"/>
                  </a:moveTo>
                  <a:lnTo>
                    <a:pt x="111" y="55"/>
                  </a:lnTo>
                  <a:lnTo>
                    <a:pt x="56" y="111"/>
                  </a:lnTo>
                  <a:lnTo>
                    <a:pt x="0" y="55"/>
                  </a:lnTo>
                  <a:lnTo>
                    <a:pt x="56" y="0"/>
                  </a:lnTo>
                  <a:close/>
                </a:path>
              </a:pathLst>
            </a:custGeom>
            <a:solidFill>
              <a:srgbClr val="BBE0E3"/>
            </a:solidFill>
            <a:ln w="11">
              <a:solidFill>
                <a:srgbClr val="BBE0E3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1586" name="Freeform 82"/>
            <p:cNvSpPr>
              <a:spLocks/>
            </p:cNvSpPr>
            <p:nvPr/>
          </p:nvSpPr>
          <p:spPr bwMode="auto">
            <a:xfrm>
              <a:off x="2755" y="2165"/>
              <a:ext cx="110" cy="111"/>
            </a:xfrm>
            <a:custGeom>
              <a:avLst/>
              <a:gdLst/>
              <a:ahLst/>
              <a:cxnLst>
                <a:cxn ang="0">
                  <a:pos x="55" y="0"/>
                </a:cxn>
                <a:cxn ang="0">
                  <a:pos x="110" y="55"/>
                </a:cxn>
                <a:cxn ang="0">
                  <a:pos x="55" y="111"/>
                </a:cxn>
                <a:cxn ang="0">
                  <a:pos x="0" y="55"/>
                </a:cxn>
                <a:cxn ang="0">
                  <a:pos x="55" y="0"/>
                </a:cxn>
              </a:cxnLst>
              <a:rect l="0" t="0" r="r" b="b"/>
              <a:pathLst>
                <a:path w="110" h="111">
                  <a:moveTo>
                    <a:pt x="55" y="0"/>
                  </a:moveTo>
                  <a:lnTo>
                    <a:pt x="110" y="55"/>
                  </a:lnTo>
                  <a:lnTo>
                    <a:pt x="55" y="111"/>
                  </a:lnTo>
                  <a:lnTo>
                    <a:pt x="0" y="55"/>
                  </a:lnTo>
                  <a:lnTo>
                    <a:pt x="55" y="0"/>
                  </a:lnTo>
                  <a:close/>
                </a:path>
              </a:pathLst>
            </a:custGeom>
            <a:solidFill>
              <a:srgbClr val="BBE0E3"/>
            </a:solidFill>
            <a:ln w="11">
              <a:solidFill>
                <a:srgbClr val="BBE0E3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1587" name="Freeform 83"/>
            <p:cNvSpPr>
              <a:spLocks/>
            </p:cNvSpPr>
            <p:nvPr/>
          </p:nvSpPr>
          <p:spPr bwMode="auto">
            <a:xfrm>
              <a:off x="2589" y="2431"/>
              <a:ext cx="110" cy="110"/>
            </a:xfrm>
            <a:custGeom>
              <a:avLst/>
              <a:gdLst/>
              <a:ahLst/>
              <a:cxnLst>
                <a:cxn ang="0">
                  <a:pos x="55" y="0"/>
                </a:cxn>
                <a:cxn ang="0">
                  <a:pos x="110" y="55"/>
                </a:cxn>
                <a:cxn ang="0">
                  <a:pos x="55" y="110"/>
                </a:cxn>
                <a:cxn ang="0">
                  <a:pos x="0" y="55"/>
                </a:cxn>
                <a:cxn ang="0">
                  <a:pos x="55" y="0"/>
                </a:cxn>
              </a:cxnLst>
              <a:rect l="0" t="0" r="r" b="b"/>
              <a:pathLst>
                <a:path w="110" h="110">
                  <a:moveTo>
                    <a:pt x="55" y="0"/>
                  </a:moveTo>
                  <a:lnTo>
                    <a:pt x="110" y="55"/>
                  </a:lnTo>
                  <a:lnTo>
                    <a:pt x="55" y="110"/>
                  </a:lnTo>
                  <a:lnTo>
                    <a:pt x="0" y="55"/>
                  </a:lnTo>
                  <a:lnTo>
                    <a:pt x="55" y="0"/>
                  </a:lnTo>
                  <a:close/>
                </a:path>
              </a:pathLst>
            </a:custGeom>
            <a:solidFill>
              <a:srgbClr val="BBE0E3"/>
            </a:solidFill>
            <a:ln w="11">
              <a:solidFill>
                <a:srgbClr val="BBE0E3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1588" name="Freeform 84"/>
            <p:cNvSpPr>
              <a:spLocks/>
            </p:cNvSpPr>
            <p:nvPr/>
          </p:nvSpPr>
          <p:spPr bwMode="auto">
            <a:xfrm>
              <a:off x="3153" y="1900"/>
              <a:ext cx="111" cy="110"/>
            </a:xfrm>
            <a:custGeom>
              <a:avLst/>
              <a:gdLst/>
              <a:ahLst/>
              <a:cxnLst>
                <a:cxn ang="0">
                  <a:pos x="55" y="0"/>
                </a:cxn>
                <a:cxn ang="0">
                  <a:pos x="111" y="55"/>
                </a:cxn>
                <a:cxn ang="0">
                  <a:pos x="55" y="110"/>
                </a:cxn>
                <a:cxn ang="0">
                  <a:pos x="0" y="55"/>
                </a:cxn>
                <a:cxn ang="0">
                  <a:pos x="55" y="0"/>
                </a:cxn>
              </a:cxnLst>
              <a:rect l="0" t="0" r="r" b="b"/>
              <a:pathLst>
                <a:path w="111" h="110">
                  <a:moveTo>
                    <a:pt x="55" y="0"/>
                  </a:moveTo>
                  <a:lnTo>
                    <a:pt x="111" y="55"/>
                  </a:lnTo>
                  <a:lnTo>
                    <a:pt x="55" y="110"/>
                  </a:lnTo>
                  <a:lnTo>
                    <a:pt x="0" y="55"/>
                  </a:lnTo>
                  <a:lnTo>
                    <a:pt x="55" y="0"/>
                  </a:lnTo>
                  <a:close/>
                </a:path>
              </a:pathLst>
            </a:custGeom>
            <a:solidFill>
              <a:srgbClr val="BBE0E3"/>
            </a:solidFill>
            <a:ln w="11">
              <a:solidFill>
                <a:srgbClr val="BBE0E3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1589" name="Freeform 85"/>
            <p:cNvSpPr>
              <a:spLocks/>
            </p:cNvSpPr>
            <p:nvPr/>
          </p:nvSpPr>
          <p:spPr bwMode="auto">
            <a:xfrm>
              <a:off x="2810" y="2032"/>
              <a:ext cx="111" cy="111"/>
            </a:xfrm>
            <a:custGeom>
              <a:avLst/>
              <a:gdLst/>
              <a:ahLst/>
              <a:cxnLst>
                <a:cxn ang="0">
                  <a:pos x="55" y="0"/>
                </a:cxn>
                <a:cxn ang="0">
                  <a:pos x="111" y="56"/>
                </a:cxn>
                <a:cxn ang="0">
                  <a:pos x="55" y="111"/>
                </a:cxn>
                <a:cxn ang="0">
                  <a:pos x="0" y="56"/>
                </a:cxn>
                <a:cxn ang="0">
                  <a:pos x="55" y="0"/>
                </a:cxn>
              </a:cxnLst>
              <a:rect l="0" t="0" r="r" b="b"/>
              <a:pathLst>
                <a:path w="111" h="111">
                  <a:moveTo>
                    <a:pt x="55" y="0"/>
                  </a:moveTo>
                  <a:lnTo>
                    <a:pt x="111" y="56"/>
                  </a:lnTo>
                  <a:lnTo>
                    <a:pt x="55" y="111"/>
                  </a:lnTo>
                  <a:lnTo>
                    <a:pt x="0" y="56"/>
                  </a:lnTo>
                  <a:lnTo>
                    <a:pt x="55" y="0"/>
                  </a:lnTo>
                  <a:close/>
                </a:path>
              </a:pathLst>
            </a:custGeom>
            <a:solidFill>
              <a:srgbClr val="BBE0E3"/>
            </a:solidFill>
            <a:ln w="11">
              <a:solidFill>
                <a:srgbClr val="BBE0E3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1590" name="Freeform 86"/>
            <p:cNvSpPr>
              <a:spLocks/>
            </p:cNvSpPr>
            <p:nvPr/>
          </p:nvSpPr>
          <p:spPr bwMode="auto">
            <a:xfrm>
              <a:off x="2887" y="2032"/>
              <a:ext cx="111" cy="111"/>
            </a:xfrm>
            <a:custGeom>
              <a:avLst/>
              <a:gdLst/>
              <a:ahLst/>
              <a:cxnLst>
                <a:cxn ang="0">
                  <a:pos x="56" y="0"/>
                </a:cxn>
                <a:cxn ang="0">
                  <a:pos x="111" y="56"/>
                </a:cxn>
                <a:cxn ang="0">
                  <a:pos x="56" y="111"/>
                </a:cxn>
                <a:cxn ang="0">
                  <a:pos x="0" y="56"/>
                </a:cxn>
                <a:cxn ang="0">
                  <a:pos x="56" y="0"/>
                </a:cxn>
              </a:cxnLst>
              <a:rect l="0" t="0" r="r" b="b"/>
              <a:pathLst>
                <a:path w="111" h="111">
                  <a:moveTo>
                    <a:pt x="56" y="0"/>
                  </a:moveTo>
                  <a:lnTo>
                    <a:pt x="111" y="56"/>
                  </a:lnTo>
                  <a:lnTo>
                    <a:pt x="56" y="111"/>
                  </a:lnTo>
                  <a:lnTo>
                    <a:pt x="0" y="56"/>
                  </a:lnTo>
                  <a:lnTo>
                    <a:pt x="56" y="0"/>
                  </a:lnTo>
                  <a:close/>
                </a:path>
              </a:pathLst>
            </a:custGeom>
            <a:solidFill>
              <a:srgbClr val="BBE0E3"/>
            </a:solidFill>
            <a:ln w="11">
              <a:solidFill>
                <a:srgbClr val="BBE0E3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1591" name="Freeform 87"/>
            <p:cNvSpPr>
              <a:spLocks/>
            </p:cNvSpPr>
            <p:nvPr/>
          </p:nvSpPr>
          <p:spPr bwMode="auto">
            <a:xfrm>
              <a:off x="2755" y="2165"/>
              <a:ext cx="110" cy="111"/>
            </a:xfrm>
            <a:custGeom>
              <a:avLst/>
              <a:gdLst/>
              <a:ahLst/>
              <a:cxnLst>
                <a:cxn ang="0">
                  <a:pos x="55" y="0"/>
                </a:cxn>
                <a:cxn ang="0">
                  <a:pos x="110" y="55"/>
                </a:cxn>
                <a:cxn ang="0">
                  <a:pos x="55" y="111"/>
                </a:cxn>
                <a:cxn ang="0">
                  <a:pos x="0" y="55"/>
                </a:cxn>
                <a:cxn ang="0">
                  <a:pos x="55" y="0"/>
                </a:cxn>
              </a:cxnLst>
              <a:rect l="0" t="0" r="r" b="b"/>
              <a:pathLst>
                <a:path w="110" h="111">
                  <a:moveTo>
                    <a:pt x="55" y="0"/>
                  </a:moveTo>
                  <a:lnTo>
                    <a:pt x="110" y="55"/>
                  </a:lnTo>
                  <a:lnTo>
                    <a:pt x="55" y="111"/>
                  </a:lnTo>
                  <a:lnTo>
                    <a:pt x="0" y="55"/>
                  </a:lnTo>
                  <a:lnTo>
                    <a:pt x="55" y="0"/>
                  </a:lnTo>
                  <a:close/>
                </a:path>
              </a:pathLst>
            </a:custGeom>
            <a:solidFill>
              <a:srgbClr val="BBE0E3"/>
            </a:solidFill>
            <a:ln w="11">
              <a:solidFill>
                <a:srgbClr val="BBE0E3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1592" name="Freeform 88"/>
            <p:cNvSpPr>
              <a:spLocks/>
            </p:cNvSpPr>
            <p:nvPr/>
          </p:nvSpPr>
          <p:spPr bwMode="auto">
            <a:xfrm>
              <a:off x="3064" y="2032"/>
              <a:ext cx="111" cy="111"/>
            </a:xfrm>
            <a:custGeom>
              <a:avLst/>
              <a:gdLst/>
              <a:ahLst/>
              <a:cxnLst>
                <a:cxn ang="0">
                  <a:pos x="56" y="0"/>
                </a:cxn>
                <a:cxn ang="0">
                  <a:pos x="111" y="56"/>
                </a:cxn>
                <a:cxn ang="0">
                  <a:pos x="56" y="111"/>
                </a:cxn>
                <a:cxn ang="0">
                  <a:pos x="0" y="56"/>
                </a:cxn>
                <a:cxn ang="0">
                  <a:pos x="56" y="0"/>
                </a:cxn>
              </a:cxnLst>
              <a:rect l="0" t="0" r="r" b="b"/>
              <a:pathLst>
                <a:path w="111" h="111">
                  <a:moveTo>
                    <a:pt x="56" y="0"/>
                  </a:moveTo>
                  <a:lnTo>
                    <a:pt x="111" y="56"/>
                  </a:lnTo>
                  <a:lnTo>
                    <a:pt x="56" y="111"/>
                  </a:lnTo>
                  <a:lnTo>
                    <a:pt x="0" y="56"/>
                  </a:lnTo>
                  <a:lnTo>
                    <a:pt x="56" y="0"/>
                  </a:lnTo>
                  <a:close/>
                </a:path>
              </a:pathLst>
            </a:custGeom>
            <a:solidFill>
              <a:srgbClr val="BBE0E3"/>
            </a:solidFill>
            <a:ln w="11">
              <a:solidFill>
                <a:srgbClr val="BBE0E3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1593" name="Freeform 89"/>
            <p:cNvSpPr>
              <a:spLocks/>
            </p:cNvSpPr>
            <p:nvPr/>
          </p:nvSpPr>
          <p:spPr bwMode="auto">
            <a:xfrm>
              <a:off x="3020" y="2032"/>
              <a:ext cx="111" cy="111"/>
            </a:xfrm>
            <a:custGeom>
              <a:avLst/>
              <a:gdLst/>
              <a:ahLst/>
              <a:cxnLst>
                <a:cxn ang="0">
                  <a:pos x="55" y="0"/>
                </a:cxn>
                <a:cxn ang="0">
                  <a:pos x="111" y="56"/>
                </a:cxn>
                <a:cxn ang="0">
                  <a:pos x="55" y="111"/>
                </a:cxn>
                <a:cxn ang="0">
                  <a:pos x="0" y="56"/>
                </a:cxn>
                <a:cxn ang="0">
                  <a:pos x="55" y="0"/>
                </a:cxn>
              </a:cxnLst>
              <a:rect l="0" t="0" r="r" b="b"/>
              <a:pathLst>
                <a:path w="111" h="111">
                  <a:moveTo>
                    <a:pt x="55" y="0"/>
                  </a:moveTo>
                  <a:lnTo>
                    <a:pt x="111" y="56"/>
                  </a:lnTo>
                  <a:lnTo>
                    <a:pt x="55" y="111"/>
                  </a:lnTo>
                  <a:lnTo>
                    <a:pt x="0" y="56"/>
                  </a:lnTo>
                  <a:lnTo>
                    <a:pt x="55" y="0"/>
                  </a:lnTo>
                  <a:close/>
                </a:path>
              </a:pathLst>
            </a:custGeom>
            <a:solidFill>
              <a:srgbClr val="BBE0E3"/>
            </a:solidFill>
            <a:ln w="11">
              <a:solidFill>
                <a:srgbClr val="BBE0E3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1594" name="Freeform 90"/>
            <p:cNvSpPr>
              <a:spLocks/>
            </p:cNvSpPr>
            <p:nvPr/>
          </p:nvSpPr>
          <p:spPr bwMode="auto">
            <a:xfrm>
              <a:off x="2954" y="2353"/>
              <a:ext cx="110" cy="111"/>
            </a:xfrm>
            <a:custGeom>
              <a:avLst/>
              <a:gdLst/>
              <a:ahLst/>
              <a:cxnLst>
                <a:cxn ang="0">
                  <a:pos x="55" y="0"/>
                </a:cxn>
                <a:cxn ang="0">
                  <a:pos x="110" y="55"/>
                </a:cxn>
                <a:cxn ang="0">
                  <a:pos x="55" y="111"/>
                </a:cxn>
                <a:cxn ang="0">
                  <a:pos x="0" y="55"/>
                </a:cxn>
                <a:cxn ang="0">
                  <a:pos x="55" y="0"/>
                </a:cxn>
              </a:cxnLst>
              <a:rect l="0" t="0" r="r" b="b"/>
              <a:pathLst>
                <a:path w="110" h="111">
                  <a:moveTo>
                    <a:pt x="55" y="0"/>
                  </a:moveTo>
                  <a:lnTo>
                    <a:pt x="110" y="55"/>
                  </a:lnTo>
                  <a:lnTo>
                    <a:pt x="55" y="111"/>
                  </a:lnTo>
                  <a:lnTo>
                    <a:pt x="0" y="55"/>
                  </a:lnTo>
                  <a:lnTo>
                    <a:pt x="55" y="0"/>
                  </a:lnTo>
                  <a:close/>
                </a:path>
              </a:pathLst>
            </a:custGeom>
            <a:solidFill>
              <a:srgbClr val="BBE0E3"/>
            </a:solidFill>
            <a:ln w="11">
              <a:solidFill>
                <a:srgbClr val="BBE0E3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1595" name="Freeform 91"/>
            <p:cNvSpPr>
              <a:spLocks/>
            </p:cNvSpPr>
            <p:nvPr/>
          </p:nvSpPr>
          <p:spPr bwMode="auto">
            <a:xfrm>
              <a:off x="2887" y="2353"/>
              <a:ext cx="111" cy="111"/>
            </a:xfrm>
            <a:custGeom>
              <a:avLst/>
              <a:gdLst/>
              <a:ahLst/>
              <a:cxnLst>
                <a:cxn ang="0">
                  <a:pos x="56" y="0"/>
                </a:cxn>
                <a:cxn ang="0">
                  <a:pos x="111" y="55"/>
                </a:cxn>
                <a:cxn ang="0">
                  <a:pos x="56" y="111"/>
                </a:cxn>
                <a:cxn ang="0">
                  <a:pos x="0" y="55"/>
                </a:cxn>
                <a:cxn ang="0">
                  <a:pos x="56" y="0"/>
                </a:cxn>
              </a:cxnLst>
              <a:rect l="0" t="0" r="r" b="b"/>
              <a:pathLst>
                <a:path w="111" h="111">
                  <a:moveTo>
                    <a:pt x="56" y="0"/>
                  </a:moveTo>
                  <a:lnTo>
                    <a:pt x="111" y="55"/>
                  </a:lnTo>
                  <a:lnTo>
                    <a:pt x="56" y="111"/>
                  </a:lnTo>
                  <a:lnTo>
                    <a:pt x="0" y="55"/>
                  </a:lnTo>
                  <a:lnTo>
                    <a:pt x="56" y="0"/>
                  </a:lnTo>
                  <a:close/>
                </a:path>
              </a:pathLst>
            </a:custGeom>
            <a:solidFill>
              <a:srgbClr val="BBE0E3"/>
            </a:solidFill>
            <a:ln w="11">
              <a:solidFill>
                <a:srgbClr val="BBE0E3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1596" name="Freeform 92"/>
            <p:cNvSpPr>
              <a:spLocks/>
            </p:cNvSpPr>
            <p:nvPr/>
          </p:nvSpPr>
          <p:spPr bwMode="auto">
            <a:xfrm>
              <a:off x="2721" y="2353"/>
              <a:ext cx="111" cy="111"/>
            </a:xfrm>
            <a:custGeom>
              <a:avLst/>
              <a:gdLst/>
              <a:ahLst/>
              <a:cxnLst>
                <a:cxn ang="0">
                  <a:pos x="56" y="0"/>
                </a:cxn>
                <a:cxn ang="0">
                  <a:pos x="111" y="55"/>
                </a:cxn>
                <a:cxn ang="0">
                  <a:pos x="56" y="111"/>
                </a:cxn>
                <a:cxn ang="0">
                  <a:pos x="0" y="55"/>
                </a:cxn>
                <a:cxn ang="0">
                  <a:pos x="56" y="0"/>
                </a:cxn>
              </a:cxnLst>
              <a:rect l="0" t="0" r="r" b="b"/>
              <a:pathLst>
                <a:path w="111" h="111">
                  <a:moveTo>
                    <a:pt x="56" y="0"/>
                  </a:moveTo>
                  <a:lnTo>
                    <a:pt x="111" y="55"/>
                  </a:lnTo>
                  <a:lnTo>
                    <a:pt x="56" y="111"/>
                  </a:lnTo>
                  <a:lnTo>
                    <a:pt x="0" y="55"/>
                  </a:lnTo>
                  <a:lnTo>
                    <a:pt x="56" y="0"/>
                  </a:lnTo>
                  <a:close/>
                </a:path>
              </a:pathLst>
            </a:custGeom>
            <a:solidFill>
              <a:srgbClr val="BBE0E3"/>
            </a:solidFill>
            <a:ln w="11">
              <a:solidFill>
                <a:srgbClr val="BBE0E3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1597" name="Freeform 93"/>
            <p:cNvSpPr>
              <a:spLocks/>
            </p:cNvSpPr>
            <p:nvPr/>
          </p:nvSpPr>
          <p:spPr bwMode="auto">
            <a:xfrm>
              <a:off x="2589" y="2431"/>
              <a:ext cx="110" cy="110"/>
            </a:xfrm>
            <a:custGeom>
              <a:avLst/>
              <a:gdLst/>
              <a:ahLst/>
              <a:cxnLst>
                <a:cxn ang="0">
                  <a:pos x="55" y="0"/>
                </a:cxn>
                <a:cxn ang="0">
                  <a:pos x="110" y="55"/>
                </a:cxn>
                <a:cxn ang="0">
                  <a:pos x="55" y="110"/>
                </a:cxn>
                <a:cxn ang="0">
                  <a:pos x="0" y="55"/>
                </a:cxn>
                <a:cxn ang="0">
                  <a:pos x="55" y="0"/>
                </a:cxn>
              </a:cxnLst>
              <a:rect l="0" t="0" r="r" b="b"/>
              <a:pathLst>
                <a:path w="110" h="110">
                  <a:moveTo>
                    <a:pt x="55" y="0"/>
                  </a:moveTo>
                  <a:lnTo>
                    <a:pt x="110" y="55"/>
                  </a:lnTo>
                  <a:lnTo>
                    <a:pt x="55" y="110"/>
                  </a:lnTo>
                  <a:lnTo>
                    <a:pt x="0" y="55"/>
                  </a:lnTo>
                  <a:lnTo>
                    <a:pt x="55" y="0"/>
                  </a:lnTo>
                  <a:close/>
                </a:path>
              </a:pathLst>
            </a:custGeom>
            <a:solidFill>
              <a:srgbClr val="BBE0E3"/>
            </a:solidFill>
            <a:ln w="11">
              <a:solidFill>
                <a:srgbClr val="BBE0E3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1598" name="Freeform 94"/>
            <p:cNvSpPr>
              <a:spLocks/>
            </p:cNvSpPr>
            <p:nvPr/>
          </p:nvSpPr>
          <p:spPr bwMode="auto">
            <a:xfrm>
              <a:off x="2556" y="2541"/>
              <a:ext cx="110" cy="111"/>
            </a:xfrm>
            <a:custGeom>
              <a:avLst/>
              <a:gdLst/>
              <a:ahLst/>
              <a:cxnLst>
                <a:cxn ang="0">
                  <a:pos x="55" y="0"/>
                </a:cxn>
                <a:cxn ang="0">
                  <a:pos x="110" y="55"/>
                </a:cxn>
                <a:cxn ang="0">
                  <a:pos x="55" y="111"/>
                </a:cxn>
                <a:cxn ang="0">
                  <a:pos x="0" y="55"/>
                </a:cxn>
                <a:cxn ang="0">
                  <a:pos x="55" y="0"/>
                </a:cxn>
              </a:cxnLst>
              <a:rect l="0" t="0" r="r" b="b"/>
              <a:pathLst>
                <a:path w="110" h="111">
                  <a:moveTo>
                    <a:pt x="55" y="0"/>
                  </a:moveTo>
                  <a:lnTo>
                    <a:pt x="110" y="55"/>
                  </a:lnTo>
                  <a:lnTo>
                    <a:pt x="55" y="111"/>
                  </a:lnTo>
                  <a:lnTo>
                    <a:pt x="0" y="55"/>
                  </a:lnTo>
                  <a:lnTo>
                    <a:pt x="55" y="0"/>
                  </a:lnTo>
                  <a:close/>
                </a:path>
              </a:pathLst>
            </a:custGeom>
            <a:solidFill>
              <a:srgbClr val="BBE0E3"/>
            </a:solidFill>
            <a:ln w="11">
              <a:solidFill>
                <a:srgbClr val="BBE0E3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1599" name="Freeform 95"/>
            <p:cNvSpPr>
              <a:spLocks/>
            </p:cNvSpPr>
            <p:nvPr/>
          </p:nvSpPr>
          <p:spPr bwMode="auto">
            <a:xfrm>
              <a:off x="2401" y="2541"/>
              <a:ext cx="110" cy="111"/>
            </a:xfrm>
            <a:custGeom>
              <a:avLst/>
              <a:gdLst/>
              <a:ahLst/>
              <a:cxnLst>
                <a:cxn ang="0">
                  <a:pos x="55" y="0"/>
                </a:cxn>
                <a:cxn ang="0">
                  <a:pos x="110" y="55"/>
                </a:cxn>
                <a:cxn ang="0">
                  <a:pos x="55" y="111"/>
                </a:cxn>
                <a:cxn ang="0">
                  <a:pos x="0" y="55"/>
                </a:cxn>
                <a:cxn ang="0">
                  <a:pos x="55" y="0"/>
                </a:cxn>
              </a:cxnLst>
              <a:rect l="0" t="0" r="r" b="b"/>
              <a:pathLst>
                <a:path w="110" h="111">
                  <a:moveTo>
                    <a:pt x="55" y="0"/>
                  </a:moveTo>
                  <a:lnTo>
                    <a:pt x="110" y="55"/>
                  </a:lnTo>
                  <a:lnTo>
                    <a:pt x="55" y="111"/>
                  </a:lnTo>
                  <a:lnTo>
                    <a:pt x="0" y="55"/>
                  </a:lnTo>
                  <a:lnTo>
                    <a:pt x="55" y="0"/>
                  </a:lnTo>
                  <a:close/>
                </a:path>
              </a:pathLst>
            </a:custGeom>
            <a:solidFill>
              <a:srgbClr val="BBE0E3"/>
            </a:solidFill>
            <a:ln w="11">
              <a:solidFill>
                <a:srgbClr val="BBE0E3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1600" name="Freeform 96"/>
            <p:cNvSpPr>
              <a:spLocks/>
            </p:cNvSpPr>
            <p:nvPr/>
          </p:nvSpPr>
          <p:spPr bwMode="auto">
            <a:xfrm>
              <a:off x="2401" y="2541"/>
              <a:ext cx="110" cy="111"/>
            </a:xfrm>
            <a:custGeom>
              <a:avLst/>
              <a:gdLst/>
              <a:ahLst/>
              <a:cxnLst>
                <a:cxn ang="0">
                  <a:pos x="55" y="0"/>
                </a:cxn>
                <a:cxn ang="0">
                  <a:pos x="110" y="55"/>
                </a:cxn>
                <a:cxn ang="0">
                  <a:pos x="55" y="111"/>
                </a:cxn>
                <a:cxn ang="0">
                  <a:pos x="0" y="55"/>
                </a:cxn>
                <a:cxn ang="0">
                  <a:pos x="55" y="0"/>
                </a:cxn>
              </a:cxnLst>
              <a:rect l="0" t="0" r="r" b="b"/>
              <a:pathLst>
                <a:path w="110" h="111">
                  <a:moveTo>
                    <a:pt x="55" y="0"/>
                  </a:moveTo>
                  <a:lnTo>
                    <a:pt x="110" y="55"/>
                  </a:lnTo>
                  <a:lnTo>
                    <a:pt x="55" y="111"/>
                  </a:lnTo>
                  <a:lnTo>
                    <a:pt x="0" y="55"/>
                  </a:lnTo>
                  <a:lnTo>
                    <a:pt x="55" y="0"/>
                  </a:lnTo>
                  <a:close/>
                </a:path>
              </a:pathLst>
            </a:custGeom>
            <a:solidFill>
              <a:srgbClr val="BBE0E3"/>
            </a:solidFill>
            <a:ln w="11">
              <a:solidFill>
                <a:srgbClr val="BBE0E3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1601" name="Freeform 97"/>
            <p:cNvSpPr>
              <a:spLocks/>
            </p:cNvSpPr>
            <p:nvPr/>
          </p:nvSpPr>
          <p:spPr bwMode="auto">
            <a:xfrm>
              <a:off x="2279" y="2541"/>
              <a:ext cx="111" cy="111"/>
            </a:xfrm>
            <a:custGeom>
              <a:avLst/>
              <a:gdLst/>
              <a:ahLst/>
              <a:cxnLst>
                <a:cxn ang="0">
                  <a:pos x="55" y="0"/>
                </a:cxn>
                <a:cxn ang="0">
                  <a:pos x="111" y="55"/>
                </a:cxn>
                <a:cxn ang="0">
                  <a:pos x="55" y="111"/>
                </a:cxn>
                <a:cxn ang="0">
                  <a:pos x="0" y="55"/>
                </a:cxn>
                <a:cxn ang="0">
                  <a:pos x="55" y="0"/>
                </a:cxn>
              </a:cxnLst>
              <a:rect l="0" t="0" r="r" b="b"/>
              <a:pathLst>
                <a:path w="111" h="111">
                  <a:moveTo>
                    <a:pt x="55" y="0"/>
                  </a:moveTo>
                  <a:lnTo>
                    <a:pt x="111" y="55"/>
                  </a:lnTo>
                  <a:lnTo>
                    <a:pt x="55" y="111"/>
                  </a:lnTo>
                  <a:lnTo>
                    <a:pt x="0" y="55"/>
                  </a:lnTo>
                  <a:lnTo>
                    <a:pt x="55" y="0"/>
                  </a:lnTo>
                  <a:close/>
                </a:path>
              </a:pathLst>
            </a:custGeom>
            <a:solidFill>
              <a:srgbClr val="BBE0E3"/>
            </a:solidFill>
            <a:ln w="11">
              <a:solidFill>
                <a:srgbClr val="BBE0E3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1602" name="Freeform 98"/>
            <p:cNvSpPr>
              <a:spLocks/>
            </p:cNvSpPr>
            <p:nvPr/>
          </p:nvSpPr>
          <p:spPr bwMode="auto">
            <a:xfrm>
              <a:off x="2168" y="2840"/>
              <a:ext cx="111" cy="110"/>
            </a:xfrm>
            <a:custGeom>
              <a:avLst/>
              <a:gdLst/>
              <a:ahLst/>
              <a:cxnLst>
                <a:cxn ang="0">
                  <a:pos x="56" y="0"/>
                </a:cxn>
                <a:cxn ang="0">
                  <a:pos x="111" y="55"/>
                </a:cxn>
                <a:cxn ang="0">
                  <a:pos x="56" y="110"/>
                </a:cxn>
                <a:cxn ang="0">
                  <a:pos x="0" y="55"/>
                </a:cxn>
                <a:cxn ang="0">
                  <a:pos x="56" y="0"/>
                </a:cxn>
              </a:cxnLst>
              <a:rect l="0" t="0" r="r" b="b"/>
              <a:pathLst>
                <a:path w="111" h="110">
                  <a:moveTo>
                    <a:pt x="56" y="0"/>
                  </a:moveTo>
                  <a:lnTo>
                    <a:pt x="111" y="55"/>
                  </a:lnTo>
                  <a:lnTo>
                    <a:pt x="56" y="110"/>
                  </a:lnTo>
                  <a:lnTo>
                    <a:pt x="0" y="55"/>
                  </a:lnTo>
                  <a:lnTo>
                    <a:pt x="56" y="0"/>
                  </a:lnTo>
                  <a:close/>
                </a:path>
              </a:pathLst>
            </a:custGeom>
            <a:solidFill>
              <a:srgbClr val="BBE0E3"/>
            </a:solidFill>
            <a:ln w="11">
              <a:solidFill>
                <a:srgbClr val="BBE0E3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1603" name="Freeform 99"/>
            <p:cNvSpPr>
              <a:spLocks/>
            </p:cNvSpPr>
            <p:nvPr/>
          </p:nvSpPr>
          <p:spPr bwMode="auto">
            <a:xfrm>
              <a:off x="2279" y="2541"/>
              <a:ext cx="111" cy="111"/>
            </a:xfrm>
            <a:custGeom>
              <a:avLst/>
              <a:gdLst/>
              <a:ahLst/>
              <a:cxnLst>
                <a:cxn ang="0">
                  <a:pos x="55" y="0"/>
                </a:cxn>
                <a:cxn ang="0">
                  <a:pos x="111" y="55"/>
                </a:cxn>
                <a:cxn ang="0">
                  <a:pos x="55" y="111"/>
                </a:cxn>
                <a:cxn ang="0">
                  <a:pos x="0" y="55"/>
                </a:cxn>
                <a:cxn ang="0">
                  <a:pos x="55" y="0"/>
                </a:cxn>
              </a:cxnLst>
              <a:rect l="0" t="0" r="r" b="b"/>
              <a:pathLst>
                <a:path w="111" h="111">
                  <a:moveTo>
                    <a:pt x="55" y="0"/>
                  </a:moveTo>
                  <a:lnTo>
                    <a:pt x="111" y="55"/>
                  </a:lnTo>
                  <a:lnTo>
                    <a:pt x="55" y="111"/>
                  </a:lnTo>
                  <a:lnTo>
                    <a:pt x="0" y="55"/>
                  </a:lnTo>
                  <a:lnTo>
                    <a:pt x="55" y="0"/>
                  </a:lnTo>
                  <a:close/>
                </a:path>
              </a:pathLst>
            </a:custGeom>
            <a:solidFill>
              <a:srgbClr val="BBE0E3"/>
            </a:solidFill>
            <a:ln w="11">
              <a:solidFill>
                <a:srgbClr val="BBE0E3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1604" name="Freeform 100"/>
            <p:cNvSpPr>
              <a:spLocks/>
            </p:cNvSpPr>
            <p:nvPr/>
          </p:nvSpPr>
          <p:spPr bwMode="auto">
            <a:xfrm>
              <a:off x="2135" y="2906"/>
              <a:ext cx="111" cy="111"/>
            </a:xfrm>
            <a:custGeom>
              <a:avLst/>
              <a:gdLst/>
              <a:ahLst/>
              <a:cxnLst>
                <a:cxn ang="0">
                  <a:pos x="56" y="0"/>
                </a:cxn>
                <a:cxn ang="0">
                  <a:pos x="111" y="55"/>
                </a:cxn>
                <a:cxn ang="0">
                  <a:pos x="56" y="111"/>
                </a:cxn>
                <a:cxn ang="0">
                  <a:pos x="0" y="55"/>
                </a:cxn>
                <a:cxn ang="0">
                  <a:pos x="56" y="0"/>
                </a:cxn>
              </a:cxnLst>
              <a:rect l="0" t="0" r="r" b="b"/>
              <a:pathLst>
                <a:path w="111" h="111">
                  <a:moveTo>
                    <a:pt x="56" y="0"/>
                  </a:moveTo>
                  <a:lnTo>
                    <a:pt x="111" y="55"/>
                  </a:lnTo>
                  <a:lnTo>
                    <a:pt x="56" y="111"/>
                  </a:lnTo>
                  <a:lnTo>
                    <a:pt x="0" y="55"/>
                  </a:lnTo>
                  <a:lnTo>
                    <a:pt x="56" y="0"/>
                  </a:lnTo>
                  <a:close/>
                </a:path>
              </a:pathLst>
            </a:custGeom>
            <a:solidFill>
              <a:srgbClr val="BBE0E3"/>
            </a:solidFill>
            <a:ln w="11">
              <a:solidFill>
                <a:srgbClr val="BBE0E3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1605" name="Freeform 101"/>
            <p:cNvSpPr>
              <a:spLocks/>
            </p:cNvSpPr>
            <p:nvPr/>
          </p:nvSpPr>
          <p:spPr bwMode="auto">
            <a:xfrm>
              <a:off x="2080" y="2906"/>
              <a:ext cx="111" cy="111"/>
            </a:xfrm>
            <a:custGeom>
              <a:avLst/>
              <a:gdLst/>
              <a:ahLst/>
              <a:cxnLst>
                <a:cxn ang="0">
                  <a:pos x="55" y="0"/>
                </a:cxn>
                <a:cxn ang="0">
                  <a:pos x="111" y="55"/>
                </a:cxn>
                <a:cxn ang="0">
                  <a:pos x="55" y="111"/>
                </a:cxn>
                <a:cxn ang="0">
                  <a:pos x="0" y="55"/>
                </a:cxn>
                <a:cxn ang="0">
                  <a:pos x="55" y="0"/>
                </a:cxn>
              </a:cxnLst>
              <a:rect l="0" t="0" r="r" b="b"/>
              <a:pathLst>
                <a:path w="111" h="111">
                  <a:moveTo>
                    <a:pt x="55" y="0"/>
                  </a:moveTo>
                  <a:lnTo>
                    <a:pt x="111" y="55"/>
                  </a:lnTo>
                  <a:lnTo>
                    <a:pt x="55" y="111"/>
                  </a:lnTo>
                  <a:lnTo>
                    <a:pt x="0" y="55"/>
                  </a:lnTo>
                  <a:lnTo>
                    <a:pt x="55" y="0"/>
                  </a:lnTo>
                  <a:close/>
                </a:path>
              </a:pathLst>
            </a:custGeom>
            <a:solidFill>
              <a:srgbClr val="BBE0E3"/>
            </a:solidFill>
            <a:ln w="11">
              <a:solidFill>
                <a:srgbClr val="BBE0E3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1606" name="Freeform 102"/>
            <p:cNvSpPr>
              <a:spLocks/>
            </p:cNvSpPr>
            <p:nvPr/>
          </p:nvSpPr>
          <p:spPr bwMode="auto">
            <a:xfrm>
              <a:off x="2025" y="2906"/>
              <a:ext cx="110" cy="111"/>
            </a:xfrm>
            <a:custGeom>
              <a:avLst/>
              <a:gdLst/>
              <a:ahLst/>
              <a:cxnLst>
                <a:cxn ang="0">
                  <a:pos x="55" y="0"/>
                </a:cxn>
                <a:cxn ang="0">
                  <a:pos x="110" y="55"/>
                </a:cxn>
                <a:cxn ang="0">
                  <a:pos x="55" y="111"/>
                </a:cxn>
                <a:cxn ang="0">
                  <a:pos x="0" y="55"/>
                </a:cxn>
                <a:cxn ang="0">
                  <a:pos x="55" y="0"/>
                </a:cxn>
              </a:cxnLst>
              <a:rect l="0" t="0" r="r" b="b"/>
              <a:pathLst>
                <a:path w="110" h="111">
                  <a:moveTo>
                    <a:pt x="55" y="0"/>
                  </a:moveTo>
                  <a:lnTo>
                    <a:pt x="110" y="55"/>
                  </a:lnTo>
                  <a:lnTo>
                    <a:pt x="55" y="111"/>
                  </a:lnTo>
                  <a:lnTo>
                    <a:pt x="0" y="55"/>
                  </a:lnTo>
                  <a:lnTo>
                    <a:pt x="55" y="0"/>
                  </a:lnTo>
                  <a:close/>
                </a:path>
              </a:pathLst>
            </a:custGeom>
            <a:solidFill>
              <a:srgbClr val="BBE0E3"/>
            </a:solidFill>
            <a:ln w="11">
              <a:solidFill>
                <a:srgbClr val="BBE0E3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1607" name="Freeform 103"/>
            <p:cNvSpPr>
              <a:spLocks/>
            </p:cNvSpPr>
            <p:nvPr/>
          </p:nvSpPr>
          <p:spPr bwMode="auto">
            <a:xfrm>
              <a:off x="1516" y="2984"/>
              <a:ext cx="110" cy="110"/>
            </a:xfrm>
            <a:custGeom>
              <a:avLst/>
              <a:gdLst/>
              <a:ahLst/>
              <a:cxnLst>
                <a:cxn ang="0">
                  <a:pos x="55" y="0"/>
                </a:cxn>
                <a:cxn ang="0">
                  <a:pos x="110" y="55"/>
                </a:cxn>
                <a:cxn ang="0">
                  <a:pos x="55" y="110"/>
                </a:cxn>
                <a:cxn ang="0">
                  <a:pos x="0" y="55"/>
                </a:cxn>
                <a:cxn ang="0">
                  <a:pos x="55" y="0"/>
                </a:cxn>
              </a:cxnLst>
              <a:rect l="0" t="0" r="r" b="b"/>
              <a:pathLst>
                <a:path w="110" h="110">
                  <a:moveTo>
                    <a:pt x="55" y="0"/>
                  </a:moveTo>
                  <a:lnTo>
                    <a:pt x="110" y="55"/>
                  </a:lnTo>
                  <a:lnTo>
                    <a:pt x="55" y="110"/>
                  </a:lnTo>
                  <a:lnTo>
                    <a:pt x="0" y="55"/>
                  </a:lnTo>
                  <a:lnTo>
                    <a:pt x="55" y="0"/>
                  </a:lnTo>
                  <a:close/>
                </a:path>
              </a:pathLst>
            </a:custGeom>
            <a:solidFill>
              <a:srgbClr val="BBE0E3"/>
            </a:solidFill>
            <a:ln w="11">
              <a:solidFill>
                <a:srgbClr val="BBE0E3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1608" name="Freeform 104"/>
            <p:cNvSpPr>
              <a:spLocks/>
            </p:cNvSpPr>
            <p:nvPr/>
          </p:nvSpPr>
          <p:spPr bwMode="auto">
            <a:xfrm>
              <a:off x="1549" y="2984"/>
              <a:ext cx="111" cy="110"/>
            </a:xfrm>
            <a:custGeom>
              <a:avLst/>
              <a:gdLst/>
              <a:ahLst/>
              <a:cxnLst>
                <a:cxn ang="0">
                  <a:pos x="55" y="0"/>
                </a:cxn>
                <a:cxn ang="0">
                  <a:pos x="111" y="55"/>
                </a:cxn>
                <a:cxn ang="0">
                  <a:pos x="55" y="110"/>
                </a:cxn>
                <a:cxn ang="0">
                  <a:pos x="0" y="55"/>
                </a:cxn>
                <a:cxn ang="0">
                  <a:pos x="55" y="0"/>
                </a:cxn>
              </a:cxnLst>
              <a:rect l="0" t="0" r="r" b="b"/>
              <a:pathLst>
                <a:path w="111" h="110">
                  <a:moveTo>
                    <a:pt x="55" y="0"/>
                  </a:moveTo>
                  <a:lnTo>
                    <a:pt x="111" y="55"/>
                  </a:lnTo>
                  <a:lnTo>
                    <a:pt x="55" y="110"/>
                  </a:lnTo>
                  <a:lnTo>
                    <a:pt x="0" y="55"/>
                  </a:lnTo>
                  <a:lnTo>
                    <a:pt x="55" y="0"/>
                  </a:lnTo>
                  <a:close/>
                </a:path>
              </a:pathLst>
            </a:custGeom>
            <a:solidFill>
              <a:srgbClr val="BBE0E3"/>
            </a:solidFill>
            <a:ln w="11">
              <a:solidFill>
                <a:srgbClr val="BBE0E3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1609" name="Freeform 105"/>
            <p:cNvSpPr>
              <a:spLocks/>
            </p:cNvSpPr>
            <p:nvPr/>
          </p:nvSpPr>
          <p:spPr bwMode="auto">
            <a:xfrm>
              <a:off x="1516" y="2984"/>
              <a:ext cx="110" cy="110"/>
            </a:xfrm>
            <a:custGeom>
              <a:avLst/>
              <a:gdLst/>
              <a:ahLst/>
              <a:cxnLst>
                <a:cxn ang="0">
                  <a:pos x="55" y="0"/>
                </a:cxn>
                <a:cxn ang="0">
                  <a:pos x="110" y="55"/>
                </a:cxn>
                <a:cxn ang="0">
                  <a:pos x="55" y="110"/>
                </a:cxn>
                <a:cxn ang="0">
                  <a:pos x="0" y="55"/>
                </a:cxn>
                <a:cxn ang="0">
                  <a:pos x="55" y="0"/>
                </a:cxn>
              </a:cxnLst>
              <a:rect l="0" t="0" r="r" b="b"/>
              <a:pathLst>
                <a:path w="110" h="110">
                  <a:moveTo>
                    <a:pt x="55" y="0"/>
                  </a:moveTo>
                  <a:lnTo>
                    <a:pt x="110" y="55"/>
                  </a:lnTo>
                  <a:lnTo>
                    <a:pt x="55" y="110"/>
                  </a:lnTo>
                  <a:lnTo>
                    <a:pt x="0" y="55"/>
                  </a:lnTo>
                  <a:lnTo>
                    <a:pt x="55" y="0"/>
                  </a:lnTo>
                  <a:close/>
                </a:path>
              </a:pathLst>
            </a:custGeom>
            <a:solidFill>
              <a:srgbClr val="BBE0E3"/>
            </a:solidFill>
            <a:ln w="11">
              <a:solidFill>
                <a:srgbClr val="BBE0E3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1610" name="Line 106"/>
            <p:cNvSpPr>
              <a:spLocks noChangeShapeType="1"/>
            </p:cNvSpPr>
            <p:nvPr/>
          </p:nvSpPr>
          <p:spPr bwMode="auto">
            <a:xfrm>
              <a:off x="4790" y="971"/>
              <a:ext cx="1" cy="254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1611" name="Line 107"/>
            <p:cNvSpPr>
              <a:spLocks noChangeShapeType="1"/>
            </p:cNvSpPr>
            <p:nvPr/>
          </p:nvSpPr>
          <p:spPr bwMode="auto">
            <a:xfrm>
              <a:off x="4746" y="3514"/>
              <a:ext cx="88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1612" name="Line 108"/>
            <p:cNvSpPr>
              <a:spLocks noChangeShapeType="1"/>
            </p:cNvSpPr>
            <p:nvPr/>
          </p:nvSpPr>
          <p:spPr bwMode="auto">
            <a:xfrm>
              <a:off x="4746" y="2663"/>
              <a:ext cx="88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1613" name="Line 109"/>
            <p:cNvSpPr>
              <a:spLocks noChangeShapeType="1"/>
            </p:cNvSpPr>
            <p:nvPr/>
          </p:nvSpPr>
          <p:spPr bwMode="auto">
            <a:xfrm>
              <a:off x="4746" y="1822"/>
              <a:ext cx="88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1614" name="Line 110"/>
            <p:cNvSpPr>
              <a:spLocks noChangeShapeType="1"/>
            </p:cNvSpPr>
            <p:nvPr/>
          </p:nvSpPr>
          <p:spPr bwMode="auto">
            <a:xfrm>
              <a:off x="4746" y="971"/>
              <a:ext cx="88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1615" name="Rectangle 111"/>
            <p:cNvSpPr>
              <a:spLocks noChangeArrowheads="1"/>
            </p:cNvSpPr>
            <p:nvPr/>
          </p:nvSpPr>
          <p:spPr bwMode="auto">
            <a:xfrm>
              <a:off x="4292" y="1048"/>
              <a:ext cx="100" cy="100"/>
            </a:xfrm>
            <a:prstGeom prst="rect">
              <a:avLst/>
            </a:prstGeom>
            <a:solidFill>
              <a:srgbClr val="004586"/>
            </a:solidFill>
            <a:ln w="11">
              <a:solidFill>
                <a:srgbClr val="004586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1616" name="Rectangle 112"/>
            <p:cNvSpPr>
              <a:spLocks noChangeArrowheads="1"/>
            </p:cNvSpPr>
            <p:nvPr/>
          </p:nvSpPr>
          <p:spPr bwMode="auto">
            <a:xfrm>
              <a:off x="4292" y="1103"/>
              <a:ext cx="100" cy="100"/>
            </a:xfrm>
            <a:prstGeom prst="rect">
              <a:avLst/>
            </a:prstGeom>
            <a:solidFill>
              <a:srgbClr val="004586"/>
            </a:solidFill>
            <a:ln w="11">
              <a:solidFill>
                <a:srgbClr val="004586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1617" name="Rectangle 113"/>
            <p:cNvSpPr>
              <a:spLocks noChangeArrowheads="1"/>
            </p:cNvSpPr>
            <p:nvPr/>
          </p:nvSpPr>
          <p:spPr bwMode="auto">
            <a:xfrm>
              <a:off x="3905" y="1490"/>
              <a:ext cx="100" cy="100"/>
            </a:xfrm>
            <a:prstGeom prst="rect">
              <a:avLst/>
            </a:prstGeom>
            <a:solidFill>
              <a:srgbClr val="004586"/>
            </a:solidFill>
            <a:ln w="11">
              <a:solidFill>
                <a:srgbClr val="004586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1618" name="Rectangle 114"/>
            <p:cNvSpPr>
              <a:spLocks noChangeArrowheads="1"/>
            </p:cNvSpPr>
            <p:nvPr/>
          </p:nvSpPr>
          <p:spPr bwMode="auto">
            <a:xfrm>
              <a:off x="3905" y="1612"/>
              <a:ext cx="100" cy="100"/>
            </a:xfrm>
            <a:prstGeom prst="rect">
              <a:avLst/>
            </a:prstGeom>
            <a:solidFill>
              <a:srgbClr val="004586"/>
            </a:solidFill>
            <a:ln w="11">
              <a:solidFill>
                <a:srgbClr val="004586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1619" name="Rectangle 115"/>
            <p:cNvSpPr>
              <a:spLocks noChangeArrowheads="1"/>
            </p:cNvSpPr>
            <p:nvPr/>
          </p:nvSpPr>
          <p:spPr bwMode="auto">
            <a:xfrm>
              <a:off x="3507" y="1822"/>
              <a:ext cx="99" cy="100"/>
            </a:xfrm>
            <a:prstGeom prst="rect">
              <a:avLst/>
            </a:prstGeom>
            <a:solidFill>
              <a:srgbClr val="004586"/>
            </a:solidFill>
            <a:ln w="11">
              <a:solidFill>
                <a:srgbClr val="004586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1620" name="Rectangle 116"/>
            <p:cNvSpPr>
              <a:spLocks noChangeArrowheads="1"/>
            </p:cNvSpPr>
            <p:nvPr/>
          </p:nvSpPr>
          <p:spPr bwMode="auto">
            <a:xfrm>
              <a:off x="3120" y="1767"/>
              <a:ext cx="99" cy="99"/>
            </a:xfrm>
            <a:prstGeom prst="rect">
              <a:avLst/>
            </a:prstGeom>
            <a:solidFill>
              <a:srgbClr val="004586"/>
            </a:solidFill>
            <a:ln w="11">
              <a:solidFill>
                <a:srgbClr val="004586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1621" name="Rectangle 117"/>
            <p:cNvSpPr>
              <a:spLocks noChangeArrowheads="1"/>
            </p:cNvSpPr>
            <p:nvPr/>
          </p:nvSpPr>
          <p:spPr bwMode="auto">
            <a:xfrm>
              <a:off x="2522" y="1789"/>
              <a:ext cx="100" cy="100"/>
            </a:xfrm>
            <a:prstGeom prst="rect">
              <a:avLst/>
            </a:prstGeom>
            <a:solidFill>
              <a:srgbClr val="004586"/>
            </a:solidFill>
            <a:ln w="11">
              <a:solidFill>
                <a:srgbClr val="004586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1622" name="Rectangle 118"/>
            <p:cNvSpPr>
              <a:spLocks noChangeArrowheads="1"/>
            </p:cNvSpPr>
            <p:nvPr/>
          </p:nvSpPr>
          <p:spPr bwMode="auto">
            <a:xfrm>
              <a:off x="2334" y="2176"/>
              <a:ext cx="100" cy="100"/>
            </a:xfrm>
            <a:prstGeom prst="rect">
              <a:avLst/>
            </a:prstGeom>
            <a:solidFill>
              <a:srgbClr val="004586"/>
            </a:solidFill>
            <a:ln w="11">
              <a:solidFill>
                <a:srgbClr val="004586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1623" name="Rectangle 119"/>
            <p:cNvSpPr>
              <a:spLocks noChangeArrowheads="1"/>
            </p:cNvSpPr>
            <p:nvPr/>
          </p:nvSpPr>
          <p:spPr bwMode="auto">
            <a:xfrm>
              <a:off x="2135" y="2530"/>
              <a:ext cx="100" cy="100"/>
            </a:xfrm>
            <a:prstGeom prst="rect">
              <a:avLst/>
            </a:prstGeom>
            <a:solidFill>
              <a:srgbClr val="004586"/>
            </a:solidFill>
            <a:ln w="11">
              <a:solidFill>
                <a:srgbClr val="004586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1624" name="Rectangle 120"/>
            <p:cNvSpPr>
              <a:spLocks noChangeArrowheads="1"/>
            </p:cNvSpPr>
            <p:nvPr/>
          </p:nvSpPr>
          <p:spPr bwMode="auto">
            <a:xfrm>
              <a:off x="1748" y="2784"/>
              <a:ext cx="100" cy="100"/>
            </a:xfrm>
            <a:prstGeom prst="rect">
              <a:avLst/>
            </a:prstGeom>
            <a:solidFill>
              <a:srgbClr val="004586"/>
            </a:solidFill>
            <a:ln w="11">
              <a:solidFill>
                <a:srgbClr val="004586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1625" name="Rectangle 121"/>
            <p:cNvSpPr>
              <a:spLocks noChangeArrowheads="1"/>
            </p:cNvSpPr>
            <p:nvPr/>
          </p:nvSpPr>
          <p:spPr bwMode="auto">
            <a:xfrm>
              <a:off x="376" y="3437"/>
              <a:ext cx="708" cy="1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5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itchFamily="34" charset="0"/>
                  <a:cs typeface="Arial" pitchFamily="34" charset="0"/>
                </a:rPr>
                <a:t>1.00E+006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1626" name="Rectangle 122"/>
            <p:cNvSpPr>
              <a:spLocks noChangeArrowheads="1"/>
            </p:cNvSpPr>
            <p:nvPr/>
          </p:nvSpPr>
          <p:spPr bwMode="auto">
            <a:xfrm>
              <a:off x="376" y="2807"/>
              <a:ext cx="708" cy="1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5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itchFamily="34" charset="0"/>
                  <a:cs typeface="Arial" pitchFamily="34" charset="0"/>
                </a:rPr>
                <a:t>1.00E+007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1627" name="Rectangle 123"/>
            <p:cNvSpPr>
              <a:spLocks noChangeArrowheads="1"/>
            </p:cNvSpPr>
            <p:nvPr/>
          </p:nvSpPr>
          <p:spPr bwMode="auto">
            <a:xfrm>
              <a:off x="376" y="2165"/>
              <a:ext cx="708" cy="1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5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itchFamily="34" charset="0"/>
                  <a:cs typeface="Arial" pitchFamily="34" charset="0"/>
                </a:rPr>
                <a:t>1.00E+008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1628" name="Rectangle 124"/>
            <p:cNvSpPr>
              <a:spLocks noChangeArrowheads="1"/>
            </p:cNvSpPr>
            <p:nvPr/>
          </p:nvSpPr>
          <p:spPr bwMode="auto">
            <a:xfrm>
              <a:off x="376" y="1535"/>
              <a:ext cx="708" cy="1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5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itchFamily="34" charset="0"/>
                  <a:cs typeface="Arial" pitchFamily="34" charset="0"/>
                </a:rPr>
                <a:t>1.00E+009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1629" name="Rectangle 125"/>
            <p:cNvSpPr>
              <a:spLocks noChangeArrowheads="1"/>
            </p:cNvSpPr>
            <p:nvPr/>
          </p:nvSpPr>
          <p:spPr bwMode="auto">
            <a:xfrm>
              <a:off x="376" y="893"/>
              <a:ext cx="708" cy="1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5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itchFamily="34" charset="0"/>
                  <a:cs typeface="Arial" pitchFamily="34" charset="0"/>
                </a:rPr>
                <a:t>1.00E+010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1630" name="Rectangle 126"/>
            <p:cNvSpPr>
              <a:spLocks noChangeArrowheads="1"/>
            </p:cNvSpPr>
            <p:nvPr/>
          </p:nvSpPr>
          <p:spPr bwMode="auto">
            <a:xfrm>
              <a:off x="893" y="3614"/>
              <a:ext cx="271" cy="14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500" b="0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itchFamily="34" charset="0"/>
                  <a:cs typeface="Arial" pitchFamily="34" charset="0"/>
                </a:rPr>
                <a:t>1993</a:t>
              </a:r>
              <a:endPara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1631" name="Rectangle 127"/>
            <p:cNvSpPr>
              <a:spLocks noChangeArrowheads="1"/>
            </p:cNvSpPr>
            <p:nvPr/>
          </p:nvSpPr>
          <p:spPr bwMode="auto">
            <a:xfrm>
              <a:off x="1441" y="3614"/>
              <a:ext cx="271" cy="14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500" b="0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itchFamily="34" charset="0"/>
                  <a:cs typeface="Arial" pitchFamily="34" charset="0"/>
                </a:rPr>
                <a:t>1995</a:t>
              </a:r>
              <a:endPara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1632" name="Rectangle 128"/>
            <p:cNvSpPr>
              <a:spLocks noChangeArrowheads="1"/>
            </p:cNvSpPr>
            <p:nvPr/>
          </p:nvSpPr>
          <p:spPr bwMode="auto">
            <a:xfrm>
              <a:off x="1968" y="3614"/>
              <a:ext cx="271" cy="14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500" b="0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itchFamily="34" charset="0"/>
                  <a:cs typeface="Arial" pitchFamily="34" charset="0"/>
                </a:rPr>
                <a:t>1998</a:t>
              </a:r>
              <a:endPara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1633" name="Rectangle 129"/>
            <p:cNvSpPr>
              <a:spLocks noChangeArrowheads="1"/>
            </p:cNvSpPr>
            <p:nvPr/>
          </p:nvSpPr>
          <p:spPr bwMode="auto">
            <a:xfrm>
              <a:off x="2508" y="3614"/>
              <a:ext cx="271" cy="14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500" b="0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itchFamily="34" charset="0"/>
                  <a:cs typeface="Arial" pitchFamily="34" charset="0"/>
                </a:rPr>
                <a:t>2001</a:t>
              </a:r>
              <a:endPara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1634" name="Rectangle 130"/>
            <p:cNvSpPr>
              <a:spLocks noChangeArrowheads="1"/>
            </p:cNvSpPr>
            <p:nvPr/>
          </p:nvSpPr>
          <p:spPr bwMode="auto">
            <a:xfrm>
              <a:off x="3048" y="3614"/>
              <a:ext cx="271" cy="14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500" b="0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itchFamily="34" charset="0"/>
                  <a:cs typeface="Arial" pitchFamily="34" charset="0"/>
                </a:rPr>
                <a:t>2004</a:t>
              </a:r>
              <a:endPara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1635" name="Rectangle 131"/>
            <p:cNvSpPr>
              <a:spLocks noChangeArrowheads="1"/>
            </p:cNvSpPr>
            <p:nvPr/>
          </p:nvSpPr>
          <p:spPr bwMode="auto">
            <a:xfrm>
              <a:off x="3588" y="3614"/>
              <a:ext cx="271" cy="14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500" b="0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itchFamily="34" charset="0"/>
                  <a:cs typeface="Arial" pitchFamily="34" charset="0"/>
                </a:rPr>
                <a:t>2006</a:t>
              </a:r>
              <a:endPara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1636" name="Rectangle 132"/>
            <p:cNvSpPr>
              <a:spLocks noChangeArrowheads="1"/>
            </p:cNvSpPr>
            <p:nvPr/>
          </p:nvSpPr>
          <p:spPr bwMode="auto">
            <a:xfrm>
              <a:off x="4122" y="3614"/>
              <a:ext cx="271" cy="14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500" b="0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itchFamily="34" charset="0"/>
                  <a:cs typeface="Arial" pitchFamily="34" charset="0"/>
                </a:rPr>
                <a:t>2009</a:t>
              </a:r>
              <a:endPara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1637" name="Rectangle 133"/>
            <p:cNvSpPr>
              <a:spLocks noChangeArrowheads="1"/>
            </p:cNvSpPr>
            <p:nvPr/>
          </p:nvSpPr>
          <p:spPr bwMode="auto">
            <a:xfrm>
              <a:off x="4662" y="3614"/>
              <a:ext cx="271" cy="14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500" b="0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itchFamily="34" charset="0"/>
                  <a:cs typeface="Arial" pitchFamily="34" charset="0"/>
                </a:rPr>
                <a:t>2012</a:t>
              </a:r>
              <a:endPara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1638" name="Rectangle 134"/>
            <p:cNvSpPr>
              <a:spLocks noChangeArrowheads="1"/>
            </p:cNvSpPr>
            <p:nvPr/>
          </p:nvSpPr>
          <p:spPr bwMode="auto">
            <a:xfrm>
              <a:off x="4901" y="3426"/>
              <a:ext cx="387" cy="1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8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itchFamily="34" charset="0"/>
                  <a:cs typeface="Arial" pitchFamily="34" charset="0"/>
                </a:rPr>
                <a:t>1000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1639" name="Rectangle 135"/>
            <p:cNvSpPr>
              <a:spLocks noChangeArrowheads="1"/>
            </p:cNvSpPr>
            <p:nvPr/>
          </p:nvSpPr>
          <p:spPr bwMode="auto">
            <a:xfrm>
              <a:off x="4901" y="2574"/>
              <a:ext cx="465" cy="1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8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itchFamily="34" charset="0"/>
                  <a:cs typeface="Arial" pitchFamily="34" charset="0"/>
                </a:rPr>
                <a:t>10000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1640" name="Rectangle 136"/>
            <p:cNvSpPr>
              <a:spLocks noChangeArrowheads="1"/>
            </p:cNvSpPr>
            <p:nvPr/>
          </p:nvSpPr>
          <p:spPr bwMode="auto">
            <a:xfrm>
              <a:off x="4901" y="1734"/>
              <a:ext cx="542" cy="1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8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itchFamily="34" charset="0"/>
                  <a:cs typeface="Arial" pitchFamily="34" charset="0"/>
                </a:rPr>
                <a:t>100000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1641" name="Rectangle 137"/>
            <p:cNvSpPr>
              <a:spLocks noChangeArrowheads="1"/>
            </p:cNvSpPr>
            <p:nvPr/>
          </p:nvSpPr>
          <p:spPr bwMode="auto">
            <a:xfrm>
              <a:off x="4901" y="882"/>
              <a:ext cx="631" cy="1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8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itchFamily="34" charset="0"/>
                  <a:cs typeface="Arial" pitchFamily="34" charset="0"/>
                </a:rPr>
                <a:t>1000000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1642" name="Rectangle 138"/>
            <p:cNvSpPr>
              <a:spLocks noChangeArrowheads="1"/>
            </p:cNvSpPr>
            <p:nvPr/>
          </p:nvSpPr>
          <p:spPr bwMode="auto">
            <a:xfrm>
              <a:off x="3308" y="2829"/>
              <a:ext cx="1261" cy="464"/>
            </a:xfrm>
            <a:prstGeom prst="rect">
              <a:avLst/>
            </a:prstGeom>
            <a:solidFill>
              <a:srgbClr val="FFFFFF"/>
            </a:solidFill>
            <a:ln w="0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1643" name="Freeform 139"/>
            <p:cNvSpPr>
              <a:spLocks/>
            </p:cNvSpPr>
            <p:nvPr/>
          </p:nvSpPr>
          <p:spPr bwMode="auto">
            <a:xfrm>
              <a:off x="3363" y="2917"/>
              <a:ext cx="89" cy="89"/>
            </a:xfrm>
            <a:custGeom>
              <a:avLst/>
              <a:gdLst/>
              <a:ahLst/>
              <a:cxnLst>
                <a:cxn ang="0">
                  <a:pos x="44" y="0"/>
                </a:cxn>
                <a:cxn ang="0">
                  <a:pos x="89" y="44"/>
                </a:cxn>
                <a:cxn ang="0">
                  <a:pos x="44" y="89"/>
                </a:cxn>
                <a:cxn ang="0">
                  <a:pos x="0" y="44"/>
                </a:cxn>
                <a:cxn ang="0">
                  <a:pos x="44" y="0"/>
                </a:cxn>
              </a:cxnLst>
              <a:rect l="0" t="0" r="r" b="b"/>
              <a:pathLst>
                <a:path w="89" h="89">
                  <a:moveTo>
                    <a:pt x="44" y="0"/>
                  </a:moveTo>
                  <a:lnTo>
                    <a:pt x="89" y="44"/>
                  </a:lnTo>
                  <a:lnTo>
                    <a:pt x="44" y="89"/>
                  </a:lnTo>
                  <a:lnTo>
                    <a:pt x="0" y="44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BBE0E3"/>
            </a:solidFill>
            <a:ln w="11">
              <a:solidFill>
                <a:srgbClr val="BBE0E3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1644" name="Rectangle 140"/>
            <p:cNvSpPr>
              <a:spLocks noChangeArrowheads="1"/>
            </p:cNvSpPr>
            <p:nvPr/>
          </p:nvSpPr>
          <p:spPr bwMode="auto">
            <a:xfrm>
              <a:off x="3485" y="2862"/>
              <a:ext cx="1117" cy="1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8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itchFamily="34" charset="0"/>
                  <a:cs typeface="Arial" pitchFamily="34" charset="0"/>
                </a:rPr>
                <a:t>CPU Transistors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1645" name="Rectangle 141"/>
            <p:cNvSpPr>
              <a:spLocks noChangeArrowheads="1"/>
            </p:cNvSpPr>
            <p:nvPr/>
          </p:nvSpPr>
          <p:spPr bwMode="auto">
            <a:xfrm>
              <a:off x="3363" y="3149"/>
              <a:ext cx="78" cy="78"/>
            </a:xfrm>
            <a:prstGeom prst="rect">
              <a:avLst/>
            </a:prstGeom>
            <a:solidFill>
              <a:srgbClr val="004586"/>
            </a:solidFill>
            <a:ln w="11">
              <a:solidFill>
                <a:srgbClr val="004586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1646" name="Rectangle 142"/>
            <p:cNvSpPr>
              <a:spLocks noChangeArrowheads="1"/>
            </p:cNvSpPr>
            <p:nvPr/>
          </p:nvSpPr>
          <p:spPr bwMode="auto">
            <a:xfrm>
              <a:off x="3485" y="3094"/>
              <a:ext cx="1106" cy="1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8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itchFamily="34" charset="0"/>
                  <a:cs typeface="Arial" pitchFamily="34" charset="0"/>
                </a:rPr>
                <a:t>FPGA Registers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145" name="Slide Number Placeholder 14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2D9C5-9C72-4C75-A1BC-B4986A40F6AC}" type="slidenum">
              <a:rPr lang="en-GB" smtClean="0"/>
              <a:pPr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xmlns="" val="10297396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8" name="Rectangle 4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1U Form Factor </a:t>
            </a:r>
          </a:p>
          <a:p>
            <a:r>
              <a:rPr lang="en-GB" dirty="0"/>
              <a:t>4x MAX3 cards </a:t>
            </a:r>
            <a:br>
              <a:rPr lang="en-GB" dirty="0"/>
            </a:br>
            <a:r>
              <a:rPr lang="en-GB" dirty="0"/>
              <a:t>with Virtex-6 </a:t>
            </a:r>
            <a:r>
              <a:rPr lang="en-GB" dirty="0" smtClean="0"/>
              <a:t>FPGAs</a:t>
            </a:r>
          </a:p>
          <a:p>
            <a:r>
              <a:rPr lang="en-GB" dirty="0" smtClean="0"/>
              <a:t>12 Intel Xeon cores</a:t>
            </a:r>
          </a:p>
          <a:p>
            <a:r>
              <a:rPr lang="en-GB" dirty="0" smtClean="0"/>
              <a:t>Up to 192GB FPGA RAM</a:t>
            </a:r>
          </a:p>
          <a:p>
            <a:r>
              <a:rPr lang="en-GB" dirty="0" smtClean="0"/>
              <a:t>Up to 192GB host RAM</a:t>
            </a:r>
          </a:p>
          <a:p>
            <a:r>
              <a:rPr lang="en-GB" i="1" dirty="0" err="1" smtClean="0"/>
              <a:t>MaxRing</a:t>
            </a:r>
            <a:r>
              <a:rPr lang="en-GB" dirty="0" smtClean="0"/>
              <a:t> interconnect</a:t>
            </a:r>
            <a:endParaRPr lang="en-GB" i="1" dirty="0" smtClean="0"/>
          </a:p>
          <a:p>
            <a:r>
              <a:rPr lang="en-GB" dirty="0" err="1" smtClean="0"/>
              <a:t>Infiniband</a:t>
            </a:r>
            <a:r>
              <a:rPr lang="en-GB" dirty="0" smtClean="0"/>
              <a:t>/10GE</a:t>
            </a:r>
          </a:p>
        </p:txBody>
      </p:sp>
      <p:sp>
        <p:nvSpPr>
          <p:cNvPr id="21507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High Density Compute with FPGAs</a:t>
            </a:r>
            <a:endParaRPr lang="en-US" dirty="0"/>
          </a:p>
        </p:txBody>
      </p:sp>
      <p:pic>
        <p:nvPicPr>
          <p:cNvPr id="107521" name="Picture 1" descr="Y:\maxeler\MaxelerInc\salesInc\marketing\Products\MaxNode\photos\maxnode_shadow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569583" y="1074359"/>
            <a:ext cx="4174820" cy="2560229"/>
          </a:xfrm>
          <a:prstGeom prst="rect">
            <a:avLst/>
          </a:prstGeom>
          <a:noFill/>
        </p:spPr>
      </p:pic>
      <p:pic>
        <p:nvPicPr>
          <p:cNvPr id="7" name="Picture 2" descr="Y:\maxeler\MaxelerInc\salesInc\marketing\Products\MAX3\photos\heatsink-off\front_no_heatsink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742398" y="3675234"/>
            <a:ext cx="3915784" cy="2346054"/>
          </a:xfrm>
          <a:prstGeom prst="rect">
            <a:avLst/>
          </a:prstGeom>
          <a:noFill/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2D9C5-9C72-4C75-A1BC-B4986A40F6AC}" type="slidenum">
              <a:rPr lang="en-GB" smtClean="0"/>
              <a:pPr/>
              <a:t>21</a:t>
            </a:fld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+mj-lt"/>
              <a:buAutoNum type="arabicPeriod"/>
            </a:pPr>
            <a:r>
              <a:rPr lang="en-US" sz="1600" dirty="0" smtClean="0"/>
              <a:t>Given a computer system which is never limited by the memory bus with N Mb memory and a processor with 2 ALUs (write down any additional assumptions you make). For each of the points below write a pseudo program which is limited in performance by:</a:t>
            </a:r>
          </a:p>
          <a:p>
            <a:pPr marL="742950" lvl="2" indent="-342900">
              <a:buFont typeface="+mj-lt"/>
              <a:buAutoNum type="alphaLcParenR"/>
            </a:pPr>
            <a:r>
              <a:rPr lang="en-US" sz="1600" dirty="0" smtClean="0"/>
              <a:t>Memory access latency</a:t>
            </a:r>
          </a:p>
          <a:p>
            <a:pPr marL="742950" lvl="2" indent="-342900">
              <a:buFont typeface="+mj-lt"/>
              <a:buAutoNum type="alphaLcParenR"/>
            </a:pPr>
            <a:r>
              <a:rPr lang="en-US" sz="1600" dirty="0" smtClean="0"/>
              <a:t>Memory size  </a:t>
            </a:r>
          </a:p>
          <a:p>
            <a:pPr marL="742950" lvl="2" indent="-342900">
              <a:buFont typeface="+mj-lt"/>
              <a:buAutoNum type="alphaLcParenR"/>
            </a:pPr>
            <a:r>
              <a:rPr lang="en-US" sz="1600" dirty="0" smtClean="0"/>
              <a:t>Processor ALU resources</a:t>
            </a:r>
          </a:p>
          <a:p>
            <a:pPr eaLnBrk="1" hangingPunct="1">
              <a:buFont typeface="+mj-lt"/>
              <a:buAutoNum type="arabicPeriod"/>
            </a:pPr>
            <a:endParaRPr lang="en-US" sz="1600" dirty="0" smtClean="0"/>
          </a:p>
          <a:p>
            <a:pPr eaLnBrk="1" hangingPunct="1">
              <a:buFont typeface="+mj-lt"/>
              <a:buAutoNum type="arabicPeriod"/>
            </a:pPr>
            <a:r>
              <a:rPr lang="en-US" sz="1600" dirty="0" smtClean="0"/>
              <a:t>Find 3 research projects on the web, working on something related to this lecture and describe what they do and why in your own words.</a:t>
            </a:r>
          </a:p>
        </p:txBody>
      </p:sp>
      <p:sp>
        <p:nvSpPr>
          <p:cNvPr id="1229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smtClean="0"/>
              <a:t>Exercises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2D9C5-9C72-4C75-A1BC-B4986A40F6AC}" type="slidenum">
              <a:rPr lang="en-GB" smtClean="0"/>
              <a:pPr/>
              <a:t>22</a:t>
            </a:fld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ection 1 - MaxBlue">
  <a:themeElements>
    <a:clrScheme name="Maxeler">
      <a:dk1>
        <a:srgbClr val="000000"/>
      </a:dk1>
      <a:lt1>
        <a:srgbClr val="FFFFFF"/>
      </a:lt1>
      <a:dk2>
        <a:srgbClr val="535353"/>
      </a:dk2>
      <a:lt2>
        <a:srgbClr val="FFFFFF"/>
      </a:lt2>
      <a:accent1>
        <a:srgbClr val="005089"/>
      </a:accent1>
      <a:accent2>
        <a:srgbClr val="FFFFFF"/>
      </a:accent2>
      <a:accent3>
        <a:srgbClr val="A6A6A6"/>
      </a:accent3>
      <a:accent4>
        <a:srgbClr val="333333"/>
      </a:accent4>
      <a:accent5>
        <a:srgbClr val="000000"/>
      </a:accent5>
      <a:accent6>
        <a:srgbClr val="535353"/>
      </a:accent6>
      <a:hlink>
        <a:srgbClr val="0000FF"/>
      </a:hlink>
      <a:folHlink>
        <a:srgbClr val="800080"/>
      </a:folHlink>
    </a:clrScheme>
    <a:fontScheme name="Maxeler">
      <a:majorFont>
        <a:latin typeface="Arial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MaxBlue slides - wave footer">
  <a:themeElements>
    <a:clrScheme name="Maxeler">
      <a:dk1>
        <a:srgbClr val="333333"/>
      </a:dk1>
      <a:lt1>
        <a:srgbClr val="FFFFFF"/>
      </a:lt1>
      <a:dk2>
        <a:srgbClr val="005089"/>
      </a:dk2>
      <a:lt2>
        <a:srgbClr val="FFFFFF"/>
      </a:lt2>
      <a:accent1>
        <a:srgbClr val="A6A6A6"/>
      </a:accent1>
      <a:accent2>
        <a:srgbClr val="FFFFFF"/>
      </a:accent2>
      <a:accent3>
        <a:srgbClr val="005089"/>
      </a:accent3>
      <a:accent4>
        <a:srgbClr val="333333"/>
      </a:accent4>
      <a:accent5>
        <a:srgbClr val="000000"/>
      </a:accent5>
      <a:accent6>
        <a:srgbClr val="535353"/>
      </a:accent6>
      <a:hlink>
        <a:srgbClr val="0000FF"/>
      </a:hlink>
      <a:folHlink>
        <a:srgbClr val="800080"/>
      </a:folHlink>
    </a:clrScheme>
    <a:fontScheme name="Maxeler">
      <a:majorFont>
        <a:latin typeface="Arial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Section 2 - Orange">
  <a:themeElements>
    <a:clrScheme name="Maxeler">
      <a:dk1>
        <a:srgbClr val="333333"/>
      </a:dk1>
      <a:lt1>
        <a:srgbClr val="FFFFFF"/>
      </a:lt1>
      <a:dk2>
        <a:srgbClr val="005089"/>
      </a:dk2>
      <a:lt2>
        <a:srgbClr val="FFFFFF"/>
      </a:lt2>
      <a:accent1>
        <a:srgbClr val="A6A6A6"/>
      </a:accent1>
      <a:accent2>
        <a:srgbClr val="FFFFFF"/>
      </a:accent2>
      <a:accent3>
        <a:srgbClr val="005089"/>
      </a:accent3>
      <a:accent4>
        <a:srgbClr val="333333"/>
      </a:accent4>
      <a:accent5>
        <a:srgbClr val="000000"/>
      </a:accent5>
      <a:accent6>
        <a:srgbClr val="535353"/>
      </a:accent6>
      <a:hlink>
        <a:srgbClr val="0000FF"/>
      </a:hlink>
      <a:folHlink>
        <a:srgbClr val="800080"/>
      </a:folHlink>
    </a:clrScheme>
    <a:fontScheme name="Maxeler">
      <a:majorFont>
        <a:latin typeface="Arial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Section 3 - Green">
  <a:themeElements>
    <a:clrScheme name="Maxeler">
      <a:dk1>
        <a:srgbClr val="333333"/>
      </a:dk1>
      <a:lt1>
        <a:srgbClr val="FFFFFF"/>
      </a:lt1>
      <a:dk2>
        <a:srgbClr val="005089"/>
      </a:dk2>
      <a:lt2>
        <a:srgbClr val="FFFFFF"/>
      </a:lt2>
      <a:accent1>
        <a:srgbClr val="A6A6A6"/>
      </a:accent1>
      <a:accent2>
        <a:srgbClr val="FFFFFF"/>
      </a:accent2>
      <a:accent3>
        <a:srgbClr val="005089"/>
      </a:accent3>
      <a:accent4>
        <a:srgbClr val="333333"/>
      </a:accent4>
      <a:accent5>
        <a:srgbClr val="000000"/>
      </a:accent5>
      <a:accent6>
        <a:srgbClr val="535353"/>
      </a:accent6>
      <a:hlink>
        <a:srgbClr val="0000FF"/>
      </a:hlink>
      <a:folHlink>
        <a:srgbClr val="800080"/>
      </a:folHlink>
    </a:clrScheme>
    <a:fontScheme name="Maxeler">
      <a:majorFont>
        <a:latin typeface="Arial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Section 4 - Purple">
  <a:themeElements>
    <a:clrScheme name="Maxeler">
      <a:dk1>
        <a:srgbClr val="333333"/>
      </a:dk1>
      <a:lt1>
        <a:srgbClr val="FFFFFF"/>
      </a:lt1>
      <a:dk2>
        <a:srgbClr val="005089"/>
      </a:dk2>
      <a:lt2>
        <a:srgbClr val="FFFFFF"/>
      </a:lt2>
      <a:accent1>
        <a:srgbClr val="A6A6A6"/>
      </a:accent1>
      <a:accent2>
        <a:srgbClr val="FFFFFF"/>
      </a:accent2>
      <a:accent3>
        <a:srgbClr val="005089"/>
      </a:accent3>
      <a:accent4>
        <a:srgbClr val="333333"/>
      </a:accent4>
      <a:accent5>
        <a:srgbClr val="000000"/>
      </a:accent5>
      <a:accent6>
        <a:srgbClr val="535353"/>
      </a:accent6>
      <a:hlink>
        <a:srgbClr val="0000FF"/>
      </a:hlink>
      <a:folHlink>
        <a:srgbClr val="800080"/>
      </a:folHlink>
    </a:clrScheme>
    <a:fontScheme name="Maxeler">
      <a:majorFont>
        <a:latin typeface="Arial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Section 5 - Red">
  <a:themeElements>
    <a:clrScheme name="Maxeler">
      <a:dk1>
        <a:srgbClr val="333333"/>
      </a:dk1>
      <a:lt1>
        <a:srgbClr val="FFFFFF"/>
      </a:lt1>
      <a:dk2>
        <a:srgbClr val="005089"/>
      </a:dk2>
      <a:lt2>
        <a:srgbClr val="FFFFFF"/>
      </a:lt2>
      <a:accent1>
        <a:srgbClr val="A6A6A6"/>
      </a:accent1>
      <a:accent2>
        <a:srgbClr val="FFFFFF"/>
      </a:accent2>
      <a:accent3>
        <a:srgbClr val="005089"/>
      </a:accent3>
      <a:accent4>
        <a:srgbClr val="333333"/>
      </a:accent4>
      <a:accent5>
        <a:srgbClr val="000000"/>
      </a:accent5>
      <a:accent6>
        <a:srgbClr val="535353"/>
      </a:accent6>
      <a:hlink>
        <a:srgbClr val="0000FF"/>
      </a:hlink>
      <a:folHlink>
        <a:srgbClr val="800080"/>
      </a:folHlink>
    </a:clrScheme>
    <a:fontScheme name="Maxeler">
      <a:majorFont>
        <a:latin typeface="Arial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Section 6 - Aqua">
  <a:themeElements>
    <a:clrScheme name="Maxeler">
      <a:dk1>
        <a:srgbClr val="333333"/>
      </a:dk1>
      <a:lt1>
        <a:srgbClr val="FFFFFF"/>
      </a:lt1>
      <a:dk2>
        <a:srgbClr val="005089"/>
      </a:dk2>
      <a:lt2>
        <a:srgbClr val="FFFFFF"/>
      </a:lt2>
      <a:accent1>
        <a:srgbClr val="A6A6A6"/>
      </a:accent1>
      <a:accent2>
        <a:srgbClr val="FFFFFF"/>
      </a:accent2>
      <a:accent3>
        <a:srgbClr val="005089"/>
      </a:accent3>
      <a:accent4>
        <a:srgbClr val="333333"/>
      </a:accent4>
      <a:accent5>
        <a:srgbClr val="000000"/>
      </a:accent5>
      <a:accent6>
        <a:srgbClr val="535353"/>
      </a:accent6>
      <a:hlink>
        <a:srgbClr val="0000FF"/>
      </a:hlink>
      <a:folHlink>
        <a:srgbClr val="800080"/>
      </a:folHlink>
    </a:clrScheme>
    <a:fontScheme name="Maxeler">
      <a:majorFont>
        <a:latin typeface="Arial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Section 7 - Yellow">
  <a:themeElements>
    <a:clrScheme name="Maxeler">
      <a:dk1>
        <a:srgbClr val="333333"/>
      </a:dk1>
      <a:lt1>
        <a:srgbClr val="FFFFFF"/>
      </a:lt1>
      <a:dk2>
        <a:srgbClr val="005089"/>
      </a:dk2>
      <a:lt2>
        <a:srgbClr val="FFFFFF"/>
      </a:lt2>
      <a:accent1>
        <a:srgbClr val="A6A6A6"/>
      </a:accent1>
      <a:accent2>
        <a:srgbClr val="FFFFFF"/>
      </a:accent2>
      <a:accent3>
        <a:srgbClr val="005089"/>
      </a:accent3>
      <a:accent4>
        <a:srgbClr val="333333"/>
      </a:accent4>
      <a:accent5>
        <a:srgbClr val="000000"/>
      </a:accent5>
      <a:accent6>
        <a:srgbClr val="535353"/>
      </a:accent6>
      <a:hlink>
        <a:srgbClr val="0000FF"/>
      </a:hlink>
      <a:folHlink>
        <a:srgbClr val="800080"/>
      </a:folHlink>
    </a:clrScheme>
    <a:fontScheme name="Maxeler">
      <a:majorFont>
        <a:latin typeface="Arial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MaxTemplate_July15_2011</Template>
  <TotalTime>1118</TotalTime>
  <Words>825</Words>
  <Application>Microsoft Office PowerPoint</Application>
  <PresentationFormat>On-screen Show (4:3)</PresentationFormat>
  <Paragraphs>269</Paragraphs>
  <Slides>22</Slides>
  <Notes>6</Notes>
  <HiddenSlides>0</HiddenSlides>
  <MMClips>0</MMClips>
  <ScaleCrop>false</ScaleCrop>
  <HeadingPairs>
    <vt:vector size="4" baseType="variant">
      <vt:variant>
        <vt:lpstr>Theme</vt:lpstr>
      </vt:variant>
      <vt:variant>
        <vt:i4>8</vt:i4>
      </vt:variant>
      <vt:variant>
        <vt:lpstr>Slide Titles</vt:lpstr>
      </vt:variant>
      <vt:variant>
        <vt:i4>22</vt:i4>
      </vt:variant>
    </vt:vector>
  </HeadingPairs>
  <TitlesOfParts>
    <vt:vector size="30" baseType="lpstr">
      <vt:lpstr>Section 1 - MaxBlue</vt:lpstr>
      <vt:lpstr>MaxBlue slides - wave footer</vt:lpstr>
      <vt:lpstr>Section 2 - Orange</vt:lpstr>
      <vt:lpstr>Section 3 - Green</vt:lpstr>
      <vt:lpstr>Section 4 - Purple</vt:lpstr>
      <vt:lpstr>Section 5 - Red</vt:lpstr>
      <vt:lpstr>Section 6 - Aqua</vt:lpstr>
      <vt:lpstr>Section 7 - Yellow</vt:lpstr>
      <vt:lpstr>Slide 1</vt:lpstr>
      <vt:lpstr>Lecture Overview</vt:lpstr>
      <vt:lpstr>Rise of x86 Supercomputers</vt:lpstr>
      <vt:lpstr>The Exaflop Supercomputer (2018)</vt:lpstr>
      <vt:lpstr>What do 50M cores look like?</vt:lpstr>
      <vt:lpstr>Power Efficiency</vt:lpstr>
      <vt:lpstr>Intel 6-Core X5680 “Westmere”</vt:lpstr>
      <vt:lpstr>A Special Purpose Computer</vt:lpstr>
      <vt:lpstr>A Special Purpose Computer</vt:lpstr>
      <vt:lpstr>A Special Purpose Computer</vt:lpstr>
      <vt:lpstr>Instruction Processors</vt:lpstr>
      <vt:lpstr>Dataflow/Stream Processors</vt:lpstr>
      <vt:lpstr>Accelerating Real Applications</vt:lpstr>
      <vt:lpstr>Custom Computing in a PC</vt:lpstr>
      <vt:lpstr>Embedded Systems</vt:lpstr>
      <vt:lpstr>Is there an optimal location? </vt:lpstr>
      <vt:lpstr>Major Bottlenecks: Examples</vt:lpstr>
      <vt:lpstr>Examples</vt:lpstr>
      <vt:lpstr>Reconfigurable Computing with FPGAs</vt:lpstr>
      <vt:lpstr>CPU and FPGA Scaling</vt:lpstr>
      <vt:lpstr>High Density Compute with FPGAs</vt:lpstr>
      <vt:lpstr>Exercises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Helen Collicutt</dc:creator>
  <cp:lastModifiedBy>oliver</cp:lastModifiedBy>
  <cp:revision>56</cp:revision>
  <dcterms:created xsi:type="dcterms:W3CDTF">2011-07-15T19:39:06Z</dcterms:created>
  <dcterms:modified xsi:type="dcterms:W3CDTF">2011-09-28T18:33:57Z</dcterms:modified>
</cp:coreProperties>
</file>