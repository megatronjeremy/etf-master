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5" r:id="rId9"/>
    <p:sldId id="266" r:id="rId10"/>
    <p:sldId id="258" r:id="rId11"/>
    <p:sldId id="267" r:id="rId12"/>
    <p:sldId id="268" r:id="rId13"/>
    <p:sldId id="269" r:id="rId14"/>
    <p:sldId id="272" r:id="rId15"/>
    <p:sldId id="270" r:id="rId16"/>
    <p:sldId id="273" r:id="rId17"/>
    <p:sldId id="275" r:id="rId18"/>
    <p:sldId id="276" r:id="rId19"/>
    <p:sldId id="277" r:id="rId20"/>
    <p:sldId id="280" r:id="rId21"/>
    <p:sldId id="279"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86463" autoAdjust="0"/>
  </p:normalViewPr>
  <p:slideViewPr>
    <p:cSldViewPr snapToGrid="0">
      <p:cViewPr varScale="1">
        <p:scale>
          <a:sx n="91" d="100"/>
          <a:sy n="91" d="100"/>
        </p:scale>
        <p:origin x="523"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2A691-A94A-4E9E-9A09-E54F967881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27D110-3F9A-465D-AF63-CCB66DBF7D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63AE38-040E-426C-B101-5E19F2B16204}"/>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5" name="Footer Placeholder 4">
            <a:extLst>
              <a:ext uri="{FF2B5EF4-FFF2-40B4-BE49-F238E27FC236}">
                <a16:creationId xmlns:a16="http://schemas.microsoft.com/office/drawing/2014/main" id="{152F5A5D-0FF9-4433-A300-630CD975F1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060AA-FA3A-4C69-A1B8-076FE4484CAC}"/>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194346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3681-73D6-4613-81D1-C3A72C7FC5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E90FCB-F9B2-464C-A28D-6A480F9C58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A945D-4CEA-42CA-8F05-A1683F05485C}"/>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5" name="Footer Placeholder 4">
            <a:extLst>
              <a:ext uri="{FF2B5EF4-FFF2-40B4-BE49-F238E27FC236}">
                <a16:creationId xmlns:a16="http://schemas.microsoft.com/office/drawing/2014/main" id="{3B806236-23B6-4200-AE07-B1F50035F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1DD07-19B6-48A4-9B83-0D6EDD2B052E}"/>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2151657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86C0-D353-4F55-9448-929F660B03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247F24-06DE-4A06-87FA-22A61C9273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B897DF-8E7F-4B1A-B86C-59B76FFE74A0}"/>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5" name="Footer Placeholder 4">
            <a:extLst>
              <a:ext uri="{FF2B5EF4-FFF2-40B4-BE49-F238E27FC236}">
                <a16:creationId xmlns:a16="http://schemas.microsoft.com/office/drawing/2014/main" id="{BA3EE5A0-E4E2-4AF1-B2BA-D7EC942E18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5D6DC-EDCF-4ED3-ADCF-67AF1A5CE58D}"/>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15693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9167-B08E-4033-A9FB-15A80C7BD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44B090-22F4-4993-99C2-D70632CD1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DAF3FF-CDE8-4DAB-B6CB-ED224AEB76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A07FCF-44A9-4852-852B-EDFB9675F47A}"/>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6" name="Footer Placeholder 5">
            <a:extLst>
              <a:ext uri="{FF2B5EF4-FFF2-40B4-BE49-F238E27FC236}">
                <a16:creationId xmlns:a16="http://schemas.microsoft.com/office/drawing/2014/main" id="{7152A1D8-E409-4CCF-BE1C-4F6E241D2E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589F8F-97D3-4FFB-8DCF-C1C10F339AD7}"/>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4122891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9FD7D-B267-4E35-92CF-9D03465D37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106D06-9414-4DB4-846D-6F1B8BA5A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3A01B9-DA62-4A39-81C2-3578F65E32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970EE5-96DD-48CA-92DB-6A4B9A13ED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859E08-557B-4D86-B278-8A4D7CADA3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699D36-9C82-439E-B725-4807666E0754}"/>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8" name="Footer Placeholder 7">
            <a:extLst>
              <a:ext uri="{FF2B5EF4-FFF2-40B4-BE49-F238E27FC236}">
                <a16:creationId xmlns:a16="http://schemas.microsoft.com/office/drawing/2014/main" id="{F16CB722-0693-476F-8E53-5E4D67179C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D727B5-091F-48CA-94D8-8FFE78DBFBAB}"/>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3930789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D6B4C-07EA-486B-BDA6-3D28485189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2B40BA-9F1D-43BF-B8B9-A6BA9992101A}"/>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4" name="Footer Placeholder 3">
            <a:extLst>
              <a:ext uri="{FF2B5EF4-FFF2-40B4-BE49-F238E27FC236}">
                <a16:creationId xmlns:a16="http://schemas.microsoft.com/office/drawing/2014/main" id="{0945BCD1-F2D5-4162-B4EF-1E3CA63FCA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B233D2-4B7A-4C88-A6A9-EC41FC285CC6}"/>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419781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01D2B4-21DE-47C5-8D89-2652D893DABB}"/>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3" name="Footer Placeholder 2">
            <a:extLst>
              <a:ext uri="{FF2B5EF4-FFF2-40B4-BE49-F238E27FC236}">
                <a16:creationId xmlns:a16="http://schemas.microsoft.com/office/drawing/2014/main" id="{B7B738EE-D2B7-45F2-B07D-3A08A52EF2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494AA8-E4C7-4180-B778-2415E353E82C}"/>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109935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7FDF2-C897-4084-9A52-462D511753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CDF3DC-F27E-4030-AAE6-BF1640089D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02727F-C241-4CB7-B95D-95B0F6FA4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EF3D4D-80C7-4A6B-B6EB-F8ABBB7CCC59}"/>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6" name="Footer Placeholder 5">
            <a:extLst>
              <a:ext uri="{FF2B5EF4-FFF2-40B4-BE49-F238E27FC236}">
                <a16:creationId xmlns:a16="http://schemas.microsoft.com/office/drawing/2014/main" id="{2FFA333F-689A-43CD-869B-A254BC653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AC2083-2DA7-45AD-9EEE-71ED51389010}"/>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553273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FCAB4-33E8-4021-8711-806B0DF3C2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70D9DD-F830-4D65-9083-5B30D081F2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A98993-8626-4DB0-81E1-062A470B3C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07E5D6-EE80-45F8-A21D-0E81DA6A41CA}"/>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6" name="Footer Placeholder 5">
            <a:extLst>
              <a:ext uri="{FF2B5EF4-FFF2-40B4-BE49-F238E27FC236}">
                <a16:creationId xmlns:a16="http://schemas.microsoft.com/office/drawing/2014/main" id="{EA07EEE5-46F6-4F58-BB0C-F88993A89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3DAEA-C651-4B38-A2E7-9FECAE7D3EC2}"/>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3949735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9F584-B02B-468F-964F-129D4C31C6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E9B950-341C-491A-A16C-43E654365A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AA09BB-74C0-4A21-954C-A973EBF4DB84}"/>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5" name="Footer Placeholder 4">
            <a:extLst>
              <a:ext uri="{FF2B5EF4-FFF2-40B4-BE49-F238E27FC236}">
                <a16:creationId xmlns:a16="http://schemas.microsoft.com/office/drawing/2014/main" id="{55895523-B417-4993-B453-BA054098D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9134EA-8684-4CA7-85AD-FAA032716D2D}"/>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49569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C4CD02-7AAE-4D61-84DB-38171668D7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5793E1-FF83-49CE-89FB-CC1DDD04EA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87FBA1-955F-4FC9-B715-4A605A93AE37}"/>
              </a:ext>
            </a:extLst>
          </p:cNvPr>
          <p:cNvSpPr>
            <a:spLocks noGrp="1"/>
          </p:cNvSpPr>
          <p:nvPr>
            <p:ph type="dt" sz="half" idx="10"/>
          </p:nvPr>
        </p:nvSpPr>
        <p:spPr/>
        <p:txBody>
          <a:bodyPr/>
          <a:lstStyle/>
          <a:p>
            <a:fld id="{FCAEF69F-6ADF-4338-80DB-8150F8BB4674}" type="datetimeFigureOut">
              <a:rPr lang="en-US" smtClean="0"/>
              <a:t>2/4/2021</a:t>
            </a:fld>
            <a:endParaRPr lang="en-US"/>
          </a:p>
        </p:txBody>
      </p:sp>
      <p:sp>
        <p:nvSpPr>
          <p:cNvPr id="5" name="Footer Placeholder 4">
            <a:extLst>
              <a:ext uri="{FF2B5EF4-FFF2-40B4-BE49-F238E27FC236}">
                <a16:creationId xmlns:a16="http://schemas.microsoft.com/office/drawing/2014/main" id="{3D100D80-94A1-4205-AF51-BE3AC23FB4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BDDEBB-D354-452D-A1D8-A7127F431D3B}"/>
              </a:ext>
            </a:extLst>
          </p:cNvPr>
          <p:cNvSpPr>
            <a:spLocks noGrp="1"/>
          </p:cNvSpPr>
          <p:nvPr>
            <p:ph type="sldNum" sz="quarter" idx="12"/>
          </p:nvPr>
        </p:nvSpPr>
        <p:spPr/>
        <p:txBody>
          <a:bodyPr/>
          <a:lstStyle/>
          <a:p>
            <a:fld id="{C2FF9F83-90C9-452A-AFC8-351CF1C2EF23}" type="slidenum">
              <a:rPr lang="en-US" smtClean="0"/>
              <a:t>‹#›</a:t>
            </a:fld>
            <a:endParaRPr lang="en-US"/>
          </a:p>
        </p:txBody>
      </p:sp>
    </p:spTree>
    <p:extLst>
      <p:ext uri="{BB962C8B-B14F-4D97-AF65-F5344CB8AC3E}">
        <p14:creationId xmlns:p14="http://schemas.microsoft.com/office/powerpoint/2010/main" val="1621169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88CB3C-F43C-4EAF-A007-B7EE0B7A91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F56922-26F6-43F9-9D15-AF0FBABBB1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16939-EC42-4278-880B-194D80CD93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AEF69F-6ADF-4338-80DB-8150F8BB4674}" type="datetimeFigureOut">
              <a:rPr lang="en-US" smtClean="0"/>
              <a:t>2/4/2021</a:t>
            </a:fld>
            <a:endParaRPr lang="en-US"/>
          </a:p>
        </p:txBody>
      </p:sp>
      <p:sp>
        <p:nvSpPr>
          <p:cNvPr id="5" name="Footer Placeholder 4">
            <a:extLst>
              <a:ext uri="{FF2B5EF4-FFF2-40B4-BE49-F238E27FC236}">
                <a16:creationId xmlns:a16="http://schemas.microsoft.com/office/drawing/2014/main" id="{DB765967-DFE5-4A9F-BE8C-702EA87933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D128E1-8268-4E94-93E4-DF18EDD875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FF9F83-90C9-452A-AFC8-351CF1C2EF23}" type="slidenum">
              <a:rPr lang="en-US" smtClean="0"/>
              <a:t>‹#›</a:t>
            </a:fld>
            <a:endParaRPr lang="en-US"/>
          </a:p>
        </p:txBody>
      </p:sp>
    </p:spTree>
    <p:extLst>
      <p:ext uri="{BB962C8B-B14F-4D97-AF65-F5344CB8AC3E}">
        <p14:creationId xmlns:p14="http://schemas.microsoft.com/office/powerpoint/2010/main" val="2262422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C1F8-5C2F-4EF9-B358-C62D71921944}"/>
              </a:ext>
            </a:extLst>
          </p:cNvPr>
          <p:cNvSpPr>
            <a:spLocks noGrp="1"/>
          </p:cNvSpPr>
          <p:nvPr>
            <p:ph type="ctrTitle"/>
          </p:nvPr>
        </p:nvSpPr>
        <p:spPr>
          <a:xfrm>
            <a:off x="1524000" y="852406"/>
            <a:ext cx="9144000" cy="3797085"/>
          </a:xfrm>
        </p:spPr>
        <p:txBody>
          <a:bodyPr>
            <a:normAutofit/>
          </a:bodyPr>
          <a:lstStyle/>
          <a:p>
            <a:br>
              <a:rPr lang="en-US" sz="4800" b="1" dirty="0">
                <a:solidFill>
                  <a:schemeClr val="bg1"/>
                </a:solidFill>
              </a:rPr>
            </a:br>
            <a:r>
              <a:rPr lang="en-US" sz="4400" b="1" dirty="0">
                <a:solidFill>
                  <a:schemeClr val="bg1"/>
                </a:solidFill>
              </a:rPr>
              <a:t>The </a:t>
            </a:r>
            <a:br>
              <a:rPr lang="en-US" sz="4400" b="1" dirty="0">
                <a:solidFill>
                  <a:schemeClr val="bg1"/>
                </a:solidFill>
              </a:rPr>
            </a:br>
            <a:r>
              <a:rPr lang="en-US" sz="4400" b="1" dirty="0">
                <a:solidFill>
                  <a:schemeClr val="bg1"/>
                </a:solidFill>
              </a:rPr>
              <a:t>Ultimate </a:t>
            </a:r>
            <a:r>
              <a:rPr lang="en-US" sz="4400" b="1" dirty="0" err="1">
                <a:solidFill>
                  <a:schemeClr val="bg1"/>
                </a:solidFill>
              </a:rPr>
              <a:t>SuperComputer</a:t>
            </a:r>
            <a:r>
              <a:rPr lang="en-US" sz="4400" b="1" dirty="0">
                <a:solidFill>
                  <a:schemeClr val="bg1"/>
                </a:solidFill>
              </a:rPr>
              <a:t>-on-a-Chip </a:t>
            </a:r>
            <a:br>
              <a:rPr lang="en-US" sz="4400" b="1" dirty="0">
                <a:solidFill>
                  <a:schemeClr val="bg1"/>
                </a:solidFill>
              </a:rPr>
            </a:br>
            <a:r>
              <a:rPr lang="en-US" sz="4400" b="1" dirty="0">
                <a:solidFill>
                  <a:schemeClr val="bg1"/>
                </a:solidFill>
              </a:rPr>
              <a:t>for </a:t>
            </a:r>
            <a:br>
              <a:rPr lang="en-US" sz="4400" b="1" dirty="0">
                <a:solidFill>
                  <a:schemeClr val="bg1"/>
                </a:solidFill>
              </a:rPr>
            </a:br>
            <a:r>
              <a:rPr lang="en-US" sz="4400" b="1" dirty="0">
                <a:solidFill>
                  <a:schemeClr val="bg1"/>
                </a:solidFill>
              </a:rPr>
              <a:t>Big Data and Machine Learning</a:t>
            </a:r>
            <a:endParaRPr lang="en-US" sz="4800" b="1" dirty="0">
              <a:solidFill>
                <a:schemeClr val="bg1"/>
              </a:solidFill>
            </a:endParaRPr>
          </a:p>
        </p:txBody>
      </p:sp>
      <p:sp>
        <p:nvSpPr>
          <p:cNvPr id="3" name="Subtitle 2">
            <a:extLst>
              <a:ext uri="{FF2B5EF4-FFF2-40B4-BE49-F238E27FC236}">
                <a16:creationId xmlns:a16="http://schemas.microsoft.com/office/drawing/2014/main" id="{EE6483EC-4FC0-4BA5-B3B8-7E2C4851EF15}"/>
              </a:ext>
            </a:extLst>
          </p:cNvPr>
          <p:cNvSpPr>
            <a:spLocks noGrp="1"/>
          </p:cNvSpPr>
          <p:nvPr>
            <p:ph type="subTitle" idx="1"/>
          </p:nvPr>
        </p:nvSpPr>
        <p:spPr>
          <a:xfrm>
            <a:off x="1524000" y="5354660"/>
            <a:ext cx="9144000" cy="530816"/>
          </a:xfrm>
        </p:spPr>
        <p:txBody>
          <a:bodyPr/>
          <a:lstStyle/>
          <a:p>
            <a:r>
              <a:rPr lang="en-US" b="1" dirty="0">
                <a:solidFill>
                  <a:schemeClr val="bg1"/>
                </a:solidFill>
              </a:rPr>
              <a:t>Veljko </a:t>
            </a:r>
            <a:r>
              <a:rPr lang="en-US" b="1" dirty="0" err="1">
                <a:solidFill>
                  <a:schemeClr val="bg1"/>
                </a:solidFill>
              </a:rPr>
              <a:t>Milutinovi</a:t>
            </a:r>
            <a:r>
              <a:rPr lang="sr-Latn-RS" b="1" dirty="0">
                <a:solidFill>
                  <a:schemeClr val="bg1"/>
                </a:solidFill>
              </a:rPr>
              <a:t>ć</a:t>
            </a:r>
            <a:endParaRPr lang="en-US" b="1" dirty="0">
              <a:solidFill>
                <a:schemeClr val="bg1"/>
              </a:solidFill>
            </a:endParaRPr>
          </a:p>
        </p:txBody>
      </p:sp>
    </p:spTree>
    <p:extLst>
      <p:ext uri="{BB962C8B-B14F-4D97-AF65-F5344CB8AC3E}">
        <p14:creationId xmlns:p14="http://schemas.microsoft.com/office/powerpoint/2010/main" val="2907073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2A7B-811F-4035-999D-5E2D7F1E27D9}"/>
              </a:ext>
            </a:extLst>
          </p:cNvPr>
          <p:cNvSpPr>
            <a:spLocks noGrp="1"/>
          </p:cNvSpPr>
          <p:nvPr>
            <p:ph type="title"/>
          </p:nvPr>
        </p:nvSpPr>
        <p:spPr/>
        <p:txBody>
          <a:bodyPr/>
          <a:lstStyle/>
          <a:p>
            <a:r>
              <a:rPr lang="sr-Latn-RS" b="1" dirty="0"/>
              <a:t>The Optimal Architecture</a:t>
            </a:r>
            <a:endParaRPr lang="en-US" b="1" dirty="0"/>
          </a:p>
        </p:txBody>
      </p:sp>
      <p:sp>
        <p:nvSpPr>
          <p:cNvPr id="3" name="Content Placeholder 2">
            <a:extLst>
              <a:ext uri="{FF2B5EF4-FFF2-40B4-BE49-F238E27FC236}">
                <a16:creationId xmlns:a16="http://schemas.microsoft.com/office/drawing/2014/main" id="{FA4068F7-2352-43B3-B0AB-2F867738E23B}"/>
              </a:ext>
            </a:extLst>
          </p:cNvPr>
          <p:cNvSpPr>
            <a:spLocks noGrp="1"/>
          </p:cNvSpPr>
          <p:nvPr>
            <p:ph idx="1"/>
          </p:nvPr>
        </p:nvSpPr>
        <p:spPr>
          <a:xfrm>
            <a:off x="838200" y="1748134"/>
            <a:ext cx="10515600" cy="4792151"/>
          </a:xfrm>
        </p:spPr>
        <p:txBody>
          <a:bodyPr>
            <a:normAutofit fontScale="85000" lnSpcReduction="20000"/>
          </a:bodyPr>
          <a:lstStyle/>
          <a:p>
            <a:pPr marL="0" indent="0">
              <a:buNone/>
            </a:pPr>
            <a:r>
              <a:rPr lang="sr-Latn-RS" sz="2000" b="1" dirty="0"/>
              <a:t>ControlFlow</a:t>
            </a:r>
            <a:r>
              <a:rPr lang="en-US" sz="2000" b="1" dirty="0"/>
              <a:t>:</a:t>
            </a:r>
            <a:endParaRPr lang="sr-Latn-RS" sz="2000" b="1" dirty="0"/>
          </a:p>
          <a:p>
            <a:r>
              <a:rPr lang="sr-Latn-RS" sz="2000" b="1" dirty="0"/>
              <a:t>N MultiCore CPUs</a:t>
            </a:r>
          </a:p>
          <a:p>
            <a:r>
              <a:rPr lang="sr-Latn-RS" sz="2000" b="1" dirty="0"/>
              <a:t>1000N ManyCore GPUs</a:t>
            </a:r>
            <a:endParaRPr lang="en-US" sz="2000" b="1" dirty="0"/>
          </a:p>
          <a:p>
            <a:endParaRPr lang="sr-Latn-RS" sz="2000" b="1" dirty="0"/>
          </a:p>
          <a:p>
            <a:pPr marL="0" indent="0">
              <a:buNone/>
            </a:pPr>
            <a:r>
              <a:rPr lang="sr-Latn-RS" sz="2000" b="1" dirty="0"/>
              <a:t>DataFlow</a:t>
            </a:r>
            <a:r>
              <a:rPr lang="en-US" sz="2000" b="1" dirty="0"/>
              <a:t>:</a:t>
            </a:r>
            <a:endParaRPr lang="sr-Latn-RS" sz="2000" b="1" dirty="0"/>
          </a:p>
          <a:p>
            <a:r>
              <a:rPr lang="sr-Latn-RS" sz="2000" b="1" dirty="0"/>
              <a:t>An ASIC SystolicArray (</a:t>
            </a:r>
            <a:r>
              <a:rPr lang="en-US" sz="2000" b="1" dirty="0"/>
              <a:t>F</a:t>
            </a:r>
            <a:r>
              <a:rPr lang="sr-Latn-RS" sz="2000" b="1" dirty="0"/>
              <a:t>ixed)</a:t>
            </a:r>
          </a:p>
          <a:p>
            <a:r>
              <a:rPr lang="sr-Latn-RS" sz="2000" b="1" dirty="0"/>
              <a:t>An FPGA </a:t>
            </a:r>
            <a:r>
              <a:rPr lang="en-US" sz="2000" b="1" dirty="0"/>
              <a:t>Execution</a:t>
            </a:r>
            <a:r>
              <a:rPr lang="sr-Latn-RS" sz="2000" b="1" dirty="0"/>
              <a:t>Graph (Reconfigurable)</a:t>
            </a:r>
            <a:endParaRPr lang="en-US" sz="2000" b="1" dirty="0"/>
          </a:p>
          <a:p>
            <a:endParaRPr lang="sr-Latn-RS" sz="2000" b="1" dirty="0"/>
          </a:p>
          <a:p>
            <a:pPr marL="0" indent="0">
              <a:buNone/>
            </a:pPr>
            <a:r>
              <a:rPr lang="sr-Latn-RS" sz="2000" b="1" dirty="0"/>
              <a:t>w Peripherals for External Accelerators</a:t>
            </a:r>
            <a:r>
              <a:rPr lang="en-US" sz="2000" b="1" dirty="0"/>
              <a:t> (</a:t>
            </a:r>
            <a:r>
              <a:rPr lang="en-US" sz="2000" b="1" dirty="0" err="1"/>
              <a:t>EnergyFlow</a:t>
            </a:r>
            <a:r>
              <a:rPr lang="en-US" sz="2000" b="1" dirty="0"/>
              <a:t>):</a:t>
            </a:r>
            <a:endParaRPr lang="sr-Latn-RS" sz="2000" b="1" dirty="0"/>
          </a:p>
          <a:p>
            <a:r>
              <a:rPr lang="en-US" sz="2000" b="1" dirty="0"/>
              <a:t>Bio</a:t>
            </a:r>
            <a:endParaRPr lang="sr-Latn-RS" sz="2000" b="1" dirty="0"/>
          </a:p>
          <a:p>
            <a:r>
              <a:rPr lang="en-US" sz="2000" b="1" dirty="0"/>
              <a:t>Molecular</a:t>
            </a:r>
          </a:p>
          <a:p>
            <a:r>
              <a:rPr lang="en-US" sz="2000" b="1" dirty="0" err="1"/>
              <a:t>Opto</a:t>
            </a:r>
            <a:endParaRPr lang="en-US" sz="2000" b="1" dirty="0"/>
          </a:p>
          <a:p>
            <a:r>
              <a:rPr lang="en-US" sz="2000" b="1" dirty="0"/>
              <a:t>Quantum</a:t>
            </a:r>
          </a:p>
          <a:p>
            <a:endParaRPr lang="en-US" sz="2000" b="1" dirty="0"/>
          </a:p>
          <a:p>
            <a:pPr marL="0" indent="0">
              <a:buNone/>
            </a:pPr>
            <a:r>
              <a:rPr lang="en-US" sz="2000" b="1" dirty="0"/>
              <a:t>+ w Memory and I/O (</a:t>
            </a:r>
            <a:r>
              <a:rPr lang="en-US" sz="2000" b="1" dirty="0" err="1"/>
              <a:t>DiffusionFlow</a:t>
            </a:r>
            <a:r>
              <a:rPr lang="en-US" sz="2000" b="1"/>
              <a:t>)</a:t>
            </a:r>
            <a:endParaRPr lang="sr-Latn-RS" dirty="0"/>
          </a:p>
          <a:p>
            <a:endParaRPr lang="en-US" dirty="0"/>
          </a:p>
        </p:txBody>
      </p:sp>
      <p:pic>
        <p:nvPicPr>
          <p:cNvPr id="7" name="Picture 6" descr="A picture containing text, electronics&#10;&#10;Description automatically generated">
            <a:extLst>
              <a:ext uri="{FF2B5EF4-FFF2-40B4-BE49-F238E27FC236}">
                <a16:creationId xmlns:a16="http://schemas.microsoft.com/office/drawing/2014/main" id="{8B1C3202-6A34-41DA-9746-1F5560C997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5308" y="3101990"/>
            <a:ext cx="4950345" cy="2886539"/>
          </a:xfrm>
          <a:prstGeom prst="rect">
            <a:avLst/>
          </a:prstGeom>
        </p:spPr>
      </p:pic>
    </p:spTree>
    <p:extLst>
      <p:ext uri="{BB962C8B-B14F-4D97-AF65-F5344CB8AC3E}">
        <p14:creationId xmlns:p14="http://schemas.microsoft.com/office/powerpoint/2010/main" val="3203393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A4922-F7C4-4EB5-B487-F946B03A3B58}"/>
              </a:ext>
            </a:extLst>
          </p:cNvPr>
          <p:cNvSpPr>
            <a:spLocks noGrp="1"/>
          </p:cNvSpPr>
          <p:nvPr>
            <p:ph type="title"/>
          </p:nvPr>
        </p:nvSpPr>
        <p:spPr/>
        <p:txBody>
          <a:bodyPr/>
          <a:lstStyle/>
          <a:p>
            <a:r>
              <a:rPr lang="en-US" b="1" dirty="0"/>
              <a:t>Optimal Distribution of Transistor Budget</a:t>
            </a:r>
          </a:p>
        </p:txBody>
      </p:sp>
      <p:sp>
        <p:nvSpPr>
          <p:cNvPr id="3" name="Content Placeholder 2">
            <a:extLst>
              <a:ext uri="{FF2B5EF4-FFF2-40B4-BE49-F238E27FC236}">
                <a16:creationId xmlns:a16="http://schemas.microsoft.com/office/drawing/2014/main" id="{29AAA26A-CD6E-48F3-8670-2B42F8C5C2F6}"/>
              </a:ext>
            </a:extLst>
          </p:cNvPr>
          <p:cNvSpPr>
            <a:spLocks noGrp="1"/>
          </p:cNvSpPr>
          <p:nvPr>
            <p:ph idx="1"/>
          </p:nvPr>
        </p:nvSpPr>
        <p:spPr/>
        <p:txBody>
          <a:bodyPr>
            <a:normAutofit lnSpcReduction="10000"/>
          </a:bodyPr>
          <a:lstStyle/>
          <a:p>
            <a:r>
              <a:rPr lang="en-US" b="1" dirty="0"/>
              <a:t>Ceiling-Dependent:</a:t>
            </a:r>
          </a:p>
          <a:p>
            <a:pPr lvl="1"/>
            <a:r>
              <a:rPr lang="en-US" b="1" dirty="0"/>
              <a:t>VLSI: 100BTr</a:t>
            </a:r>
          </a:p>
          <a:p>
            <a:pPr lvl="1"/>
            <a:r>
              <a:rPr lang="en-US" b="1" dirty="0"/>
              <a:t>WSI: 1TTr</a:t>
            </a:r>
          </a:p>
          <a:p>
            <a:r>
              <a:rPr lang="en-US" b="1" dirty="0"/>
              <a:t>Application-Dependent:</a:t>
            </a:r>
          </a:p>
          <a:p>
            <a:pPr lvl="1"/>
            <a:r>
              <a:rPr lang="en-US" b="1" dirty="0"/>
              <a:t>SW </a:t>
            </a:r>
            <a:r>
              <a:rPr lang="en-US" b="1" dirty="0" err="1"/>
              <a:t>DataFlow</a:t>
            </a:r>
            <a:endParaRPr lang="en-US" b="1" dirty="0"/>
          </a:p>
          <a:p>
            <a:pPr lvl="1"/>
            <a:r>
              <a:rPr lang="en-US" b="1" dirty="0"/>
              <a:t>ML</a:t>
            </a:r>
          </a:p>
          <a:p>
            <a:r>
              <a:rPr lang="en-US" b="1" dirty="0"/>
              <a:t>Strategy-Dependent:</a:t>
            </a:r>
          </a:p>
          <a:p>
            <a:pPr lvl="1"/>
            <a:r>
              <a:rPr lang="en-US" b="1" dirty="0"/>
              <a:t>CF-Oriented</a:t>
            </a:r>
          </a:p>
          <a:p>
            <a:pPr lvl="1"/>
            <a:r>
              <a:rPr lang="en-US" b="1" dirty="0"/>
              <a:t>DF-Oriented</a:t>
            </a:r>
          </a:p>
          <a:p>
            <a:r>
              <a:rPr lang="en-US" b="1" dirty="0"/>
              <a:t>Memory-Dependent!</a:t>
            </a:r>
          </a:p>
        </p:txBody>
      </p:sp>
    </p:spTree>
    <p:extLst>
      <p:ext uri="{BB962C8B-B14F-4D97-AF65-F5344CB8AC3E}">
        <p14:creationId xmlns:p14="http://schemas.microsoft.com/office/powerpoint/2010/main" val="3527144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7240D72-0663-4F8F-8A9C-9DBCDC98D7EE}"/>
              </a:ext>
            </a:extLst>
          </p:cNvPr>
          <p:cNvGraphicFramePr>
            <a:graphicFrameLocks noGrp="1"/>
          </p:cNvGraphicFramePr>
          <p:nvPr>
            <p:extLst>
              <p:ext uri="{D42A27DB-BD31-4B8C-83A1-F6EECF244321}">
                <p14:modId xmlns:p14="http://schemas.microsoft.com/office/powerpoint/2010/main" val="444633860"/>
              </p:ext>
            </p:extLst>
          </p:nvPr>
        </p:nvGraphicFramePr>
        <p:xfrm>
          <a:off x="838200" y="2247220"/>
          <a:ext cx="10515603" cy="3673914"/>
        </p:xfrm>
        <a:graphic>
          <a:graphicData uri="http://schemas.openxmlformats.org/drawingml/2006/table">
            <a:tbl>
              <a:tblPr firstRow="1" firstCol="1" bandRow="1">
                <a:tableStyleId>{5C22544A-7EE6-4342-B048-85BDC9FD1C3A}</a:tableStyleId>
              </a:tblPr>
              <a:tblGrid>
                <a:gridCol w="1834594">
                  <a:extLst>
                    <a:ext uri="{9D8B030D-6E8A-4147-A177-3AD203B41FA5}">
                      <a16:colId xmlns:a16="http://schemas.microsoft.com/office/drawing/2014/main" val="3291921253"/>
                    </a:ext>
                  </a:extLst>
                </a:gridCol>
                <a:gridCol w="2585697">
                  <a:extLst>
                    <a:ext uri="{9D8B030D-6E8A-4147-A177-3AD203B41FA5}">
                      <a16:colId xmlns:a16="http://schemas.microsoft.com/office/drawing/2014/main" val="2033057717"/>
                    </a:ext>
                  </a:extLst>
                </a:gridCol>
                <a:gridCol w="693330">
                  <a:extLst>
                    <a:ext uri="{9D8B030D-6E8A-4147-A177-3AD203B41FA5}">
                      <a16:colId xmlns:a16="http://schemas.microsoft.com/office/drawing/2014/main" val="2338241647"/>
                    </a:ext>
                  </a:extLst>
                </a:gridCol>
                <a:gridCol w="835987">
                  <a:extLst>
                    <a:ext uri="{9D8B030D-6E8A-4147-A177-3AD203B41FA5}">
                      <a16:colId xmlns:a16="http://schemas.microsoft.com/office/drawing/2014/main" val="3729084176"/>
                    </a:ext>
                  </a:extLst>
                </a:gridCol>
                <a:gridCol w="1286305">
                  <a:extLst>
                    <a:ext uri="{9D8B030D-6E8A-4147-A177-3AD203B41FA5}">
                      <a16:colId xmlns:a16="http://schemas.microsoft.com/office/drawing/2014/main" val="3211326678"/>
                    </a:ext>
                  </a:extLst>
                </a:gridCol>
                <a:gridCol w="1605997">
                  <a:extLst>
                    <a:ext uri="{9D8B030D-6E8A-4147-A177-3AD203B41FA5}">
                      <a16:colId xmlns:a16="http://schemas.microsoft.com/office/drawing/2014/main" val="1195305418"/>
                    </a:ext>
                  </a:extLst>
                </a:gridCol>
                <a:gridCol w="861769">
                  <a:extLst>
                    <a:ext uri="{9D8B030D-6E8A-4147-A177-3AD203B41FA5}">
                      <a16:colId xmlns:a16="http://schemas.microsoft.com/office/drawing/2014/main" val="2033603832"/>
                    </a:ext>
                  </a:extLst>
                </a:gridCol>
                <a:gridCol w="811924">
                  <a:extLst>
                    <a:ext uri="{9D8B030D-6E8A-4147-A177-3AD203B41FA5}">
                      <a16:colId xmlns:a16="http://schemas.microsoft.com/office/drawing/2014/main" val="820450086"/>
                    </a:ext>
                  </a:extLst>
                </a:gridCol>
              </a:tblGrid>
              <a:tr h="383768">
                <a:tc>
                  <a:txBody>
                    <a:bodyPr/>
                    <a:lstStyle/>
                    <a:p>
                      <a:pPr>
                        <a:lnSpc>
                          <a:spcPct val="107000"/>
                        </a:lnSpc>
                        <a:spcAft>
                          <a:spcPts val="800"/>
                        </a:spcAft>
                      </a:pPr>
                      <a:r>
                        <a:rPr lang="en-US" sz="1100">
                          <a:effectLst/>
                        </a:rPr>
                        <a:t>Company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Product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Country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City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Number of CPU cores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Number of GPU cores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CPU clock rate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Launched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2754869890"/>
                  </a:ext>
                </a:extLst>
              </a:tr>
              <a:tr h="383768">
                <a:tc>
                  <a:txBody>
                    <a:bodyPr/>
                    <a:lstStyle/>
                    <a:p>
                      <a:pPr>
                        <a:lnSpc>
                          <a:spcPct val="107000"/>
                        </a:lnSpc>
                        <a:spcAft>
                          <a:spcPts val="800"/>
                        </a:spcAft>
                      </a:pPr>
                      <a:r>
                        <a:rPr lang="en-US" sz="1100">
                          <a:effectLst/>
                        </a:rPr>
                        <a:t>Alibaba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XT910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China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Hangzhou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1/2/4 per cluster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N/A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 – 2.5 GHz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dirty="0">
                          <a:effectLst/>
                        </a:rPr>
                        <a:t>2020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506072121"/>
                  </a:ext>
                </a:extLst>
              </a:tr>
              <a:tr h="383768">
                <a:tc>
                  <a:txBody>
                    <a:bodyPr/>
                    <a:lstStyle/>
                    <a:p>
                      <a:pPr>
                        <a:lnSpc>
                          <a:spcPct val="107000"/>
                        </a:lnSpc>
                        <a:spcAft>
                          <a:spcPts val="800"/>
                        </a:spcAft>
                      </a:pPr>
                      <a:r>
                        <a:rPr lang="en-US" sz="1100">
                          <a:effectLst/>
                        </a:rPr>
                        <a:t>RISC-V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Micro Magic RISC-V Core [39]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San Francisco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N/A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4.25 – 5.19 GHz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1997244749"/>
                  </a:ext>
                </a:extLst>
              </a:tr>
              <a:tr h="383768">
                <a:tc>
                  <a:txBody>
                    <a:bodyPr/>
                    <a:lstStyle/>
                    <a:p>
                      <a:pPr>
                        <a:lnSpc>
                          <a:spcPct val="107000"/>
                        </a:lnSpc>
                        <a:spcAft>
                          <a:spcPts val="800"/>
                        </a:spcAft>
                      </a:pPr>
                      <a:r>
                        <a:rPr lang="en-US" sz="1100">
                          <a:effectLst/>
                        </a:rPr>
                        <a:t>SiFive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FU740 RISC-V SoC [25]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San Francisco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1.4 – 1.5 GHz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1777408503"/>
                  </a:ext>
                </a:extLst>
              </a:tr>
              <a:tr h="383768">
                <a:tc>
                  <a:txBody>
                    <a:bodyPr/>
                    <a:lstStyle/>
                    <a:p>
                      <a:pPr>
                        <a:lnSpc>
                          <a:spcPct val="107000"/>
                        </a:lnSpc>
                        <a:spcAft>
                          <a:spcPts val="800"/>
                        </a:spcAft>
                      </a:pPr>
                      <a:r>
                        <a:rPr lang="en-US" sz="1100">
                          <a:effectLst/>
                        </a:rPr>
                        <a:t>AMD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AMD Ryzen™ 5 3400G with Radeon™ RX Vega 11 Graphics [24]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Santa Clara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3.7 – 4.2 GHz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2019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2058117053"/>
                  </a:ext>
                </a:extLst>
              </a:tr>
              <a:tr h="207216">
                <a:tc>
                  <a:txBody>
                    <a:bodyPr/>
                    <a:lstStyle/>
                    <a:p>
                      <a:pPr>
                        <a:lnSpc>
                          <a:spcPct val="107000"/>
                        </a:lnSpc>
                        <a:spcAft>
                          <a:spcPts val="800"/>
                        </a:spcAft>
                      </a:pPr>
                      <a:r>
                        <a:rPr lang="en-US" sz="1100">
                          <a:effectLst/>
                        </a:rPr>
                        <a:t>Nvidia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Tegra Xavier [28]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Santa Clara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512 CUDA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N/A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2019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990866873"/>
                  </a:ext>
                </a:extLst>
              </a:tr>
              <a:tr h="670321">
                <a:tc>
                  <a:txBody>
                    <a:bodyPr/>
                    <a:lstStyle/>
                    <a:p>
                      <a:pPr>
                        <a:lnSpc>
                          <a:spcPct val="107000"/>
                        </a:lnSpc>
                        <a:spcAft>
                          <a:spcPts val="800"/>
                        </a:spcAft>
                      </a:pPr>
                      <a:r>
                        <a:rPr lang="en-US" sz="1100">
                          <a:effectLst/>
                        </a:rPr>
                        <a:t>Esperanto Technologies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N/A</a:t>
                      </a:r>
                      <a:br>
                        <a:rPr lang="en-US" sz="1100">
                          <a:effectLst/>
                        </a:rPr>
                      </a:b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Mountain View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16 ET-Maxion cores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4096 </a:t>
                      </a:r>
                    </a:p>
                    <a:p>
                      <a:pPr>
                        <a:lnSpc>
                          <a:spcPct val="107000"/>
                        </a:lnSpc>
                        <a:spcAft>
                          <a:spcPts val="800"/>
                        </a:spcAft>
                      </a:pPr>
                      <a:r>
                        <a:rPr lang="en-US" sz="1100">
                          <a:effectLst/>
                        </a:rPr>
                        <a:t>ET-Minion cores + ET-Graphics [26,27]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2+GHz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2018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3835351196"/>
                  </a:ext>
                </a:extLst>
              </a:tr>
              <a:tr h="383768">
                <a:tc>
                  <a:txBody>
                    <a:bodyPr/>
                    <a:lstStyle/>
                    <a:p>
                      <a:pPr>
                        <a:lnSpc>
                          <a:spcPct val="107000"/>
                        </a:lnSpc>
                        <a:spcAft>
                          <a:spcPts val="800"/>
                        </a:spcAft>
                      </a:pPr>
                      <a:r>
                        <a:rPr lang="en-US" sz="1100">
                          <a:effectLst/>
                        </a:rPr>
                        <a:t>Intel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Intel Sandy Bridge [23]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Santa Clara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1-4 (4-6 Extreme, 2-8 Xeon)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1.60 – 3.60 GHz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2011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2034833506"/>
                  </a:ext>
                </a:extLst>
              </a:tr>
              <a:tr h="493769">
                <a:tc>
                  <a:txBody>
                    <a:bodyPr/>
                    <a:lstStyle/>
                    <a:p>
                      <a:pPr>
                        <a:lnSpc>
                          <a:spcPct val="107000"/>
                        </a:lnSpc>
                        <a:spcAft>
                          <a:spcPts val="800"/>
                        </a:spcAft>
                      </a:pPr>
                      <a:r>
                        <a:rPr lang="en-US" sz="1100">
                          <a:effectLst/>
                        </a:rPr>
                        <a:t>Moscow Center of SPARC Technologies (MCST)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Elbrus-2S+ </a:t>
                      </a:r>
                    </a:p>
                    <a:p>
                      <a:pPr>
                        <a:lnSpc>
                          <a:spcPct val="107000"/>
                        </a:lnSpc>
                        <a:spcAft>
                          <a:spcPts val="800"/>
                        </a:spcAft>
                      </a:pPr>
                      <a:r>
                        <a:rPr lang="en-US" sz="1100">
                          <a:effectLst/>
                        </a:rPr>
                        <a:t>(1891ВМ7Я) [29]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Russia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 Moscow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2 Elbrus 2000 cores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4 DSP Elcore-09 cores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a:effectLst/>
                        </a:rPr>
                        <a:t>300 – 800 MHz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tc>
                  <a:txBody>
                    <a:bodyPr/>
                    <a:lstStyle/>
                    <a:p>
                      <a:pPr>
                        <a:lnSpc>
                          <a:spcPct val="107000"/>
                        </a:lnSpc>
                        <a:spcAft>
                          <a:spcPts val="800"/>
                        </a:spcAft>
                      </a:pPr>
                      <a:r>
                        <a:rPr lang="en-US" sz="1100" dirty="0">
                          <a:effectLst/>
                        </a:rPr>
                        <a:t>2011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4301" marR="54301" marT="0" marB="0"/>
                </a:tc>
                <a:extLst>
                  <a:ext uri="{0D108BD9-81ED-4DB2-BD59-A6C34878D82A}">
                    <a16:rowId xmlns:a16="http://schemas.microsoft.com/office/drawing/2014/main" val="471511417"/>
                  </a:ext>
                </a:extLst>
              </a:tr>
            </a:tbl>
          </a:graphicData>
        </a:graphic>
      </p:graphicFrame>
      <p:sp>
        <p:nvSpPr>
          <p:cNvPr id="6" name="Title 1">
            <a:extLst>
              <a:ext uri="{FF2B5EF4-FFF2-40B4-BE49-F238E27FC236}">
                <a16:creationId xmlns:a16="http://schemas.microsoft.com/office/drawing/2014/main" id="{F69BC819-1E3D-4A82-A7DB-50168811AD9B}"/>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Current Efforts</a:t>
            </a:r>
          </a:p>
        </p:txBody>
      </p:sp>
    </p:spTree>
    <p:extLst>
      <p:ext uri="{BB962C8B-B14F-4D97-AF65-F5344CB8AC3E}">
        <p14:creationId xmlns:p14="http://schemas.microsoft.com/office/powerpoint/2010/main" val="3685617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F7EE8A-763C-4D39-AD9B-FA4AEC52EE0C}"/>
              </a:ext>
            </a:extLst>
          </p:cNvPr>
          <p:cNvSpPr>
            <a:spLocks noGrp="1"/>
          </p:cNvSpPr>
          <p:nvPr>
            <p:ph type="title"/>
          </p:nvPr>
        </p:nvSpPr>
        <p:spPr>
          <a:xfrm>
            <a:off x="836679" y="723898"/>
            <a:ext cx="6002110" cy="1495425"/>
          </a:xfrm>
        </p:spPr>
        <p:txBody>
          <a:bodyPr>
            <a:normAutofit/>
          </a:bodyPr>
          <a:lstStyle/>
          <a:p>
            <a:r>
              <a:rPr lang="en-US" sz="4000" b="1" dirty="0"/>
              <a:t>Past Experiences: </a:t>
            </a:r>
            <a:br>
              <a:rPr lang="en-US" sz="4000" b="1" dirty="0"/>
            </a:br>
            <a:r>
              <a:rPr lang="en-US" sz="4000" b="1" dirty="0" err="1"/>
              <a:t>MultiCore</a:t>
            </a:r>
            <a:endParaRPr lang="en-US" sz="4000" b="1" dirty="0"/>
          </a:p>
        </p:txBody>
      </p:sp>
      <p:sp>
        <p:nvSpPr>
          <p:cNvPr id="3" name="Content Placeholder 2">
            <a:extLst>
              <a:ext uri="{FF2B5EF4-FFF2-40B4-BE49-F238E27FC236}">
                <a16:creationId xmlns:a16="http://schemas.microsoft.com/office/drawing/2014/main" id="{3CB0A742-A895-4307-894F-F92599D3A2C1}"/>
              </a:ext>
            </a:extLst>
          </p:cNvPr>
          <p:cNvSpPr>
            <a:spLocks noGrp="1"/>
          </p:cNvSpPr>
          <p:nvPr>
            <p:ph idx="1"/>
          </p:nvPr>
        </p:nvSpPr>
        <p:spPr>
          <a:xfrm>
            <a:off x="836680" y="2405067"/>
            <a:ext cx="6002110" cy="3729034"/>
          </a:xfrm>
        </p:spPr>
        <p:txBody>
          <a:bodyPr>
            <a:normAutofit/>
          </a:bodyPr>
          <a:lstStyle/>
          <a:p>
            <a:r>
              <a:rPr lang="en-US" sz="2000" b="1" dirty="0"/>
              <a:t>Split Cache</a:t>
            </a:r>
          </a:p>
          <a:p>
            <a:pPr lvl="1"/>
            <a:r>
              <a:rPr lang="en-US" sz="2000" b="1" i="0" dirty="0" err="1">
                <a:effectLst/>
                <a:latin typeface="Arial" panose="020B0604020202020204" pitchFamily="34" charset="0"/>
              </a:rPr>
              <a:t>Milutinovic</a:t>
            </a:r>
            <a:r>
              <a:rPr lang="en-US" sz="2000" b="1" i="0" dirty="0">
                <a:effectLst/>
                <a:latin typeface="Arial" panose="020B0604020202020204" pitchFamily="34" charset="0"/>
              </a:rPr>
              <a:t>, V. (1996). </a:t>
            </a:r>
            <a:br>
              <a:rPr lang="en-US" sz="2000" b="1" dirty="0">
                <a:latin typeface="Arial" panose="020B0604020202020204" pitchFamily="34" charset="0"/>
              </a:rPr>
            </a:br>
            <a:r>
              <a:rPr lang="en-US" sz="2000" b="1" i="0" dirty="0">
                <a:effectLst/>
                <a:latin typeface="Arial" panose="020B0604020202020204" pitchFamily="34" charset="0"/>
              </a:rPr>
              <a:t>The Split </a:t>
            </a:r>
            <a:r>
              <a:rPr lang="en-US" sz="2000" b="1" dirty="0">
                <a:latin typeface="Arial" panose="020B0604020202020204" pitchFamily="34" charset="0"/>
              </a:rPr>
              <a:t>T</a:t>
            </a:r>
            <a:r>
              <a:rPr lang="en-US" sz="2000" b="1" i="0" dirty="0">
                <a:effectLst/>
                <a:latin typeface="Arial" panose="020B0604020202020204" pitchFamily="34" charset="0"/>
              </a:rPr>
              <a:t>emporal/Spatial Cache: </a:t>
            </a:r>
            <a:br>
              <a:rPr lang="en-US" sz="2000" b="1" i="0" dirty="0">
                <a:effectLst/>
                <a:latin typeface="Arial" panose="020B0604020202020204" pitchFamily="34" charset="0"/>
              </a:rPr>
            </a:br>
            <a:r>
              <a:rPr lang="en-US" sz="2000" b="1" dirty="0">
                <a:latin typeface="Arial" panose="020B0604020202020204" pitchFamily="34" charset="0"/>
              </a:rPr>
              <a:t>I</a:t>
            </a:r>
            <a:r>
              <a:rPr lang="en-US" sz="2000" b="1" i="0" dirty="0">
                <a:effectLst/>
                <a:latin typeface="Arial" panose="020B0604020202020204" pitchFamily="34" charset="0"/>
              </a:rPr>
              <a:t>nitial </a:t>
            </a:r>
            <a:r>
              <a:rPr lang="en-US" sz="2000" b="1" dirty="0">
                <a:latin typeface="Arial" panose="020B0604020202020204" pitchFamily="34" charset="0"/>
              </a:rPr>
              <a:t>P</a:t>
            </a:r>
            <a:r>
              <a:rPr lang="en-US" sz="2000" b="1" i="0" dirty="0">
                <a:effectLst/>
                <a:latin typeface="Arial" panose="020B0604020202020204" pitchFamily="34" charset="0"/>
              </a:rPr>
              <a:t>erformance Analysis. </a:t>
            </a:r>
            <a:br>
              <a:rPr lang="en-US" sz="2000" b="1" i="0" dirty="0">
                <a:effectLst/>
                <a:latin typeface="Arial" panose="020B0604020202020204" pitchFamily="34" charset="0"/>
              </a:rPr>
            </a:br>
            <a:r>
              <a:rPr lang="en-US" sz="2000" b="1" i="1" dirty="0">
                <a:effectLst/>
                <a:latin typeface="Arial" panose="020B0604020202020204" pitchFamily="34" charset="0"/>
              </a:rPr>
              <a:t>SCIzzL-5, March 1996</a:t>
            </a:r>
            <a:r>
              <a:rPr lang="en-US" sz="2000" b="1" i="0" dirty="0">
                <a:effectLst/>
                <a:latin typeface="Arial" panose="020B0604020202020204" pitchFamily="34" charset="0"/>
              </a:rPr>
              <a:t>, 63-69.</a:t>
            </a:r>
            <a:endParaRPr lang="en-US" sz="2000" b="1" dirty="0"/>
          </a:p>
        </p:txBody>
      </p:sp>
      <p:pic>
        <p:nvPicPr>
          <p:cNvPr id="4" name="Picture 3">
            <a:extLst>
              <a:ext uri="{FF2B5EF4-FFF2-40B4-BE49-F238E27FC236}">
                <a16:creationId xmlns:a16="http://schemas.microsoft.com/office/drawing/2014/main" id="{0725D5FD-FD6D-437F-B88E-784F8B74C0D8}"/>
              </a:ext>
            </a:extLst>
          </p:cNvPr>
          <p:cNvPicPr>
            <a:picLocks noChangeAspect="1"/>
          </p:cNvPicPr>
          <p:nvPr/>
        </p:nvPicPr>
        <p:blipFill rotWithShape="1">
          <a:blip r:embed="rId3"/>
          <a:srcRect t="6445" r="-2" b="9762"/>
          <a:stretch/>
        </p:blipFill>
        <p:spPr>
          <a:xfrm>
            <a:off x="7199440" y="10"/>
            <a:ext cx="4992560" cy="6857990"/>
          </a:xfrm>
          <a:prstGeom prst="rect">
            <a:avLst/>
          </a:prstGeom>
          <a:effectLst/>
        </p:spPr>
      </p:pic>
    </p:spTree>
    <p:extLst>
      <p:ext uri="{BB962C8B-B14F-4D97-AF65-F5344CB8AC3E}">
        <p14:creationId xmlns:p14="http://schemas.microsoft.com/office/powerpoint/2010/main" val="353952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0E7812-C518-4C7A-933B-08079B9E012D}"/>
              </a:ext>
            </a:extLst>
          </p:cNvPr>
          <p:cNvSpPr>
            <a:spLocks noGrp="1"/>
          </p:cNvSpPr>
          <p:nvPr>
            <p:ph type="title"/>
          </p:nvPr>
        </p:nvSpPr>
        <p:spPr>
          <a:xfrm>
            <a:off x="836679" y="723898"/>
            <a:ext cx="6002110" cy="1495425"/>
          </a:xfrm>
        </p:spPr>
        <p:txBody>
          <a:bodyPr>
            <a:normAutofit/>
          </a:bodyPr>
          <a:lstStyle/>
          <a:p>
            <a:r>
              <a:rPr lang="en-US" sz="4000" b="1" dirty="0"/>
              <a:t>Past Experiences: </a:t>
            </a:r>
            <a:br>
              <a:rPr lang="en-US" sz="4000" b="1" dirty="0"/>
            </a:br>
            <a:r>
              <a:rPr lang="en-US" sz="4000" b="1" dirty="0" err="1"/>
              <a:t>ManyCore</a:t>
            </a:r>
            <a:endParaRPr lang="en-US" sz="4000" b="1" dirty="0"/>
          </a:p>
        </p:txBody>
      </p:sp>
      <p:sp>
        <p:nvSpPr>
          <p:cNvPr id="3" name="Content Placeholder 2">
            <a:extLst>
              <a:ext uri="{FF2B5EF4-FFF2-40B4-BE49-F238E27FC236}">
                <a16:creationId xmlns:a16="http://schemas.microsoft.com/office/drawing/2014/main" id="{91375A4C-DC4A-499F-ADE2-90EB8344D99C}"/>
              </a:ext>
            </a:extLst>
          </p:cNvPr>
          <p:cNvSpPr>
            <a:spLocks noGrp="1"/>
          </p:cNvSpPr>
          <p:nvPr>
            <p:ph idx="1"/>
          </p:nvPr>
        </p:nvSpPr>
        <p:spPr>
          <a:xfrm>
            <a:off x="836680" y="2405067"/>
            <a:ext cx="6002110" cy="3729034"/>
          </a:xfrm>
        </p:spPr>
        <p:txBody>
          <a:bodyPr>
            <a:normAutofit/>
          </a:bodyPr>
          <a:lstStyle/>
          <a:p>
            <a:r>
              <a:rPr lang="en-US" sz="2000" b="1" dirty="0"/>
              <a:t>GaAs Microprocessor</a:t>
            </a:r>
          </a:p>
          <a:p>
            <a:pPr lvl="1"/>
            <a:r>
              <a:rPr lang="en-US" sz="2000" b="1" i="0" dirty="0" err="1">
                <a:effectLst/>
                <a:latin typeface="Arial" panose="020B0604020202020204" pitchFamily="34" charset="0"/>
              </a:rPr>
              <a:t>Milutinovic</a:t>
            </a:r>
            <a:r>
              <a:rPr lang="en-US" sz="2000" b="1" i="0" dirty="0">
                <a:effectLst/>
                <a:latin typeface="Arial" panose="020B0604020202020204" pitchFamily="34" charset="0"/>
              </a:rPr>
              <a:t>, V., </a:t>
            </a:r>
            <a:r>
              <a:rPr lang="en-US" sz="2000" b="1" i="0" dirty="0" err="1">
                <a:effectLst/>
                <a:latin typeface="Arial" panose="020B0604020202020204" pitchFamily="34" charset="0"/>
              </a:rPr>
              <a:t>Fura</a:t>
            </a:r>
            <a:r>
              <a:rPr lang="en-US" sz="2000" b="1" i="0" dirty="0">
                <a:effectLst/>
                <a:latin typeface="Arial" panose="020B0604020202020204" pitchFamily="34" charset="0"/>
              </a:rPr>
              <a:t>, D., &amp; </a:t>
            </a:r>
            <a:r>
              <a:rPr lang="en-US" sz="2000" b="1" i="0" dirty="0" err="1">
                <a:effectLst/>
                <a:latin typeface="Arial" panose="020B0604020202020204" pitchFamily="34" charset="0"/>
              </a:rPr>
              <a:t>Helbig</a:t>
            </a:r>
            <a:r>
              <a:rPr lang="en-US" sz="2000" b="1" i="0" dirty="0">
                <a:effectLst/>
                <a:latin typeface="Arial" panose="020B0604020202020204" pitchFamily="34" charset="0"/>
              </a:rPr>
              <a:t>, W. (1986).</a:t>
            </a:r>
            <a:br>
              <a:rPr lang="en-US" sz="2000" b="1" i="0" dirty="0">
                <a:effectLst/>
                <a:latin typeface="Arial" panose="020B0604020202020204" pitchFamily="34" charset="0"/>
              </a:rPr>
            </a:br>
            <a:r>
              <a:rPr lang="en-US" sz="2000" b="1" i="0" dirty="0">
                <a:effectLst/>
                <a:latin typeface="Arial" panose="020B0604020202020204" pitchFamily="34" charset="0"/>
              </a:rPr>
              <a:t>An Introduction To GaAs Microprocessor </a:t>
            </a:r>
            <a:r>
              <a:rPr lang="en-US" sz="2000" b="1" dirty="0">
                <a:latin typeface="Arial" panose="020B0604020202020204" pitchFamily="34" charset="0"/>
              </a:rPr>
              <a:t>A</a:t>
            </a:r>
            <a:r>
              <a:rPr lang="en-US" sz="2000" b="1" i="0" dirty="0">
                <a:effectLst/>
                <a:latin typeface="Arial" panose="020B0604020202020204" pitchFamily="34" charset="0"/>
              </a:rPr>
              <a:t>rchitecture for VLSI.</a:t>
            </a:r>
            <a:br>
              <a:rPr lang="en-US" sz="2000" b="1" i="0" dirty="0">
                <a:effectLst/>
                <a:latin typeface="Arial" panose="020B0604020202020204" pitchFamily="34" charset="0"/>
              </a:rPr>
            </a:br>
            <a:r>
              <a:rPr lang="en-US" sz="2000" b="1" i="1" dirty="0">
                <a:effectLst/>
                <a:latin typeface="Arial" panose="020B0604020202020204" pitchFamily="34" charset="0"/>
              </a:rPr>
              <a:t>Computer</a:t>
            </a:r>
            <a:r>
              <a:rPr lang="en-US" sz="2000" b="1" i="0" dirty="0">
                <a:effectLst/>
                <a:latin typeface="Arial" panose="020B0604020202020204" pitchFamily="34" charset="0"/>
              </a:rPr>
              <a:t>, (3), 30-42.</a:t>
            </a:r>
            <a:endParaRPr lang="en-US" sz="2000" b="1" dirty="0"/>
          </a:p>
        </p:txBody>
      </p:sp>
      <p:pic>
        <p:nvPicPr>
          <p:cNvPr id="4" name="Picture 3" descr="Timeline&#10;&#10;Description automatically generated">
            <a:extLst>
              <a:ext uri="{FF2B5EF4-FFF2-40B4-BE49-F238E27FC236}">
                <a16:creationId xmlns:a16="http://schemas.microsoft.com/office/drawing/2014/main" id="{17C0DE7B-93AE-409A-A3A7-3C7975A5C77B}"/>
              </a:ext>
            </a:extLst>
          </p:cNvPr>
          <p:cNvPicPr>
            <a:picLocks noChangeAspect="1"/>
          </p:cNvPicPr>
          <p:nvPr/>
        </p:nvPicPr>
        <p:blipFill rotWithShape="1">
          <a:blip r:embed="rId3"/>
          <a:srcRect r="-2" b="2469"/>
          <a:stretch/>
        </p:blipFill>
        <p:spPr>
          <a:xfrm>
            <a:off x="7199440" y="10"/>
            <a:ext cx="4992560" cy="6857990"/>
          </a:xfrm>
          <a:prstGeom prst="rect">
            <a:avLst/>
          </a:prstGeom>
          <a:effectLst/>
        </p:spPr>
      </p:pic>
    </p:spTree>
    <p:extLst>
      <p:ext uri="{BB962C8B-B14F-4D97-AF65-F5344CB8AC3E}">
        <p14:creationId xmlns:p14="http://schemas.microsoft.com/office/powerpoint/2010/main" val="71383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DDB719-A60D-478E-9366-E6A716FBF6DE}"/>
              </a:ext>
            </a:extLst>
          </p:cNvPr>
          <p:cNvSpPr>
            <a:spLocks noGrp="1"/>
          </p:cNvSpPr>
          <p:nvPr>
            <p:ph type="title"/>
          </p:nvPr>
        </p:nvSpPr>
        <p:spPr>
          <a:xfrm>
            <a:off x="836679" y="723898"/>
            <a:ext cx="6002110" cy="1495425"/>
          </a:xfrm>
        </p:spPr>
        <p:txBody>
          <a:bodyPr>
            <a:normAutofit/>
          </a:bodyPr>
          <a:lstStyle/>
          <a:p>
            <a:r>
              <a:rPr lang="en-US" sz="4000" b="1" dirty="0"/>
              <a:t>Past Experiences: </a:t>
            </a:r>
            <a:br>
              <a:rPr lang="en-US" sz="4000" b="1" dirty="0"/>
            </a:br>
            <a:r>
              <a:rPr lang="en-US" sz="4000" b="1" dirty="0" err="1"/>
              <a:t>SystolicArrays</a:t>
            </a:r>
            <a:endParaRPr lang="en-US" sz="4000" b="1" dirty="0"/>
          </a:p>
        </p:txBody>
      </p:sp>
      <p:sp>
        <p:nvSpPr>
          <p:cNvPr id="3" name="Content Placeholder 2">
            <a:extLst>
              <a:ext uri="{FF2B5EF4-FFF2-40B4-BE49-F238E27FC236}">
                <a16:creationId xmlns:a16="http://schemas.microsoft.com/office/drawing/2014/main" id="{46D7BF43-B8C5-4C95-9240-CE6DCC95A597}"/>
              </a:ext>
            </a:extLst>
          </p:cNvPr>
          <p:cNvSpPr>
            <a:spLocks noGrp="1"/>
          </p:cNvSpPr>
          <p:nvPr>
            <p:ph idx="1"/>
          </p:nvPr>
        </p:nvSpPr>
        <p:spPr>
          <a:xfrm>
            <a:off x="836680" y="2405067"/>
            <a:ext cx="6002110" cy="3729034"/>
          </a:xfrm>
        </p:spPr>
        <p:txBody>
          <a:bodyPr>
            <a:normAutofit/>
          </a:bodyPr>
          <a:lstStyle/>
          <a:p>
            <a:r>
              <a:rPr lang="en-US" sz="2000" b="1" dirty="0">
                <a:latin typeface="Arial" panose="020B0604020202020204" pitchFamily="34" charset="0"/>
                <a:cs typeface="Arial" panose="020B0604020202020204" pitchFamily="34" charset="0"/>
              </a:rPr>
              <a:t>GaAs </a:t>
            </a:r>
            <a:r>
              <a:rPr lang="en-US" sz="2000" b="1" dirty="0" err="1">
                <a:latin typeface="Arial" panose="020B0604020202020204" pitchFamily="34" charset="0"/>
                <a:cs typeface="Arial" panose="020B0604020202020204" pitchFamily="34" charset="0"/>
              </a:rPr>
              <a:t>Systolics</a:t>
            </a:r>
            <a:endParaRPr lang="en-US" sz="2000" b="1" dirty="0">
              <a:latin typeface="Arial" panose="020B0604020202020204" pitchFamily="34" charset="0"/>
              <a:cs typeface="Arial" panose="020B0604020202020204" pitchFamily="34" charset="0"/>
            </a:endParaRPr>
          </a:p>
          <a:p>
            <a:pPr lvl="1"/>
            <a:r>
              <a:rPr lang="en-US" sz="2000" b="1" dirty="0">
                <a:latin typeface="Arial" panose="020B0604020202020204" pitchFamily="34" charset="0"/>
                <a:cs typeface="Arial" panose="020B0604020202020204" pitchFamily="34" charset="0"/>
              </a:rPr>
              <a:t>Fortes, J. A., </a:t>
            </a:r>
            <a:r>
              <a:rPr lang="en-US" sz="2000" b="1" dirty="0" err="1">
                <a:latin typeface="Arial" panose="020B0604020202020204" pitchFamily="34" charset="0"/>
                <a:cs typeface="Arial" panose="020B0604020202020204" pitchFamily="34" charset="0"/>
              </a:rPr>
              <a:t>Milutinovic</a:t>
            </a:r>
            <a:r>
              <a:rPr lang="en-US" sz="2000" b="1" dirty="0">
                <a:latin typeface="Arial" panose="020B0604020202020204" pitchFamily="34" charset="0"/>
                <a:cs typeface="Arial" panose="020B0604020202020204" pitchFamily="34" charset="0"/>
              </a:rPr>
              <a:t>, V.,</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(1986, January).</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A High-Level Systolic Architecture for GaAs.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In Proc. 19th Ann. Hawaii Int'l Conf. System Sciences (pp. 253-258).</a:t>
            </a:r>
          </a:p>
          <a:p>
            <a:pPr lvl="1"/>
            <a:endParaRPr lang="en-US" sz="2000" dirty="0"/>
          </a:p>
        </p:txBody>
      </p:sp>
      <p:pic>
        <p:nvPicPr>
          <p:cNvPr id="4" name="Picture 3">
            <a:extLst>
              <a:ext uri="{FF2B5EF4-FFF2-40B4-BE49-F238E27FC236}">
                <a16:creationId xmlns:a16="http://schemas.microsoft.com/office/drawing/2014/main" id="{FA8A6834-9062-4200-B43C-03B1D806C8D9}"/>
              </a:ext>
            </a:extLst>
          </p:cNvPr>
          <p:cNvPicPr>
            <a:picLocks noChangeAspect="1"/>
          </p:cNvPicPr>
          <p:nvPr/>
        </p:nvPicPr>
        <p:blipFill rotWithShape="1">
          <a:blip r:embed="rId3"/>
          <a:srcRect r="1" b="15178"/>
          <a:stretch/>
        </p:blipFill>
        <p:spPr>
          <a:xfrm>
            <a:off x="7199440" y="10"/>
            <a:ext cx="4992560" cy="6857990"/>
          </a:xfrm>
          <a:prstGeom prst="rect">
            <a:avLst/>
          </a:prstGeom>
          <a:effectLst/>
        </p:spPr>
      </p:pic>
    </p:spTree>
    <p:extLst>
      <p:ext uri="{BB962C8B-B14F-4D97-AF65-F5344CB8AC3E}">
        <p14:creationId xmlns:p14="http://schemas.microsoft.com/office/powerpoint/2010/main" val="577260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90CAF7-9911-4C7F-AE4C-16CCD6A922F2}"/>
              </a:ext>
            </a:extLst>
          </p:cNvPr>
          <p:cNvSpPr>
            <a:spLocks noGrp="1"/>
          </p:cNvSpPr>
          <p:nvPr>
            <p:ph type="title"/>
          </p:nvPr>
        </p:nvSpPr>
        <p:spPr>
          <a:xfrm>
            <a:off x="836679" y="723898"/>
            <a:ext cx="6002110" cy="1495425"/>
          </a:xfrm>
        </p:spPr>
        <p:txBody>
          <a:bodyPr>
            <a:normAutofit/>
          </a:bodyPr>
          <a:lstStyle/>
          <a:p>
            <a:r>
              <a:rPr lang="en-US" sz="4000" b="1" dirty="0"/>
              <a:t>Past Experiences: </a:t>
            </a:r>
            <a:br>
              <a:rPr lang="en-US" sz="4000" b="1" dirty="0"/>
            </a:br>
            <a:r>
              <a:rPr lang="en-US" sz="4000" b="1" dirty="0" err="1"/>
              <a:t>ExecutionFlow</a:t>
            </a:r>
            <a:endParaRPr lang="en-US" sz="4000" b="1" dirty="0"/>
          </a:p>
        </p:txBody>
      </p:sp>
      <p:sp>
        <p:nvSpPr>
          <p:cNvPr id="3" name="Content Placeholder 2">
            <a:extLst>
              <a:ext uri="{FF2B5EF4-FFF2-40B4-BE49-F238E27FC236}">
                <a16:creationId xmlns:a16="http://schemas.microsoft.com/office/drawing/2014/main" id="{2561E0A8-8D51-448A-BC1D-FD3A4236F6C6}"/>
              </a:ext>
            </a:extLst>
          </p:cNvPr>
          <p:cNvSpPr>
            <a:spLocks noGrp="1"/>
          </p:cNvSpPr>
          <p:nvPr>
            <p:ph idx="1"/>
          </p:nvPr>
        </p:nvSpPr>
        <p:spPr>
          <a:xfrm>
            <a:off x="836680" y="2405067"/>
            <a:ext cx="6002110" cy="3729034"/>
          </a:xfrm>
        </p:spPr>
        <p:txBody>
          <a:bodyPr>
            <a:normAutofit/>
          </a:bodyPr>
          <a:lstStyle/>
          <a:p>
            <a:r>
              <a:rPr lang="en-US" sz="2000" b="1" dirty="0" err="1"/>
              <a:t>DataFlow</a:t>
            </a:r>
            <a:endParaRPr lang="en-US" sz="2000" b="1" dirty="0"/>
          </a:p>
          <a:p>
            <a:pPr lvl="1"/>
            <a:r>
              <a:rPr lang="en-US" sz="2000" b="1" i="0" dirty="0" err="1">
                <a:effectLst/>
                <a:latin typeface="Arial" panose="020B0604020202020204" pitchFamily="34" charset="0"/>
              </a:rPr>
              <a:t>Milutinović</a:t>
            </a:r>
            <a:r>
              <a:rPr lang="en-US" sz="2000" b="1" i="0" dirty="0">
                <a:effectLst/>
                <a:latin typeface="Arial" panose="020B0604020202020204" pitchFamily="34" charset="0"/>
              </a:rPr>
              <a:t>, V., </a:t>
            </a:r>
            <a:r>
              <a:rPr lang="en-US" sz="2000" b="1" i="0" dirty="0" err="1">
                <a:effectLst/>
                <a:latin typeface="Arial" panose="020B0604020202020204" pitchFamily="34" charset="0"/>
              </a:rPr>
              <a:t>Salom</a:t>
            </a:r>
            <a:r>
              <a:rPr lang="en-US" sz="2000" b="1" i="0" dirty="0">
                <a:effectLst/>
                <a:latin typeface="Arial" panose="020B0604020202020204" pitchFamily="34" charset="0"/>
              </a:rPr>
              <a:t>, J., </a:t>
            </a:r>
            <a:r>
              <a:rPr lang="en-US" sz="2000" b="1" i="0" dirty="0" err="1">
                <a:effectLst/>
                <a:latin typeface="Arial" panose="020B0604020202020204" pitchFamily="34" charset="0"/>
              </a:rPr>
              <a:t>Trifunović</a:t>
            </a:r>
            <a:r>
              <a:rPr lang="en-US" sz="2000" b="1" i="0" dirty="0">
                <a:effectLst/>
                <a:latin typeface="Arial" panose="020B0604020202020204" pitchFamily="34" charset="0"/>
              </a:rPr>
              <a:t>, N., &amp; Giorgi, R. (2015). </a:t>
            </a:r>
            <a:br>
              <a:rPr lang="en-US" sz="2000" b="1" i="0" dirty="0">
                <a:effectLst/>
                <a:latin typeface="Arial" panose="020B0604020202020204" pitchFamily="34" charset="0"/>
              </a:rPr>
            </a:br>
            <a:r>
              <a:rPr lang="en-US" sz="2000" b="1" i="0" dirty="0">
                <a:effectLst/>
                <a:latin typeface="Arial" panose="020B0604020202020204" pitchFamily="34" charset="0"/>
              </a:rPr>
              <a:t>Guide to </a:t>
            </a:r>
            <a:r>
              <a:rPr lang="en-US" sz="2000" b="1" dirty="0" err="1">
                <a:latin typeface="Arial" panose="020B0604020202020204" pitchFamily="34" charset="0"/>
              </a:rPr>
              <a:t>D</a:t>
            </a:r>
            <a:r>
              <a:rPr lang="en-US" sz="2000" b="1" i="0" dirty="0" err="1">
                <a:effectLst/>
                <a:latin typeface="Arial" panose="020B0604020202020204" pitchFamily="34" charset="0"/>
              </a:rPr>
              <a:t>ataFlow</a:t>
            </a:r>
            <a:r>
              <a:rPr lang="en-US" sz="2000" b="1" i="0" dirty="0">
                <a:effectLst/>
                <a:latin typeface="Arial" panose="020B0604020202020204" pitchFamily="34" charset="0"/>
              </a:rPr>
              <a:t> Supercomputing. </a:t>
            </a:r>
            <a:br>
              <a:rPr lang="en-US" sz="2000" b="1" i="0" dirty="0">
                <a:effectLst/>
                <a:latin typeface="Arial" panose="020B0604020202020204" pitchFamily="34" charset="0"/>
              </a:rPr>
            </a:br>
            <a:r>
              <a:rPr lang="en-US" sz="2000" b="1" i="1" dirty="0">
                <a:effectLst/>
                <a:latin typeface="Arial" panose="020B0604020202020204" pitchFamily="34" charset="0"/>
              </a:rPr>
              <a:t>Cham: Springer Nature</a:t>
            </a:r>
            <a:r>
              <a:rPr lang="en-US" sz="2000" b="1" i="0" dirty="0">
                <a:effectLst/>
                <a:latin typeface="Arial" panose="020B0604020202020204" pitchFamily="34" charset="0"/>
              </a:rPr>
              <a:t>.</a:t>
            </a:r>
            <a:endParaRPr lang="en-US" sz="2000" b="1" dirty="0"/>
          </a:p>
        </p:txBody>
      </p:sp>
      <p:pic>
        <p:nvPicPr>
          <p:cNvPr id="4" name="Picture 3">
            <a:extLst>
              <a:ext uri="{FF2B5EF4-FFF2-40B4-BE49-F238E27FC236}">
                <a16:creationId xmlns:a16="http://schemas.microsoft.com/office/drawing/2014/main" id="{64709E44-9118-4884-A9EF-1917EE5EA441}"/>
              </a:ext>
            </a:extLst>
          </p:cNvPr>
          <p:cNvPicPr>
            <a:picLocks noChangeAspect="1"/>
          </p:cNvPicPr>
          <p:nvPr/>
        </p:nvPicPr>
        <p:blipFill rotWithShape="1">
          <a:blip r:embed="rId3"/>
          <a:srcRect t="4198" b="4455"/>
          <a:stretch/>
        </p:blipFill>
        <p:spPr>
          <a:xfrm>
            <a:off x="7199440" y="10"/>
            <a:ext cx="4992560" cy="6857990"/>
          </a:xfrm>
          <a:prstGeom prst="rect">
            <a:avLst/>
          </a:prstGeom>
          <a:effectLst/>
        </p:spPr>
      </p:pic>
    </p:spTree>
    <p:extLst>
      <p:ext uri="{BB962C8B-B14F-4D97-AF65-F5344CB8AC3E}">
        <p14:creationId xmlns:p14="http://schemas.microsoft.com/office/powerpoint/2010/main" val="3101279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picture containing text, electronics&#10;&#10;Description automatically generated">
            <a:extLst>
              <a:ext uri="{FF2B5EF4-FFF2-40B4-BE49-F238E27FC236}">
                <a16:creationId xmlns:a16="http://schemas.microsoft.com/office/drawing/2014/main" id="{F53676A9-7361-47E8-8AFD-829858933E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745" y="369916"/>
            <a:ext cx="10492510" cy="6118168"/>
          </a:xfrm>
          <a:prstGeom prst="rect">
            <a:avLst/>
          </a:prstGeom>
        </p:spPr>
      </p:pic>
    </p:spTree>
    <p:extLst>
      <p:ext uri="{BB962C8B-B14F-4D97-AF65-F5344CB8AC3E}">
        <p14:creationId xmlns:p14="http://schemas.microsoft.com/office/powerpoint/2010/main" val="135547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00A8-9575-48DA-AE96-3A8E1648E9E2}"/>
              </a:ext>
            </a:extLst>
          </p:cNvPr>
          <p:cNvSpPr>
            <a:spLocks noGrp="1"/>
          </p:cNvSpPr>
          <p:nvPr>
            <p:ph type="title"/>
          </p:nvPr>
        </p:nvSpPr>
        <p:spPr/>
        <p:txBody>
          <a:bodyPr/>
          <a:lstStyle/>
          <a:p>
            <a:r>
              <a:rPr lang="sr-Latn-RS" b="1" dirty="0"/>
              <a:t>Current Research</a:t>
            </a:r>
            <a:r>
              <a:rPr lang="en-US" b="1" dirty="0"/>
              <a:t>: Miljan </a:t>
            </a:r>
            <a:r>
              <a:rPr lang="sr-Latn-RS" b="1" dirty="0"/>
              <a:t>Đorđević</a:t>
            </a:r>
            <a:r>
              <a:rPr lang="en-US" b="1" dirty="0"/>
              <a:t>, at al.</a:t>
            </a:r>
          </a:p>
        </p:txBody>
      </p:sp>
      <p:pic>
        <p:nvPicPr>
          <p:cNvPr id="6" name="Picture 5">
            <a:extLst>
              <a:ext uri="{FF2B5EF4-FFF2-40B4-BE49-F238E27FC236}">
                <a16:creationId xmlns:a16="http://schemas.microsoft.com/office/drawing/2014/main" id="{3546730B-AB28-47BB-8B7A-49311C41CA57}"/>
              </a:ext>
            </a:extLst>
          </p:cNvPr>
          <p:cNvPicPr>
            <a:picLocks noChangeAspect="1"/>
          </p:cNvPicPr>
          <p:nvPr/>
        </p:nvPicPr>
        <p:blipFill>
          <a:blip r:embed="rId3"/>
          <a:stretch>
            <a:fillRect/>
          </a:stretch>
        </p:blipFill>
        <p:spPr>
          <a:xfrm>
            <a:off x="1233808" y="1352182"/>
            <a:ext cx="8127168" cy="5420577"/>
          </a:xfrm>
          <a:prstGeom prst="rect">
            <a:avLst/>
          </a:prstGeom>
        </p:spPr>
      </p:pic>
    </p:spTree>
    <p:extLst>
      <p:ext uri="{BB962C8B-B14F-4D97-AF65-F5344CB8AC3E}">
        <p14:creationId xmlns:p14="http://schemas.microsoft.com/office/powerpoint/2010/main" val="477056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7B3C1805-46AF-47F5-8DBB-B74E180BC6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546" y="0"/>
            <a:ext cx="5195454" cy="6858000"/>
          </a:xfrm>
          <a:prstGeom prst="rect">
            <a:avLst/>
          </a:prstGeom>
        </p:spPr>
      </p:pic>
      <p:sp>
        <p:nvSpPr>
          <p:cNvPr id="8" name="Title 1">
            <a:extLst>
              <a:ext uri="{FF2B5EF4-FFF2-40B4-BE49-F238E27FC236}">
                <a16:creationId xmlns:a16="http://schemas.microsoft.com/office/drawing/2014/main" id="{F3CDE613-DB85-4F82-94FE-6A649FA7D350}"/>
              </a:ext>
            </a:extLst>
          </p:cNvPr>
          <p:cNvSpPr>
            <a:spLocks noGrp="1"/>
          </p:cNvSpPr>
          <p:nvPr>
            <p:ph type="title"/>
          </p:nvPr>
        </p:nvSpPr>
        <p:spPr>
          <a:xfrm>
            <a:off x="836679" y="723898"/>
            <a:ext cx="6002110" cy="1495425"/>
          </a:xfrm>
        </p:spPr>
        <p:txBody>
          <a:bodyPr>
            <a:noAutofit/>
          </a:bodyPr>
          <a:lstStyle/>
          <a:p>
            <a:r>
              <a:rPr lang="en-US" sz="4000" b="1" dirty="0"/>
              <a:t>Handbook of Research on Methodologies and Applications of Supercomputing</a:t>
            </a:r>
          </a:p>
        </p:txBody>
      </p:sp>
    </p:spTree>
    <p:extLst>
      <p:ext uri="{BB962C8B-B14F-4D97-AF65-F5344CB8AC3E}">
        <p14:creationId xmlns:p14="http://schemas.microsoft.com/office/powerpoint/2010/main" val="865024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9497DAA-0052-4A3D-84A6-13B643517EB2}"/>
              </a:ext>
            </a:extLst>
          </p:cNvPr>
          <p:cNvSpPr>
            <a:spLocks noGrp="1"/>
          </p:cNvSpPr>
          <p:nvPr>
            <p:ph idx="1"/>
          </p:nvPr>
        </p:nvSpPr>
        <p:spPr>
          <a:xfrm>
            <a:off x="838200" y="1825624"/>
            <a:ext cx="10515600" cy="4833793"/>
          </a:xfrm>
        </p:spPr>
        <p:txBody>
          <a:bodyPr>
            <a:normAutofit fontScale="77500" lnSpcReduction="20000"/>
          </a:bodyPr>
          <a:lstStyle/>
          <a:p>
            <a:r>
              <a:rPr lang="en-US" b="1" dirty="0"/>
              <a:t>An introduction to </a:t>
            </a:r>
            <a:r>
              <a:rPr lang="en-US" b="1" dirty="0" err="1"/>
              <a:t>Controlflow</a:t>
            </a:r>
            <a:r>
              <a:rPr lang="en-US" b="1" dirty="0"/>
              <a:t> and Dataflow Supercomputing</a:t>
            </a:r>
          </a:p>
          <a:p>
            <a:r>
              <a:rPr lang="en-US" b="1" dirty="0"/>
              <a:t>Introduction to Control Flow</a:t>
            </a:r>
          </a:p>
          <a:p>
            <a:r>
              <a:rPr lang="en-US" b="1" dirty="0"/>
              <a:t>Optimal Scheduling of Parallel Jobs With Unknown Service Requirements</a:t>
            </a:r>
          </a:p>
          <a:p>
            <a:r>
              <a:rPr lang="en-US" b="1" dirty="0"/>
              <a:t>Intelligent Management of Mobile Systems Through Computational Self-Awareness</a:t>
            </a:r>
          </a:p>
          <a:p>
            <a:r>
              <a:rPr lang="en-US" b="1" dirty="0"/>
              <a:t>Paradigms for Effective Parallelization of Inherently Sequential Graph Algorithms </a:t>
            </a:r>
            <a:br>
              <a:rPr lang="en-US" b="1" dirty="0"/>
            </a:br>
            <a:r>
              <a:rPr lang="en-US" b="1" dirty="0"/>
              <a:t>on Multi-Core Architectures</a:t>
            </a:r>
          </a:p>
          <a:p>
            <a:r>
              <a:rPr lang="en-US" b="1" dirty="0"/>
              <a:t>Introduction to Dataflow Computing</a:t>
            </a:r>
          </a:p>
          <a:p>
            <a:r>
              <a:rPr lang="en-US" b="1" dirty="0"/>
              <a:t>Data Flow Implementation of Erosion and Dilation</a:t>
            </a:r>
          </a:p>
          <a:p>
            <a:r>
              <a:rPr lang="en-US" b="1" dirty="0"/>
              <a:t>Transforming the Method of Least Squares to the Dataflow Paradigm</a:t>
            </a:r>
          </a:p>
          <a:p>
            <a:r>
              <a:rPr lang="en-US" b="1" dirty="0"/>
              <a:t>Forest Fire Simulation: Efficient Realization Based on Cellular Automata</a:t>
            </a:r>
          </a:p>
          <a:p>
            <a:r>
              <a:rPr lang="en-US" b="1" dirty="0"/>
              <a:t>High Performance Computing for Understanding Natural Language</a:t>
            </a:r>
          </a:p>
          <a:p>
            <a:r>
              <a:rPr lang="en-US" b="1" dirty="0"/>
              <a:t>Deposition of Submicron Particles by Chaotic Mixing in the Pulmonary Acinus: </a:t>
            </a:r>
            <a:br>
              <a:rPr lang="en-US" b="1" dirty="0"/>
            </a:br>
            <a:r>
              <a:rPr lang="en-US" b="1" dirty="0" err="1"/>
              <a:t>Aciner</a:t>
            </a:r>
            <a:r>
              <a:rPr lang="en-US" b="1" dirty="0"/>
              <a:t> Chaotic </a:t>
            </a:r>
            <a:r>
              <a:rPr lang="en-US" b="1" dirty="0" err="1"/>
              <a:t>Moxing</a:t>
            </a:r>
            <a:endParaRPr lang="en-US" b="1" dirty="0"/>
          </a:p>
        </p:txBody>
      </p:sp>
      <p:sp>
        <p:nvSpPr>
          <p:cNvPr id="8" name="Title 1">
            <a:extLst>
              <a:ext uri="{FF2B5EF4-FFF2-40B4-BE49-F238E27FC236}">
                <a16:creationId xmlns:a16="http://schemas.microsoft.com/office/drawing/2014/main" id="{5905F3A4-E8AA-4F45-B396-FCBBD3794364}"/>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Table of Contents</a:t>
            </a:r>
          </a:p>
        </p:txBody>
      </p:sp>
    </p:spTree>
    <p:extLst>
      <p:ext uri="{BB962C8B-B14F-4D97-AF65-F5344CB8AC3E}">
        <p14:creationId xmlns:p14="http://schemas.microsoft.com/office/powerpoint/2010/main" val="1535784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9497DAA-0052-4A3D-84A6-13B643517EB2}"/>
              </a:ext>
            </a:extLst>
          </p:cNvPr>
          <p:cNvSpPr>
            <a:spLocks noGrp="1"/>
          </p:cNvSpPr>
          <p:nvPr>
            <p:ph idx="1"/>
          </p:nvPr>
        </p:nvSpPr>
        <p:spPr>
          <a:xfrm>
            <a:off x="838200" y="1825624"/>
            <a:ext cx="10515600" cy="4833793"/>
          </a:xfrm>
        </p:spPr>
        <p:txBody>
          <a:bodyPr>
            <a:normAutofit fontScale="70000" lnSpcReduction="20000"/>
          </a:bodyPr>
          <a:lstStyle/>
          <a:p>
            <a:r>
              <a:rPr lang="en-US" b="1" dirty="0"/>
              <a:t>Recommender Systems in Digital Libraries Using Artificial Intelligence and Machine Learning:</a:t>
            </a:r>
            <a:br>
              <a:rPr lang="en-US" b="1" dirty="0"/>
            </a:br>
            <a:r>
              <a:rPr lang="en-US" b="1" dirty="0"/>
              <a:t>A Proposal to Create Automated Links Between Different Articles Dealing With Similar Topics</a:t>
            </a:r>
          </a:p>
          <a:p>
            <a:r>
              <a:rPr lang="en-US" b="1" dirty="0"/>
              <a:t>Unified Modeling for Emulating Electric Energy Systems: Toward Digital Twin That Might Work</a:t>
            </a:r>
          </a:p>
          <a:p>
            <a:r>
              <a:rPr lang="en-US" b="1" dirty="0"/>
              <a:t>A Backtracking Algorithmic Toolbox for Solving the Subgraph Isomorphism Problem</a:t>
            </a:r>
          </a:p>
          <a:p>
            <a:r>
              <a:rPr lang="en-US" b="1" dirty="0"/>
              <a:t>AI Storm ... From Logical Inference and Chatbots to Signal Weighting, Entropy Pooling...:</a:t>
            </a:r>
            <a:br>
              <a:rPr lang="en-US" b="1" dirty="0"/>
            </a:br>
            <a:r>
              <a:rPr lang="en-US" b="1" dirty="0"/>
              <a:t>Future of AI in Marketing</a:t>
            </a:r>
          </a:p>
          <a:p>
            <a:r>
              <a:rPr lang="en-US" b="1" dirty="0"/>
              <a:t>Efficient End-to-End Asynchronous Time-Series Modeling </a:t>
            </a:r>
            <a:br>
              <a:rPr lang="en-US" b="1" dirty="0"/>
            </a:br>
            <a:r>
              <a:rPr lang="en-US" b="1" dirty="0"/>
              <a:t>With Deep Learning to Predict Customer Attrition</a:t>
            </a:r>
          </a:p>
          <a:p>
            <a:r>
              <a:rPr lang="en-US" b="1" dirty="0"/>
              <a:t>Mind Genomics With Big Data for Digital Marketing on the Internet</a:t>
            </a:r>
          </a:p>
          <a:p>
            <a:r>
              <a:rPr lang="en-US" b="1" dirty="0"/>
              <a:t>Supercomputing in the Study and Stimulation of the Brain</a:t>
            </a:r>
          </a:p>
          <a:p>
            <a:r>
              <a:rPr lang="en-US" b="1" dirty="0"/>
              <a:t>An Experimental Healthcare System: Essence and Challenges</a:t>
            </a:r>
          </a:p>
          <a:p>
            <a:r>
              <a:rPr lang="en-US" b="1" dirty="0"/>
              <a:t>What Supercomputing Will Be Like in the Coming Years</a:t>
            </a:r>
          </a:p>
          <a:p>
            <a:r>
              <a:rPr lang="en-US" b="1" dirty="0"/>
              <a:t>The Ultimate Data Flow for Ultimate Super Computers-on-a-Chip</a:t>
            </a:r>
          </a:p>
        </p:txBody>
      </p:sp>
      <p:sp>
        <p:nvSpPr>
          <p:cNvPr id="8" name="Title 1">
            <a:extLst>
              <a:ext uri="{FF2B5EF4-FFF2-40B4-BE49-F238E27FC236}">
                <a16:creationId xmlns:a16="http://schemas.microsoft.com/office/drawing/2014/main" id="{5905F3A4-E8AA-4F45-B396-FCBBD3794364}"/>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Table of Contents #2</a:t>
            </a:r>
          </a:p>
        </p:txBody>
      </p:sp>
    </p:spTree>
    <p:extLst>
      <p:ext uri="{BB962C8B-B14F-4D97-AF65-F5344CB8AC3E}">
        <p14:creationId xmlns:p14="http://schemas.microsoft.com/office/powerpoint/2010/main" val="3518212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C1F8-5C2F-4EF9-B358-C62D71921944}"/>
              </a:ext>
            </a:extLst>
          </p:cNvPr>
          <p:cNvSpPr>
            <a:spLocks noGrp="1"/>
          </p:cNvSpPr>
          <p:nvPr>
            <p:ph type="ctrTitle"/>
          </p:nvPr>
        </p:nvSpPr>
        <p:spPr>
          <a:xfrm>
            <a:off x="1524000" y="2419929"/>
            <a:ext cx="9144000" cy="1924764"/>
          </a:xfrm>
        </p:spPr>
        <p:txBody>
          <a:bodyPr>
            <a:normAutofit/>
          </a:bodyPr>
          <a:lstStyle/>
          <a:p>
            <a:r>
              <a:rPr lang="en-US" b="0" i="0" dirty="0">
                <a:solidFill>
                  <a:srgbClr val="333333"/>
                </a:solidFill>
                <a:effectLst/>
                <a:latin typeface="Tahoma" panose="020B0604030504040204" pitchFamily="34" charset="0"/>
              </a:rPr>
              <a:t>Reviews and Testimonials of 8 Nobel Laureates</a:t>
            </a:r>
            <a:endParaRPr lang="en-US" b="1" dirty="0">
              <a:solidFill>
                <a:schemeClr val="bg1"/>
              </a:solidFill>
            </a:endParaRPr>
          </a:p>
        </p:txBody>
      </p:sp>
    </p:spTree>
    <p:extLst>
      <p:ext uri="{BB962C8B-B14F-4D97-AF65-F5344CB8AC3E}">
        <p14:creationId xmlns:p14="http://schemas.microsoft.com/office/powerpoint/2010/main" val="1790889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FLOGEN Star Outreach">
            <a:extLst>
              <a:ext uri="{FF2B5EF4-FFF2-40B4-BE49-F238E27FC236}">
                <a16:creationId xmlns:a16="http://schemas.microsoft.com/office/drawing/2014/main" id="{C4B2AD8C-6A12-4DF7-B5BE-5546A2227C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9" r="14313"/>
          <a:stretch/>
        </p:blipFill>
        <p:spPr bwMode="auto">
          <a:xfrm>
            <a:off x="20" y="10"/>
            <a:ext cx="4639713"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5069940" y="2322576"/>
            <a:ext cx="6172200" cy="3858768"/>
          </a:xfrm>
        </p:spPr>
        <p:txBody>
          <a:bodyPr>
            <a:normAutofit/>
          </a:bodyPr>
          <a:lstStyle/>
          <a:p>
            <a:r>
              <a:rPr lang="en-US" sz="2400" b="0" i="0" dirty="0">
                <a:effectLst/>
                <a:latin typeface="Arial" panose="020B0604020202020204" pitchFamily="34" charset="0"/>
              </a:rPr>
              <a:t>"I want to commend Dr. Veljko </a:t>
            </a:r>
            <a:r>
              <a:rPr lang="en-US" sz="2400" b="0" i="0" dirty="0" err="1">
                <a:effectLst/>
                <a:latin typeface="Arial" panose="020B0604020202020204" pitchFamily="34" charset="0"/>
              </a:rPr>
              <a:t>Milutinovic</a:t>
            </a:r>
            <a:r>
              <a:rPr lang="en-US" sz="2400" b="0" i="0" dirty="0">
                <a:effectLst/>
                <a:latin typeface="Arial" panose="020B0604020202020204" pitchFamily="34" charset="0"/>
              </a:rPr>
              <a:t> and Dr. Milos </a:t>
            </a:r>
            <a:r>
              <a:rPr lang="en-US" sz="2400" b="0" i="0" dirty="0" err="1">
                <a:effectLst/>
                <a:latin typeface="Arial" panose="020B0604020202020204" pitchFamily="34" charset="0"/>
              </a:rPr>
              <a:t>Kotlar</a:t>
            </a:r>
            <a:r>
              <a:rPr lang="en-US" sz="2400" b="0" i="0" dirty="0">
                <a:effectLst/>
                <a:latin typeface="Arial" panose="020B0604020202020204" pitchFamily="34" charset="0"/>
              </a:rPr>
              <a:t> for having completed this volume in the timely field of supercomputing in these difficult times, and I want to share their optimism regarding its use as a textbook around the world."</a:t>
            </a:r>
          </a:p>
          <a:p>
            <a:r>
              <a:rPr lang="en-US" sz="2400" b="0" i="1" dirty="0">
                <a:effectLst/>
                <a:latin typeface="Arial" panose="020B0604020202020204" pitchFamily="34" charset="0"/>
              </a:rPr>
              <a:t>– Prof. Kurt Wüthrich, Nobel Laureate, Switzerland</a:t>
            </a:r>
            <a:endParaRPr lang="en-US" sz="2400" dirty="0"/>
          </a:p>
        </p:txBody>
      </p:sp>
    </p:spTree>
    <p:extLst>
      <p:ext uri="{BB962C8B-B14F-4D97-AF65-F5344CB8AC3E}">
        <p14:creationId xmlns:p14="http://schemas.microsoft.com/office/powerpoint/2010/main" val="201020124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838200" y="2322576"/>
            <a:ext cx="6254496" cy="3858768"/>
          </a:xfrm>
        </p:spPr>
        <p:txBody>
          <a:bodyPr>
            <a:normAutofit/>
          </a:bodyPr>
          <a:lstStyle/>
          <a:p>
            <a:pPr marL="0" indent="0">
              <a:buNone/>
            </a:pPr>
            <a:r>
              <a:rPr lang="en-US" sz="2000" b="0" i="0">
                <a:effectLst/>
                <a:latin typeface="Arial" panose="020B0604020202020204" pitchFamily="34" charset="0"/>
              </a:rPr>
              <a:t>"Our complex and fast-moving world meets big data issues that call for reliable, efficient analysis and prompt response. A most advanced approach to dealing with these issues is presented in this book where algorithms of Control Flow represent the host architecture of supercomputers and Data Flow represents the acceleration architecture. A comprehensive list of applications is illustrated in the book including natural language processing, medical research, customer-oriented studies, and many more.“</a:t>
            </a:r>
          </a:p>
          <a:p>
            <a:pPr marL="0" indent="0">
              <a:buNone/>
            </a:pPr>
            <a:br>
              <a:rPr lang="en-US" sz="2000" b="0" i="0">
                <a:effectLst/>
                <a:latin typeface="Arial" panose="020B0604020202020204" pitchFamily="34" charset="0"/>
              </a:rPr>
            </a:br>
            <a:r>
              <a:rPr lang="en-US" sz="2000" b="0" i="0">
                <a:effectLst/>
                <a:latin typeface="Arial" panose="020B0604020202020204" pitchFamily="34" charset="0"/>
              </a:rPr>
              <a:t> – Prof. Dan Shechtman, Nobel Laureate, Israel</a:t>
            </a:r>
            <a:endParaRPr lang="en-US" sz="2000"/>
          </a:p>
        </p:txBody>
      </p:sp>
      <p:pic>
        <p:nvPicPr>
          <p:cNvPr id="8194" name="Picture 2" descr="Dan Shechtman - Wikipedia">
            <a:extLst>
              <a:ext uri="{FF2B5EF4-FFF2-40B4-BE49-F238E27FC236}">
                <a16:creationId xmlns:a16="http://schemas.microsoft.com/office/drawing/2014/main" id="{E1EFAE53-4811-4101-B2BB-E303050889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 b="1335"/>
          <a:stretch/>
        </p:blipFill>
        <p:spPr bwMode="auto">
          <a:xfrm>
            <a:off x="7552266" y="10"/>
            <a:ext cx="4639733"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477477"/>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E3BEE6-E689-4E48-A083-3656BF202F64}"/>
              </a:ext>
            </a:extLst>
          </p:cNvPr>
          <p:cNvPicPr>
            <a:picLocks noChangeAspect="1"/>
          </p:cNvPicPr>
          <p:nvPr/>
        </p:nvPicPr>
        <p:blipFill rotWithShape="1">
          <a:blip r:embed="rId2"/>
          <a:srcRect l="847" r="14054"/>
          <a:stretch/>
        </p:blipFill>
        <p:spPr>
          <a:xfrm>
            <a:off x="20" y="10"/>
            <a:ext cx="4639713" cy="6857990"/>
          </a:xfrm>
          <a:prstGeom prst="rect">
            <a:avLst/>
          </a:prstGeom>
        </p:spPr>
      </p:pic>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5069940" y="2322576"/>
            <a:ext cx="6172200" cy="3858768"/>
          </a:xfrm>
        </p:spPr>
        <p:txBody>
          <a:bodyPr>
            <a:normAutofit/>
          </a:bodyPr>
          <a:lstStyle/>
          <a:p>
            <a:r>
              <a:rPr lang="en-US" sz="1900" b="0" i="0">
                <a:effectLst/>
                <a:latin typeface="Arial" panose="020B0604020202020204" pitchFamily="34" charset="0"/>
              </a:rPr>
              <a:t>"Supercomputers have become a ubiquitous instrument in many areas of science and technology. Very hard to imagine modern physics, biology or chemistry without the use of this versatile tool. The breakthroughs in the development of supercomputers expand the range of problems we can tackle. Supercomputers, as well as specialised computers will undoubtedly contribute significantly to the overall landscape of discoveries in many different disciplines in the future."</a:t>
            </a:r>
          </a:p>
          <a:p>
            <a:r>
              <a:rPr lang="en-US" sz="1900" b="0" i="1">
                <a:effectLst/>
                <a:latin typeface="Arial" panose="020B0604020202020204" pitchFamily="34" charset="0"/>
              </a:rPr>
              <a:t>– Prof. Konstantin Novoselov, Nobel Laureate, National University of Singapore, Singapore– Prof. Kurt Wüthrich, Nobel Laureate, Switzerland</a:t>
            </a:r>
            <a:endParaRPr lang="en-US" sz="1900"/>
          </a:p>
        </p:txBody>
      </p:sp>
    </p:spTree>
    <p:extLst>
      <p:ext uri="{BB962C8B-B14F-4D97-AF65-F5344CB8AC3E}">
        <p14:creationId xmlns:p14="http://schemas.microsoft.com/office/powerpoint/2010/main" val="414094076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838200" y="2322576"/>
            <a:ext cx="6254496" cy="3858768"/>
          </a:xfrm>
        </p:spPr>
        <p:txBody>
          <a:bodyPr>
            <a:normAutofit/>
          </a:bodyPr>
          <a:lstStyle/>
          <a:p>
            <a:r>
              <a:rPr lang="en-US" sz="2400" b="0" i="0">
                <a:effectLst/>
                <a:latin typeface="Arial" panose="020B0604020202020204" pitchFamily="34" charset="0"/>
              </a:rPr>
              <a:t>"It’s clear that computers can do anything, as the pioneers already recognised, and it’s probably only a matter of time before they can perform any of the kinds of tasks we humans take for granted quicker than blinking. I guess this book represents a stage on this exciting and very important journey."</a:t>
            </a:r>
          </a:p>
          <a:p>
            <a:r>
              <a:rPr lang="en-US" sz="2400" b="0" i="1">
                <a:effectLst/>
                <a:latin typeface="Arial" panose="020B0604020202020204" pitchFamily="34" charset="0"/>
              </a:rPr>
              <a:t>– Prof. Tim Hunt, Nobel Laureate, UK</a:t>
            </a:r>
            <a:endParaRPr lang="en-US" sz="2400"/>
          </a:p>
        </p:txBody>
      </p:sp>
      <p:pic>
        <p:nvPicPr>
          <p:cNvPr id="6146" name="Picture 2" descr="Richard Timothy Hunt - Wikipedio">
            <a:extLst>
              <a:ext uri="{FF2B5EF4-FFF2-40B4-BE49-F238E27FC236}">
                <a16:creationId xmlns:a16="http://schemas.microsoft.com/office/drawing/2014/main" id="{94358394-53D9-4907-81F0-FC98EF4DEB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7" r="18470"/>
          <a:stretch/>
        </p:blipFill>
        <p:spPr bwMode="auto">
          <a:xfrm>
            <a:off x="7552266" y="10"/>
            <a:ext cx="4639733"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85748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Sheldon Lee Glashow, Ph.D. | Society for Science">
            <a:extLst>
              <a:ext uri="{FF2B5EF4-FFF2-40B4-BE49-F238E27FC236}">
                <a16:creationId xmlns:a16="http://schemas.microsoft.com/office/drawing/2014/main" id="{B2F10C9D-EE2E-4EF3-BC1F-7E13E48006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1335"/>
          <a:stretch/>
        </p:blipFill>
        <p:spPr bwMode="auto">
          <a:xfrm>
            <a:off x="20" y="10"/>
            <a:ext cx="4639713"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5069940" y="2322576"/>
            <a:ext cx="6172200" cy="3858768"/>
          </a:xfrm>
        </p:spPr>
        <p:txBody>
          <a:bodyPr>
            <a:normAutofit/>
          </a:bodyPr>
          <a:lstStyle/>
          <a:p>
            <a:r>
              <a:rPr lang="en-US" sz="2000" b="0" i="0">
                <a:effectLst/>
                <a:latin typeface="Arial" panose="020B0604020202020204" pitchFamily="34" charset="0"/>
              </a:rPr>
              <a:t>"Computers have become essential tools for the pursuit of both experimental and theoretical physics, as well as synthetic chemistry, paleontology, the medical sciences, economics the social sciences and so much more. Science, being the most international of all endeavors, will be well served by this important book, which honors the golden anniversary of the creation of Montinegro’s Academy of Science."</a:t>
            </a:r>
          </a:p>
          <a:p>
            <a:r>
              <a:rPr lang="en-US" sz="2000" b="0" i="1">
                <a:effectLst/>
                <a:latin typeface="Arial" panose="020B0604020202020204" pitchFamily="34" charset="0"/>
              </a:rPr>
              <a:t>– Prof. Sheldon Glashow, Nobel Laureate, Boston University and Harvard University, USA</a:t>
            </a:r>
            <a:endParaRPr lang="en-US" sz="2000"/>
          </a:p>
        </p:txBody>
      </p:sp>
    </p:spTree>
    <p:extLst>
      <p:ext uri="{BB962C8B-B14F-4D97-AF65-F5344CB8AC3E}">
        <p14:creationId xmlns:p14="http://schemas.microsoft.com/office/powerpoint/2010/main" val="2964657830"/>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838200" y="2322576"/>
            <a:ext cx="6254496" cy="3858768"/>
          </a:xfrm>
        </p:spPr>
        <p:txBody>
          <a:bodyPr>
            <a:normAutofit/>
          </a:bodyPr>
          <a:lstStyle/>
          <a:p>
            <a:r>
              <a:rPr lang="en-US" sz="2400" b="0" i="0">
                <a:effectLst/>
                <a:latin typeface="Arial" panose="020B0604020202020204" pitchFamily="34" charset="0"/>
              </a:rPr>
              <a:t>"Humankind’s continuing quests to uncover, understand, and utilize the secrets of nature have been greatly enhanced and will be further extended by the power of supercomputers."</a:t>
            </a:r>
          </a:p>
          <a:p>
            <a:r>
              <a:rPr lang="en-US" sz="2400" b="0" i="1">
                <a:effectLst/>
                <a:latin typeface="Arial" panose="020B0604020202020204" pitchFamily="34" charset="0"/>
              </a:rPr>
              <a:t>– Prof. Jerome I Friedman, Nobel Laureate, USA</a:t>
            </a:r>
            <a:endParaRPr lang="en-US" sz="2400"/>
          </a:p>
        </p:txBody>
      </p:sp>
      <p:pic>
        <p:nvPicPr>
          <p:cNvPr id="2050" name="Picture 2" descr="Jerome Friedman | Okinawa Institute of Science and Technology Graduate  University OIST">
            <a:extLst>
              <a:ext uri="{FF2B5EF4-FFF2-40B4-BE49-F238E27FC236}">
                <a16:creationId xmlns:a16="http://schemas.microsoft.com/office/drawing/2014/main" id="{15F9A1B4-37E0-498D-B32B-B0CA8AC311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1461"/>
          <a:stretch/>
        </p:blipFill>
        <p:spPr bwMode="auto">
          <a:xfrm>
            <a:off x="7552266" y="10"/>
            <a:ext cx="4639733"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37530"/>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AF4FE87-D301-46FA-993D-54103DE02B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90" r="6731"/>
          <a:stretch/>
        </p:blipFill>
        <p:spPr bwMode="auto">
          <a:xfrm>
            <a:off x="20" y="10"/>
            <a:ext cx="4639713"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5069940" y="2322576"/>
            <a:ext cx="6172200" cy="3858768"/>
          </a:xfrm>
        </p:spPr>
        <p:txBody>
          <a:bodyPr>
            <a:normAutofit/>
          </a:bodyPr>
          <a:lstStyle/>
          <a:p>
            <a:r>
              <a:rPr lang="en-US" sz="2400" b="0" i="0">
                <a:effectLst/>
                <a:latin typeface="Arial" panose="020B0604020202020204" pitchFamily="34" charset="0"/>
              </a:rPr>
              <a:t>"I wish to congratulate very warmly the Montenegrin Academy of Arts and Sciences on the occasion of its 50th Anniversary and wish the CANU a highly successful future. Science shapes the Future of Mankind."</a:t>
            </a:r>
          </a:p>
          <a:p>
            <a:r>
              <a:rPr lang="en-US" sz="2400" b="0" i="1">
                <a:effectLst/>
                <a:latin typeface="Arial" panose="020B0604020202020204" pitchFamily="34" charset="0"/>
              </a:rPr>
              <a:t>– Prof. Jean-Marie Lehn, Nobel Laureate, France</a:t>
            </a:r>
            <a:endParaRPr lang="en-US" sz="2400"/>
          </a:p>
        </p:txBody>
      </p:sp>
    </p:spTree>
    <p:extLst>
      <p:ext uri="{BB962C8B-B14F-4D97-AF65-F5344CB8AC3E}">
        <p14:creationId xmlns:p14="http://schemas.microsoft.com/office/powerpoint/2010/main" val="164388865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F491D-7ED4-4F2B-A8FE-6D12A80A31AA}"/>
              </a:ext>
            </a:extLst>
          </p:cNvPr>
          <p:cNvSpPr>
            <a:spLocks noGrp="1"/>
          </p:cNvSpPr>
          <p:nvPr>
            <p:ph idx="1"/>
          </p:nvPr>
        </p:nvSpPr>
        <p:spPr>
          <a:xfrm>
            <a:off x="838200" y="2322576"/>
            <a:ext cx="6254496" cy="3858768"/>
          </a:xfrm>
        </p:spPr>
        <p:txBody>
          <a:bodyPr>
            <a:normAutofit/>
          </a:bodyPr>
          <a:lstStyle/>
          <a:p>
            <a:r>
              <a:rPr lang="en-US" sz="2400" b="0" i="0">
                <a:effectLst/>
                <a:latin typeface="Arial" panose="020B0604020202020204" pitchFamily="34" charset="0"/>
              </a:rPr>
              <a:t>"Aim high, stay grounded! These four crisp words of wisdom accompany the best wishes for the 50th anniversary of the Montenegrin Academy of Sciences and Arts."</a:t>
            </a:r>
          </a:p>
          <a:p>
            <a:r>
              <a:rPr lang="en-US" sz="2400" b="0" i="1">
                <a:effectLst/>
                <a:latin typeface="Arial" panose="020B0604020202020204" pitchFamily="34" charset="0"/>
              </a:rPr>
              <a:t>– Prof. Stefan Hell, Nobel Laureate, Germany</a:t>
            </a:r>
            <a:endParaRPr lang="en-US" sz="2400"/>
          </a:p>
        </p:txBody>
      </p:sp>
      <p:pic>
        <p:nvPicPr>
          <p:cNvPr id="4098" name="Picture 2" descr="Stefan Hell - Wikipedia">
            <a:extLst>
              <a:ext uri="{FF2B5EF4-FFF2-40B4-BE49-F238E27FC236}">
                <a16:creationId xmlns:a16="http://schemas.microsoft.com/office/drawing/2014/main" id="{D536FF6A-4A34-4942-96D6-7382366B48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76" b="-1"/>
          <a:stretch/>
        </p:blipFill>
        <p:spPr bwMode="auto">
          <a:xfrm>
            <a:off x="7552266" y="10"/>
            <a:ext cx="4639733"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08605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1231</Words>
  <Application>Microsoft Office PowerPoint</Application>
  <PresentationFormat>Widescreen</PresentationFormat>
  <Paragraphs>158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Tahoma</vt:lpstr>
      <vt:lpstr>Office Theme</vt:lpstr>
      <vt:lpstr> The  Ultimate SuperComputer-on-a-Chip  for  Big Data and Machine Learning</vt:lpstr>
      <vt:lpstr>The Optimal Architecture</vt:lpstr>
      <vt:lpstr>Optimal Distribution of Transistor Budget</vt:lpstr>
      <vt:lpstr>PowerPoint Presentation</vt:lpstr>
      <vt:lpstr>Past Experiences:  MultiCore</vt:lpstr>
      <vt:lpstr>Past Experiences:  ManyCore</vt:lpstr>
      <vt:lpstr>Past Experiences:  SystolicArrays</vt:lpstr>
      <vt:lpstr>Past Experiences:  ExecutionFlow</vt:lpstr>
      <vt:lpstr>PowerPoint Presentation</vt:lpstr>
      <vt:lpstr>Current Research: Miljan Đorđević, at al.</vt:lpstr>
      <vt:lpstr>Handbook of Research on Methodologies and Applications of Supercomputing</vt:lpstr>
      <vt:lpstr>PowerPoint Presentation</vt:lpstr>
      <vt:lpstr>PowerPoint Presentation</vt:lpstr>
      <vt:lpstr>Reviews and Testimonials of 8 Nobel Laureates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Ultimate SuperComputing  for  Big Data and Machine Learning</dc:title>
  <dc:creator>Miljan Djordjevic</dc:creator>
  <cp:lastModifiedBy>Миљан</cp:lastModifiedBy>
  <cp:revision>21</cp:revision>
  <dcterms:created xsi:type="dcterms:W3CDTF">2020-12-15T16:27:19Z</dcterms:created>
  <dcterms:modified xsi:type="dcterms:W3CDTF">2021-02-04T15:17:52Z</dcterms:modified>
</cp:coreProperties>
</file>